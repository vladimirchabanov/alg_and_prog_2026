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66" r:id="rId3"/>
    <p:sldId id="467" r:id="rId4"/>
    <p:sldId id="259" r:id="rId5"/>
    <p:sldId id="260" r:id="rId6"/>
    <p:sldId id="471" r:id="rId7"/>
    <p:sldId id="430" r:id="rId8"/>
    <p:sldId id="408" r:id="rId9"/>
    <p:sldId id="407" r:id="rId10"/>
    <p:sldId id="373" r:id="rId11"/>
    <p:sldId id="468" r:id="rId12"/>
    <p:sldId id="469" r:id="rId13"/>
    <p:sldId id="401" r:id="rId14"/>
    <p:sldId id="472" r:id="rId15"/>
    <p:sldId id="380" r:id="rId16"/>
    <p:sldId id="470" r:id="rId17"/>
    <p:sldId id="473" r:id="rId18"/>
    <p:sldId id="414" r:id="rId19"/>
    <p:sldId id="415" r:id="rId20"/>
    <p:sldId id="383" r:id="rId21"/>
    <p:sldId id="385" r:id="rId22"/>
    <p:sldId id="394" r:id="rId23"/>
    <p:sldId id="381" r:id="rId24"/>
    <p:sldId id="386" r:id="rId25"/>
    <p:sldId id="382" r:id="rId26"/>
    <p:sldId id="397" r:id="rId27"/>
    <p:sldId id="396" r:id="rId28"/>
    <p:sldId id="398" r:id="rId29"/>
    <p:sldId id="399" r:id="rId30"/>
    <p:sldId id="400" r:id="rId31"/>
    <p:sldId id="416" r:id="rId32"/>
    <p:sldId id="431" r:id="rId33"/>
    <p:sldId id="388" r:id="rId34"/>
    <p:sldId id="474" r:id="rId35"/>
    <p:sldId id="428" r:id="rId36"/>
    <p:sldId id="432" r:id="rId37"/>
    <p:sldId id="482" r:id="rId38"/>
    <p:sldId id="393" r:id="rId39"/>
    <p:sldId id="476" r:id="rId40"/>
    <p:sldId id="477" r:id="rId41"/>
    <p:sldId id="475" r:id="rId42"/>
    <p:sldId id="402" r:id="rId43"/>
    <p:sldId id="478" r:id="rId44"/>
    <p:sldId id="425" r:id="rId45"/>
    <p:sldId id="480" r:id="rId46"/>
    <p:sldId id="481" r:id="rId47"/>
    <p:sldId id="433" r:id="rId48"/>
    <p:sldId id="434" r:id="rId49"/>
    <p:sldId id="484" r:id="rId50"/>
    <p:sldId id="418" r:id="rId51"/>
    <p:sldId id="422" r:id="rId52"/>
    <p:sldId id="426" r:id="rId53"/>
    <p:sldId id="436" r:id="rId54"/>
    <p:sldId id="438" r:id="rId55"/>
    <p:sldId id="439" r:id="rId56"/>
    <p:sldId id="440" r:id="rId57"/>
    <p:sldId id="483" r:id="rId58"/>
    <p:sldId id="389" r:id="rId59"/>
    <p:sldId id="279" r:id="rId60"/>
    <p:sldId id="345" r:id="rId61"/>
    <p:sldId id="348" r:id="rId62"/>
    <p:sldId id="349" r:id="rId63"/>
    <p:sldId id="347" r:id="rId64"/>
    <p:sldId id="343" r:id="rId65"/>
    <p:sldId id="344" r:id="rId66"/>
    <p:sldId id="442" r:id="rId67"/>
    <p:sldId id="302" r:id="rId68"/>
    <p:sldId id="324" r:id="rId69"/>
    <p:sldId id="443" r:id="rId70"/>
    <p:sldId id="303" r:id="rId71"/>
    <p:sldId id="444" r:id="rId72"/>
    <p:sldId id="446" r:id="rId73"/>
    <p:sldId id="445" r:id="rId74"/>
    <p:sldId id="447" r:id="rId75"/>
    <p:sldId id="304" r:id="rId76"/>
    <p:sldId id="307" r:id="rId77"/>
    <p:sldId id="485" r:id="rId78"/>
    <p:sldId id="305" r:id="rId79"/>
    <p:sldId id="448" r:id="rId80"/>
    <p:sldId id="449" r:id="rId81"/>
    <p:sldId id="450" r:id="rId82"/>
    <p:sldId id="309" r:id="rId83"/>
    <p:sldId id="451" r:id="rId84"/>
    <p:sldId id="456" r:id="rId85"/>
    <p:sldId id="326" r:id="rId86"/>
    <p:sldId id="453" r:id="rId87"/>
    <p:sldId id="454" r:id="rId88"/>
    <p:sldId id="312" r:id="rId89"/>
    <p:sldId id="457" r:id="rId90"/>
    <p:sldId id="327" r:id="rId91"/>
    <p:sldId id="458" r:id="rId92"/>
    <p:sldId id="329" r:id="rId93"/>
    <p:sldId id="459" r:id="rId94"/>
    <p:sldId id="315" r:id="rId95"/>
    <p:sldId id="460" r:id="rId96"/>
    <p:sldId id="332" r:id="rId97"/>
    <p:sldId id="330" r:id="rId98"/>
    <p:sldId id="339" r:id="rId99"/>
    <p:sldId id="340" r:id="rId100"/>
    <p:sldId id="341" r:id="rId101"/>
    <p:sldId id="461" r:id="rId102"/>
    <p:sldId id="462" r:id="rId103"/>
    <p:sldId id="463" r:id="rId104"/>
    <p:sldId id="464" r:id="rId105"/>
    <p:sldId id="311" r:id="rId106"/>
    <p:sldId id="486" r:id="rId107"/>
    <p:sldId id="487" r:id="rId108"/>
    <p:sldId id="488" r:id="rId109"/>
    <p:sldId id="489" r:id="rId110"/>
    <p:sldId id="392" r:id="rId111"/>
    <p:sldId id="491" r:id="rId112"/>
    <p:sldId id="492" r:id="rId113"/>
    <p:sldId id="493" r:id="rId114"/>
    <p:sldId id="494" r:id="rId115"/>
    <p:sldId id="495" r:id="rId116"/>
    <p:sldId id="496" r:id="rId117"/>
    <p:sldId id="497" r:id="rId1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870E"/>
    <a:srgbClr val="008000"/>
    <a:srgbClr val="73B973"/>
    <a:srgbClr val="7373B9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0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9E09E7-5396-4FD5-9896-21FDB3D5F927}" type="doc">
      <dgm:prSet loTypeId="urn:microsoft.com/office/officeart/2005/8/layout/radial1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C29E1066-C41A-413D-9B91-B257C016226B}">
      <dgm:prSet phldrT="[Текст]" phldr="0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ru-RU" dirty="0">
              <a:solidFill>
                <a:schemeClr val="accent2"/>
              </a:solidFill>
            </a:rPr>
            <a:t>Стейтмент</a:t>
          </a:r>
        </a:p>
      </dgm:t>
    </dgm:pt>
    <dgm:pt modelId="{91A317A3-50A1-4147-BA2D-79039FD70EB1}" type="parTrans" cxnId="{DEB85668-8B12-41E6-969B-EA76846B7903}">
      <dgm:prSet/>
      <dgm:spPr/>
      <dgm:t>
        <a:bodyPr/>
        <a:lstStyle/>
        <a:p>
          <a:endParaRPr lang="ru-RU"/>
        </a:p>
      </dgm:t>
    </dgm:pt>
    <dgm:pt modelId="{F1C2E054-0014-453F-85E7-8F73D1618F5E}" type="sibTrans" cxnId="{DEB85668-8B12-41E6-969B-EA76846B7903}">
      <dgm:prSet/>
      <dgm:spPr/>
      <dgm:t>
        <a:bodyPr/>
        <a:lstStyle/>
        <a:p>
          <a:endParaRPr lang="ru-RU"/>
        </a:p>
      </dgm:t>
    </dgm:pt>
    <dgm:pt modelId="{88A8B062-A391-40E5-A0B6-AEBA3C2652AF}">
      <dgm:prSet phldrT="[Текст]"/>
      <dgm:spPr/>
      <dgm:t>
        <a:bodyPr/>
        <a:lstStyle/>
        <a:p>
          <a:pPr>
            <a:buNone/>
          </a:pPr>
          <a:r>
            <a:rPr lang="en-US" b="0" i="0" dirty="0"/>
            <a:t>labeled-statement</a:t>
          </a:r>
          <a:endParaRPr lang="ru-RU" i="0" dirty="0"/>
        </a:p>
      </dgm:t>
    </dgm:pt>
    <dgm:pt modelId="{EE744056-7364-466F-8C1B-C6ECB9A0673D}" type="parTrans" cxnId="{E5B8C1C3-7BE8-4CE1-8628-69272F63884F}">
      <dgm:prSet/>
      <dgm:spPr/>
      <dgm:t>
        <a:bodyPr/>
        <a:lstStyle/>
        <a:p>
          <a:endParaRPr lang="ru-RU"/>
        </a:p>
      </dgm:t>
    </dgm:pt>
    <dgm:pt modelId="{3FE58D1C-2F08-4CF5-A3E3-227260B97FC1}" type="sibTrans" cxnId="{E5B8C1C3-7BE8-4CE1-8628-69272F63884F}">
      <dgm:prSet/>
      <dgm:spPr/>
      <dgm:t>
        <a:bodyPr/>
        <a:lstStyle/>
        <a:p>
          <a:endParaRPr lang="ru-RU"/>
        </a:p>
      </dgm:t>
    </dgm:pt>
    <dgm:pt modelId="{AC5E936B-847E-4A72-BAA6-4064F8B5E20D}">
      <dgm:prSet phldrT="[Текст]"/>
      <dgm:spPr/>
      <dgm:t>
        <a:bodyPr/>
        <a:lstStyle/>
        <a:p>
          <a:pPr>
            <a:buNone/>
          </a:pPr>
          <a:r>
            <a:rPr lang="en-US" b="0" i="0" dirty="0"/>
            <a:t>expression-statement</a:t>
          </a:r>
          <a:endParaRPr lang="ru-RU" i="0" dirty="0"/>
        </a:p>
      </dgm:t>
    </dgm:pt>
    <dgm:pt modelId="{44801131-F2C5-4841-80A9-83DA113EE7D5}" type="parTrans" cxnId="{94488C12-049F-42B4-9530-8CE45789347B}">
      <dgm:prSet/>
      <dgm:spPr/>
      <dgm:t>
        <a:bodyPr/>
        <a:lstStyle/>
        <a:p>
          <a:endParaRPr lang="ru-RU"/>
        </a:p>
      </dgm:t>
    </dgm:pt>
    <dgm:pt modelId="{8CB525C5-4B5D-4F41-B71D-ED28C90385E6}" type="sibTrans" cxnId="{94488C12-049F-42B4-9530-8CE45789347B}">
      <dgm:prSet/>
      <dgm:spPr/>
      <dgm:t>
        <a:bodyPr/>
        <a:lstStyle/>
        <a:p>
          <a:endParaRPr lang="ru-RU"/>
        </a:p>
      </dgm:t>
    </dgm:pt>
    <dgm:pt modelId="{FC75DBCB-7D15-4A95-9AA9-E18AAE7F4874}">
      <dgm:prSet phldrT="[Текст]"/>
      <dgm:spPr/>
      <dgm:t>
        <a:bodyPr/>
        <a:lstStyle/>
        <a:p>
          <a:pPr>
            <a:buNone/>
          </a:pPr>
          <a:r>
            <a:rPr lang="en-US" b="0" i="0" dirty="0"/>
            <a:t>compound-statement</a:t>
          </a:r>
          <a:endParaRPr lang="ru-RU" i="0" dirty="0"/>
        </a:p>
      </dgm:t>
    </dgm:pt>
    <dgm:pt modelId="{2D365042-86A4-46FD-BDBB-C44389DB4595}" type="parTrans" cxnId="{8ADA417D-5CDC-482A-B73C-02AA4F6F3671}">
      <dgm:prSet/>
      <dgm:spPr/>
      <dgm:t>
        <a:bodyPr/>
        <a:lstStyle/>
        <a:p>
          <a:endParaRPr lang="ru-RU"/>
        </a:p>
      </dgm:t>
    </dgm:pt>
    <dgm:pt modelId="{69154C80-3673-489C-A3BC-505523D9EB25}" type="sibTrans" cxnId="{8ADA417D-5CDC-482A-B73C-02AA4F6F3671}">
      <dgm:prSet/>
      <dgm:spPr/>
      <dgm:t>
        <a:bodyPr/>
        <a:lstStyle/>
        <a:p>
          <a:endParaRPr lang="ru-RU"/>
        </a:p>
      </dgm:t>
    </dgm:pt>
    <dgm:pt modelId="{7A4D971D-341C-455A-901E-60A20447A74D}">
      <dgm:prSet phldrT="[Текст]"/>
      <dgm:spPr/>
      <dgm:t>
        <a:bodyPr/>
        <a:lstStyle/>
        <a:p>
          <a:pPr>
            <a:buNone/>
          </a:pPr>
          <a:r>
            <a:rPr lang="en-US" b="0" i="0" dirty="0"/>
            <a:t>selection-statement</a:t>
          </a:r>
          <a:endParaRPr lang="ru-RU" i="0" dirty="0"/>
        </a:p>
      </dgm:t>
    </dgm:pt>
    <dgm:pt modelId="{48B418E9-27D2-4855-9434-F310269CD30B}" type="parTrans" cxnId="{5B660AF3-CF61-44B8-ACF9-EB066E57D363}">
      <dgm:prSet/>
      <dgm:spPr/>
      <dgm:t>
        <a:bodyPr/>
        <a:lstStyle/>
        <a:p>
          <a:endParaRPr lang="ru-RU"/>
        </a:p>
      </dgm:t>
    </dgm:pt>
    <dgm:pt modelId="{9CE4FD1E-9877-4D34-A4F6-5780A138C4B7}" type="sibTrans" cxnId="{5B660AF3-CF61-44B8-ACF9-EB066E57D363}">
      <dgm:prSet/>
      <dgm:spPr/>
      <dgm:t>
        <a:bodyPr/>
        <a:lstStyle/>
        <a:p>
          <a:endParaRPr lang="ru-RU"/>
        </a:p>
      </dgm:t>
    </dgm:pt>
    <dgm:pt modelId="{22B3F2A2-2454-453A-B3DA-65E3535B6808}">
      <dgm:prSet phldrT="[Текст]" phldr="0"/>
      <dgm:spPr/>
      <dgm:t>
        <a:bodyPr/>
        <a:lstStyle/>
        <a:p>
          <a:pPr>
            <a:buNone/>
          </a:pPr>
          <a:r>
            <a:rPr lang="en-US" b="0" i="0" dirty="0"/>
            <a:t>iteration-statement</a:t>
          </a:r>
          <a:endParaRPr lang="ru-RU" i="0" dirty="0"/>
        </a:p>
      </dgm:t>
    </dgm:pt>
    <dgm:pt modelId="{8EFD92AA-63CC-440D-9590-4EFA6B46FEAC}" type="parTrans" cxnId="{F1F5AD42-8DB0-4D5A-AB03-3D82E6954594}">
      <dgm:prSet/>
      <dgm:spPr/>
      <dgm:t>
        <a:bodyPr/>
        <a:lstStyle/>
        <a:p>
          <a:endParaRPr lang="ru-RU"/>
        </a:p>
      </dgm:t>
    </dgm:pt>
    <dgm:pt modelId="{F2EB3766-7174-4BCF-9414-4770572D69AE}" type="sibTrans" cxnId="{F1F5AD42-8DB0-4D5A-AB03-3D82E6954594}">
      <dgm:prSet/>
      <dgm:spPr/>
      <dgm:t>
        <a:bodyPr/>
        <a:lstStyle/>
        <a:p>
          <a:endParaRPr lang="ru-RU"/>
        </a:p>
      </dgm:t>
    </dgm:pt>
    <dgm:pt modelId="{B122DE7E-7E45-4BA8-8429-835DB560C0F8}">
      <dgm:prSet phldrT="[Текст]" phldr="0"/>
      <dgm:spPr/>
      <dgm:t>
        <a:bodyPr/>
        <a:lstStyle/>
        <a:p>
          <a:pPr>
            <a:buNone/>
          </a:pPr>
          <a:r>
            <a:rPr lang="en-US" b="0" i="0" dirty="0"/>
            <a:t>jump-statement</a:t>
          </a:r>
          <a:endParaRPr lang="ru-RU" i="0" dirty="0"/>
        </a:p>
      </dgm:t>
    </dgm:pt>
    <dgm:pt modelId="{F9928741-5648-4C9F-AAA6-7E2253A8DFAA}" type="parTrans" cxnId="{E7A7E562-8E54-4C96-9676-23120A9544EB}">
      <dgm:prSet/>
      <dgm:spPr/>
      <dgm:t>
        <a:bodyPr/>
        <a:lstStyle/>
        <a:p>
          <a:endParaRPr lang="ru-RU"/>
        </a:p>
      </dgm:t>
    </dgm:pt>
    <dgm:pt modelId="{8ED84527-23E0-421A-9A01-56F97BBC2A8E}" type="sibTrans" cxnId="{E7A7E562-8E54-4C96-9676-23120A9544EB}">
      <dgm:prSet/>
      <dgm:spPr/>
      <dgm:t>
        <a:bodyPr/>
        <a:lstStyle/>
        <a:p>
          <a:endParaRPr lang="ru-RU"/>
        </a:p>
      </dgm:t>
    </dgm:pt>
    <dgm:pt modelId="{695E60AB-6AB0-4FCB-B273-B9C768E92D7D}">
      <dgm:prSet phldrT="[Текст]" phldr="0"/>
      <dgm:spPr/>
      <dgm:t>
        <a:bodyPr/>
        <a:lstStyle/>
        <a:p>
          <a:pPr>
            <a:buNone/>
          </a:pPr>
          <a:r>
            <a:rPr lang="en-US" b="0" i="0" dirty="0"/>
            <a:t>declaration-statement</a:t>
          </a:r>
          <a:endParaRPr lang="ru-RU" i="0" dirty="0"/>
        </a:p>
      </dgm:t>
    </dgm:pt>
    <dgm:pt modelId="{15E2B9B3-A864-413F-9347-B81C02124228}" type="parTrans" cxnId="{EB90EDE7-BF2C-409B-A06C-F39F84194A61}">
      <dgm:prSet/>
      <dgm:spPr/>
      <dgm:t>
        <a:bodyPr/>
        <a:lstStyle/>
        <a:p>
          <a:endParaRPr lang="ru-RU"/>
        </a:p>
      </dgm:t>
    </dgm:pt>
    <dgm:pt modelId="{C10494B0-5275-43EC-894B-9C766F70D9DA}" type="sibTrans" cxnId="{EB90EDE7-BF2C-409B-A06C-F39F84194A61}">
      <dgm:prSet/>
      <dgm:spPr/>
      <dgm:t>
        <a:bodyPr/>
        <a:lstStyle/>
        <a:p>
          <a:endParaRPr lang="ru-RU"/>
        </a:p>
      </dgm:t>
    </dgm:pt>
    <dgm:pt modelId="{B1C03C01-29A7-4788-BB45-6DE41AF0C3D0}">
      <dgm:prSet phldrT="[Текст]" phldr="0"/>
      <dgm:spPr/>
      <dgm:t>
        <a:bodyPr/>
        <a:lstStyle/>
        <a:p>
          <a:pPr>
            <a:buNone/>
          </a:pPr>
          <a:r>
            <a:rPr lang="en-US" b="0" i="0" dirty="0"/>
            <a:t>try-block</a:t>
          </a:r>
          <a:endParaRPr lang="ru-RU" i="0" dirty="0"/>
        </a:p>
      </dgm:t>
    </dgm:pt>
    <dgm:pt modelId="{DB3E163F-60F4-476E-BE4D-C49828E4AD75}" type="parTrans" cxnId="{7C070328-9D74-44F1-9D22-528984E047B8}">
      <dgm:prSet/>
      <dgm:spPr/>
      <dgm:t>
        <a:bodyPr/>
        <a:lstStyle/>
        <a:p>
          <a:endParaRPr lang="ru-RU"/>
        </a:p>
      </dgm:t>
    </dgm:pt>
    <dgm:pt modelId="{5A775776-6D20-4186-8621-22BFA3D46773}" type="sibTrans" cxnId="{7C070328-9D74-44F1-9D22-528984E047B8}">
      <dgm:prSet/>
      <dgm:spPr/>
      <dgm:t>
        <a:bodyPr/>
        <a:lstStyle/>
        <a:p>
          <a:endParaRPr lang="ru-RU"/>
        </a:p>
      </dgm:t>
    </dgm:pt>
    <dgm:pt modelId="{A2BA9870-DDA9-4B43-BF88-72380AEB3071}" type="pres">
      <dgm:prSet presAssocID="{999E09E7-5396-4FD5-9896-21FDB3D5F92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A22A9E0-A3D4-42A2-AB1F-79AF5E5B4B42}" type="pres">
      <dgm:prSet presAssocID="{C29E1066-C41A-413D-9B91-B257C016226B}" presName="centerShape" presStyleLbl="node0" presStyleIdx="0" presStyleCnt="1"/>
      <dgm:spPr/>
    </dgm:pt>
    <dgm:pt modelId="{733A2B58-75EB-4038-B8B0-7FAF55713E4F}" type="pres">
      <dgm:prSet presAssocID="{EE744056-7364-466F-8C1B-C6ECB9A0673D}" presName="Name9" presStyleLbl="parChTrans1D2" presStyleIdx="0" presStyleCnt="8"/>
      <dgm:spPr/>
    </dgm:pt>
    <dgm:pt modelId="{27104DB6-A436-4D33-9134-68D172A81DAC}" type="pres">
      <dgm:prSet presAssocID="{EE744056-7364-466F-8C1B-C6ECB9A0673D}" presName="connTx" presStyleLbl="parChTrans1D2" presStyleIdx="0" presStyleCnt="8"/>
      <dgm:spPr/>
    </dgm:pt>
    <dgm:pt modelId="{D1C12563-4075-47DB-86F6-CA06F0FC5591}" type="pres">
      <dgm:prSet presAssocID="{88A8B062-A391-40E5-A0B6-AEBA3C2652AF}" presName="node" presStyleLbl="node1" presStyleIdx="0" presStyleCnt="8">
        <dgm:presLayoutVars>
          <dgm:bulletEnabled val="1"/>
        </dgm:presLayoutVars>
      </dgm:prSet>
      <dgm:spPr/>
    </dgm:pt>
    <dgm:pt modelId="{810E94E0-268C-4888-96FE-CFEC11B401B3}" type="pres">
      <dgm:prSet presAssocID="{44801131-F2C5-4841-80A9-83DA113EE7D5}" presName="Name9" presStyleLbl="parChTrans1D2" presStyleIdx="1" presStyleCnt="8"/>
      <dgm:spPr/>
    </dgm:pt>
    <dgm:pt modelId="{209FAE37-39EE-4EDD-893A-1DA171B6164B}" type="pres">
      <dgm:prSet presAssocID="{44801131-F2C5-4841-80A9-83DA113EE7D5}" presName="connTx" presStyleLbl="parChTrans1D2" presStyleIdx="1" presStyleCnt="8"/>
      <dgm:spPr/>
    </dgm:pt>
    <dgm:pt modelId="{1840EE2D-6CD4-473B-8388-6411D7712E6F}" type="pres">
      <dgm:prSet presAssocID="{AC5E936B-847E-4A72-BAA6-4064F8B5E20D}" presName="node" presStyleLbl="node1" presStyleIdx="1" presStyleCnt="8">
        <dgm:presLayoutVars>
          <dgm:bulletEnabled val="1"/>
        </dgm:presLayoutVars>
      </dgm:prSet>
      <dgm:spPr/>
    </dgm:pt>
    <dgm:pt modelId="{857217D8-8C41-40F0-94F9-30BE4DB55C10}" type="pres">
      <dgm:prSet presAssocID="{2D365042-86A4-46FD-BDBB-C44389DB4595}" presName="Name9" presStyleLbl="parChTrans1D2" presStyleIdx="2" presStyleCnt="8"/>
      <dgm:spPr/>
    </dgm:pt>
    <dgm:pt modelId="{C6A3C002-623F-4C7F-A593-6EFCCE3754CF}" type="pres">
      <dgm:prSet presAssocID="{2D365042-86A4-46FD-BDBB-C44389DB4595}" presName="connTx" presStyleLbl="parChTrans1D2" presStyleIdx="2" presStyleCnt="8"/>
      <dgm:spPr/>
    </dgm:pt>
    <dgm:pt modelId="{1F8D7E3B-49B4-47F2-99DF-594C91B0FBD8}" type="pres">
      <dgm:prSet presAssocID="{FC75DBCB-7D15-4A95-9AA9-E18AAE7F4874}" presName="node" presStyleLbl="node1" presStyleIdx="2" presStyleCnt="8">
        <dgm:presLayoutVars>
          <dgm:bulletEnabled val="1"/>
        </dgm:presLayoutVars>
      </dgm:prSet>
      <dgm:spPr/>
    </dgm:pt>
    <dgm:pt modelId="{D5BC021A-D3F4-422E-8BC7-D6F5F4E9170A}" type="pres">
      <dgm:prSet presAssocID="{48B418E9-27D2-4855-9434-F310269CD30B}" presName="Name9" presStyleLbl="parChTrans1D2" presStyleIdx="3" presStyleCnt="8"/>
      <dgm:spPr/>
    </dgm:pt>
    <dgm:pt modelId="{07BC2421-FBCE-4DC5-AB90-20CBE0A04E0A}" type="pres">
      <dgm:prSet presAssocID="{48B418E9-27D2-4855-9434-F310269CD30B}" presName="connTx" presStyleLbl="parChTrans1D2" presStyleIdx="3" presStyleCnt="8"/>
      <dgm:spPr/>
    </dgm:pt>
    <dgm:pt modelId="{87F0ED00-6E54-4F8A-BD35-EEC52B452910}" type="pres">
      <dgm:prSet presAssocID="{7A4D971D-341C-455A-901E-60A20447A74D}" presName="node" presStyleLbl="node1" presStyleIdx="3" presStyleCnt="8">
        <dgm:presLayoutVars>
          <dgm:bulletEnabled val="1"/>
        </dgm:presLayoutVars>
      </dgm:prSet>
      <dgm:spPr/>
    </dgm:pt>
    <dgm:pt modelId="{C3203004-2645-4DCE-A91F-ECE5C3F20757}" type="pres">
      <dgm:prSet presAssocID="{8EFD92AA-63CC-440D-9590-4EFA6B46FEAC}" presName="Name9" presStyleLbl="parChTrans1D2" presStyleIdx="4" presStyleCnt="8"/>
      <dgm:spPr/>
    </dgm:pt>
    <dgm:pt modelId="{2F3A5331-6674-4344-98DF-F6BD5B64B52D}" type="pres">
      <dgm:prSet presAssocID="{8EFD92AA-63CC-440D-9590-4EFA6B46FEAC}" presName="connTx" presStyleLbl="parChTrans1D2" presStyleIdx="4" presStyleCnt="8"/>
      <dgm:spPr/>
    </dgm:pt>
    <dgm:pt modelId="{99CC4622-7D19-4B52-92C6-4C9BB35B67DC}" type="pres">
      <dgm:prSet presAssocID="{22B3F2A2-2454-453A-B3DA-65E3535B6808}" presName="node" presStyleLbl="node1" presStyleIdx="4" presStyleCnt="8">
        <dgm:presLayoutVars>
          <dgm:bulletEnabled val="1"/>
        </dgm:presLayoutVars>
      </dgm:prSet>
      <dgm:spPr/>
    </dgm:pt>
    <dgm:pt modelId="{78B822F0-467A-497E-AFC9-94B35F4A621D}" type="pres">
      <dgm:prSet presAssocID="{F9928741-5648-4C9F-AAA6-7E2253A8DFAA}" presName="Name9" presStyleLbl="parChTrans1D2" presStyleIdx="5" presStyleCnt="8"/>
      <dgm:spPr/>
    </dgm:pt>
    <dgm:pt modelId="{EED954EA-7DAE-43F9-8C22-DE7A147BBAB4}" type="pres">
      <dgm:prSet presAssocID="{F9928741-5648-4C9F-AAA6-7E2253A8DFAA}" presName="connTx" presStyleLbl="parChTrans1D2" presStyleIdx="5" presStyleCnt="8"/>
      <dgm:spPr/>
    </dgm:pt>
    <dgm:pt modelId="{48432039-0852-421A-A41D-4EA4178F73D3}" type="pres">
      <dgm:prSet presAssocID="{B122DE7E-7E45-4BA8-8429-835DB560C0F8}" presName="node" presStyleLbl="node1" presStyleIdx="5" presStyleCnt="8">
        <dgm:presLayoutVars>
          <dgm:bulletEnabled val="1"/>
        </dgm:presLayoutVars>
      </dgm:prSet>
      <dgm:spPr/>
    </dgm:pt>
    <dgm:pt modelId="{BDFE5A68-EF85-45E6-BB50-FF26077C51E4}" type="pres">
      <dgm:prSet presAssocID="{15E2B9B3-A864-413F-9347-B81C02124228}" presName="Name9" presStyleLbl="parChTrans1D2" presStyleIdx="6" presStyleCnt="8"/>
      <dgm:spPr/>
    </dgm:pt>
    <dgm:pt modelId="{808A6C89-04EE-4364-8D9C-F4EB5D31F091}" type="pres">
      <dgm:prSet presAssocID="{15E2B9B3-A864-413F-9347-B81C02124228}" presName="connTx" presStyleLbl="parChTrans1D2" presStyleIdx="6" presStyleCnt="8"/>
      <dgm:spPr/>
    </dgm:pt>
    <dgm:pt modelId="{F9D27E1F-C4DF-4EC8-A2FB-FFB306AC6C76}" type="pres">
      <dgm:prSet presAssocID="{695E60AB-6AB0-4FCB-B273-B9C768E92D7D}" presName="node" presStyleLbl="node1" presStyleIdx="6" presStyleCnt="8">
        <dgm:presLayoutVars>
          <dgm:bulletEnabled val="1"/>
        </dgm:presLayoutVars>
      </dgm:prSet>
      <dgm:spPr/>
    </dgm:pt>
    <dgm:pt modelId="{21C2D555-BBA0-4779-ACCF-5F8C73DCD0F5}" type="pres">
      <dgm:prSet presAssocID="{DB3E163F-60F4-476E-BE4D-C49828E4AD75}" presName="Name9" presStyleLbl="parChTrans1D2" presStyleIdx="7" presStyleCnt="8"/>
      <dgm:spPr/>
    </dgm:pt>
    <dgm:pt modelId="{5E122740-9BDD-4A36-A796-794D5DA13E3E}" type="pres">
      <dgm:prSet presAssocID="{DB3E163F-60F4-476E-BE4D-C49828E4AD75}" presName="connTx" presStyleLbl="parChTrans1D2" presStyleIdx="7" presStyleCnt="8"/>
      <dgm:spPr/>
    </dgm:pt>
    <dgm:pt modelId="{3EB9A976-2162-4B40-96C5-D5F48A187C20}" type="pres">
      <dgm:prSet presAssocID="{B1C03C01-29A7-4788-BB45-6DE41AF0C3D0}" presName="node" presStyleLbl="node1" presStyleIdx="7" presStyleCnt="8">
        <dgm:presLayoutVars>
          <dgm:bulletEnabled val="1"/>
        </dgm:presLayoutVars>
      </dgm:prSet>
      <dgm:spPr/>
    </dgm:pt>
  </dgm:ptLst>
  <dgm:cxnLst>
    <dgm:cxn modelId="{A3CE0C04-1DFB-468F-A20C-6DDAD668BDEE}" type="presOf" srcId="{48B418E9-27D2-4855-9434-F310269CD30B}" destId="{D5BC021A-D3F4-422E-8BC7-D6F5F4E9170A}" srcOrd="0" destOrd="0" presId="urn:microsoft.com/office/officeart/2005/8/layout/radial1"/>
    <dgm:cxn modelId="{225C2A07-76E4-46D6-A09B-D2DFFFE1E128}" type="presOf" srcId="{2D365042-86A4-46FD-BDBB-C44389DB4595}" destId="{C6A3C002-623F-4C7F-A593-6EFCCE3754CF}" srcOrd="1" destOrd="0" presId="urn:microsoft.com/office/officeart/2005/8/layout/radial1"/>
    <dgm:cxn modelId="{C8CC360C-E95A-4BC7-95AB-7F74A2868960}" type="presOf" srcId="{DB3E163F-60F4-476E-BE4D-C49828E4AD75}" destId="{21C2D555-BBA0-4779-ACCF-5F8C73DCD0F5}" srcOrd="0" destOrd="0" presId="urn:microsoft.com/office/officeart/2005/8/layout/radial1"/>
    <dgm:cxn modelId="{94488C12-049F-42B4-9530-8CE45789347B}" srcId="{C29E1066-C41A-413D-9B91-B257C016226B}" destId="{AC5E936B-847E-4A72-BAA6-4064F8B5E20D}" srcOrd="1" destOrd="0" parTransId="{44801131-F2C5-4841-80A9-83DA113EE7D5}" sibTransId="{8CB525C5-4B5D-4F41-B71D-ED28C90385E6}"/>
    <dgm:cxn modelId="{7C070328-9D74-44F1-9D22-528984E047B8}" srcId="{C29E1066-C41A-413D-9B91-B257C016226B}" destId="{B1C03C01-29A7-4788-BB45-6DE41AF0C3D0}" srcOrd="7" destOrd="0" parTransId="{DB3E163F-60F4-476E-BE4D-C49828E4AD75}" sibTransId="{5A775776-6D20-4186-8621-22BFA3D46773}"/>
    <dgm:cxn modelId="{4BF38C38-E639-454D-BE7F-088961027578}" type="presOf" srcId="{7A4D971D-341C-455A-901E-60A20447A74D}" destId="{87F0ED00-6E54-4F8A-BD35-EEC52B452910}" srcOrd="0" destOrd="0" presId="urn:microsoft.com/office/officeart/2005/8/layout/radial1"/>
    <dgm:cxn modelId="{B081573E-F973-4428-A5F8-E04A11CC59F7}" type="presOf" srcId="{88A8B062-A391-40E5-A0B6-AEBA3C2652AF}" destId="{D1C12563-4075-47DB-86F6-CA06F0FC5591}" srcOrd="0" destOrd="0" presId="urn:microsoft.com/office/officeart/2005/8/layout/radial1"/>
    <dgm:cxn modelId="{7DE4875D-00DD-40CC-8DA4-2609D5F6AE70}" type="presOf" srcId="{695E60AB-6AB0-4FCB-B273-B9C768E92D7D}" destId="{F9D27E1F-C4DF-4EC8-A2FB-FFB306AC6C76}" srcOrd="0" destOrd="0" presId="urn:microsoft.com/office/officeart/2005/8/layout/radial1"/>
    <dgm:cxn modelId="{F1F5AD42-8DB0-4D5A-AB03-3D82E6954594}" srcId="{C29E1066-C41A-413D-9B91-B257C016226B}" destId="{22B3F2A2-2454-453A-B3DA-65E3535B6808}" srcOrd="4" destOrd="0" parTransId="{8EFD92AA-63CC-440D-9590-4EFA6B46FEAC}" sibTransId="{F2EB3766-7174-4BCF-9414-4770572D69AE}"/>
    <dgm:cxn modelId="{E7A7E562-8E54-4C96-9676-23120A9544EB}" srcId="{C29E1066-C41A-413D-9B91-B257C016226B}" destId="{B122DE7E-7E45-4BA8-8429-835DB560C0F8}" srcOrd="5" destOrd="0" parTransId="{F9928741-5648-4C9F-AAA6-7E2253A8DFAA}" sibTransId="{8ED84527-23E0-421A-9A01-56F97BBC2A8E}"/>
    <dgm:cxn modelId="{AED83D45-E856-41F4-B989-D3DAACD918D5}" type="presOf" srcId="{FC75DBCB-7D15-4A95-9AA9-E18AAE7F4874}" destId="{1F8D7E3B-49B4-47F2-99DF-594C91B0FBD8}" srcOrd="0" destOrd="0" presId="urn:microsoft.com/office/officeart/2005/8/layout/radial1"/>
    <dgm:cxn modelId="{DEB85668-8B12-41E6-969B-EA76846B7903}" srcId="{999E09E7-5396-4FD5-9896-21FDB3D5F927}" destId="{C29E1066-C41A-413D-9B91-B257C016226B}" srcOrd="0" destOrd="0" parTransId="{91A317A3-50A1-4147-BA2D-79039FD70EB1}" sibTransId="{F1C2E054-0014-453F-85E7-8F73D1618F5E}"/>
    <dgm:cxn modelId="{49C3F950-CC63-408A-83E4-4128710D902D}" type="presOf" srcId="{EE744056-7364-466F-8C1B-C6ECB9A0673D}" destId="{27104DB6-A436-4D33-9134-68D172A81DAC}" srcOrd="1" destOrd="0" presId="urn:microsoft.com/office/officeart/2005/8/layout/radial1"/>
    <dgm:cxn modelId="{BB368453-65A5-47EE-B660-8A942251D827}" type="presOf" srcId="{8EFD92AA-63CC-440D-9590-4EFA6B46FEAC}" destId="{C3203004-2645-4DCE-A91F-ECE5C3F20757}" srcOrd="0" destOrd="0" presId="urn:microsoft.com/office/officeart/2005/8/layout/radial1"/>
    <dgm:cxn modelId="{5D6F9057-087C-4B0D-8174-89C71ED8B5AA}" type="presOf" srcId="{15E2B9B3-A864-413F-9347-B81C02124228}" destId="{BDFE5A68-EF85-45E6-BB50-FF26077C51E4}" srcOrd="0" destOrd="0" presId="urn:microsoft.com/office/officeart/2005/8/layout/radial1"/>
    <dgm:cxn modelId="{0710CC58-AD24-4EE2-864B-930E387415FF}" type="presOf" srcId="{B122DE7E-7E45-4BA8-8429-835DB560C0F8}" destId="{48432039-0852-421A-A41D-4EA4178F73D3}" srcOrd="0" destOrd="0" presId="urn:microsoft.com/office/officeart/2005/8/layout/radial1"/>
    <dgm:cxn modelId="{55B36D5A-1A3F-4761-A110-B646BF8CF246}" type="presOf" srcId="{B1C03C01-29A7-4788-BB45-6DE41AF0C3D0}" destId="{3EB9A976-2162-4B40-96C5-D5F48A187C20}" srcOrd="0" destOrd="0" presId="urn:microsoft.com/office/officeart/2005/8/layout/radial1"/>
    <dgm:cxn modelId="{8ADA417D-5CDC-482A-B73C-02AA4F6F3671}" srcId="{C29E1066-C41A-413D-9B91-B257C016226B}" destId="{FC75DBCB-7D15-4A95-9AA9-E18AAE7F4874}" srcOrd="2" destOrd="0" parTransId="{2D365042-86A4-46FD-BDBB-C44389DB4595}" sibTransId="{69154C80-3673-489C-A3BC-505523D9EB25}"/>
    <dgm:cxn modelId="{D84AD67E-A9A7-43AE-91DD-0B641F9801E3}" type="presOf" srcId="{48B418E9-27D2-4855-9434-F310269CD30B}" destId="{07BC2421-FBCE-4DC5-AB90-20CBE0A04E0A}" srcOrd="1" destOrd="0" presId="urn:microsoft.com/office/officeart/2005/8/layout/radial1"/>
    <dgm:cxn modelId="{8E964487-B96B-4C56-A7EA-56701EBBBB68}" type="presOf" srcId="{EE744056-7364-466F-8C1B-C6ECB9A0673D}" destId="{733A2B58-75EB-4038-B8B0-7FAF55713E4F}" srcOrd="0" destOrd="0" presId="urn:microsoft.com/office/officeart/2005/8/layout/radial1"/>
    <dgm:cxn modelId="{6F530D97-8638-4C9E-A724-E9C26D7E6027}" type="presOf" srcId="{999E09E7-5396-4FD5-9896-21FDB3D5F927}" destId="{A2BA9870-DDA9-4B43-BF88-72380AEB3071}" srcOrd="0" destOrd="0" presId="urn:microsoft.com/office/officeart/2005/8/layout/radial1"/>
    <dgm:cxn modelId="{E5B8C1C3-7BE8-4CE1-8628-69272F63884F}" srcId="{C29E1066-C41A-413D-9B91-B257C016226B}" destId="{88A8B062-A391-40E5-A0B6-AEBA3C2652AF}" srcOrd="0" destOrd="0" parTransId="{EE744056-7364-466F-8C1B-C6ECB9A0673D}" sibTransId="{3FE58D1C-2F08-4CF5-A3E3-227260B97FC1}"/>
    <dgm:cxn modelId="{A3B350C8-5766-46E0-8A35-084ACD848B89}" type="presOf" srcId="{15E2B9B3-A864-413F-9347-B81C02124228}" destId="{808A6C89-04EE-4364-8D9C-F4EB5D31F091}" srcOrd="1" destOrd="0" presId="urn:microsoft.com/office/officeart/2005/8/layout/radial1"/>
    <dgm:cxn modelId="{1FED48D3-AA16-4B2B-8810-1C43F783298F}" type="presOf" srcId="{2D365042-86A4-46FD-BDBB-C44389DB4595}" destId="{857217D8-8C41-40F0-94F9-30BE4DB55C10}" srcOrd="0" destOrd="0" presId="urn:microsoft.com/office/officeart/2005/8/layout/radial1"/>
    <dgm:cxn modelId="{1BAA5EE1-D124-40EF-BF9E-37ACBCBC70D7}" type="presOf" srcId="{F9928741-5648-4C9F-AAA6-7E2253A8DFAA}" destId="{EED954EA-7DAE-43F9-8C22-DE7A147BBAB4}" srcOrd="1" destOrd="0" presId="urn:microsoft.com/office/officeart/2005/8/layout/radial1"/>
    <dgm:cxn modelId="{C393F7E1-E4EF-4947-9797-118F62394ED3}" type="presOf" srcId="{AC5E936B-847E-4A72-BAA6-4064F8B5E20D}" destId="{1840EE2D-6CD4-473B-8388-6411D7712E6F}" srcOrd="0" destOrd="0" presId="urn:microsoft.com/office/officeart/2005/8/layout/radial1"/>
    <dgm:cxn modelId="{72996EE4-0A4C-4EAA-ADB3-692249EC4611}" type="presOf" srcId="{F9928741-5648-4C9F-AAA6-7E2253A8DFAA}" destId="{78B822F0-467A-497E-AFC9-94B35F4A621D}" srcOrd="0" destOrd="0" presId="urn:microsoft.com/office/officeart/2005/8/layout/radial1"/>
    <dgm:cxn modelId="{EB90EDE7-BF2C-409B-A06C-F39F84194A61}" srcId="{C29E1066-C41A-413D-9B91-B257C016226B}" destId="{695E60AB-6AB0-4FCB-B273-B9C768E92D7D}" srcOrd="6" destOrd="0" parTransId="{15E2B9B3-A864-413F-9347-B81C02124228}" sibTransId="{C10494B0-5275-43EC-894B-9C766F70D9DA}"/>
    <dgm:cxn modelId="{AD3B34E8-B5BB-4036-9B7A-74ABC2277332}" type="presOf" srcId="{44801131-F2C5-4841-80A9-83DA113EE7D5}" destId="{810E94E0-268C-4888-96FE-CFEC11B401B3}" srcOrd="0" destOrd="0" presId="urn:microsoft.com/office/officeart/2005/8/layout/radial1"/>
    <dgm:cxn modelId="{D89D70E8-9845-4E9A-BCB5-BEA83C1A35ED}" type="presOf" srcId="{44801131-F2C5-4841-80A9-83DA113EE7D5}" destId="{209FAE37-39EE-4EDD-893A-1DA171B6164B}" srcOrd="1" destOrd="0" presId="urn:microsoft.com/office/officeart/2005/8/layout/radial1"/>
    <dgm:cxn modelId="{EB56ABEC-8DF3-4799-9E20-6ECCC005BAB2}" type="presOf" srcId="{8EFD92AA-63CC-440D-9590-4EFA6B46FEAC}" destId="{2F3A5331-6674-4344-98DF-F6BD5B64B52D}" srcOrd="1" destOrd="0" presId="urn:microsoft.com/office/officeart/2005/8/layout/radial1"/>
    <dgm:cxn modelId="{0269F5F0-6B81-4BC3-ABDA-F1B0EBFFD924}" type="presOf" srcId="{DB3E163F-60F4-476E-BE4D-C49828E4AD75}" destId="{5E122740-9BDD-4A36-A796-794D5DA13E3E}" srcOrd="1" destOrd="0" presId="urn:microsoft.com/office/officeart/2005/8/layout/radial1"/>
    <dgm:cxn modelId="{5B660AF3-CF61-44B8-ACF9-EB066E57D363}" srcId="{C29E1066-C41A-413D-9B91-B257C016226B}" destId="{7A4D971D-341C-455A-901E-60A20447A74D}" srcOrd="3" destOrd="0" parTransId="{48B418E9-27D2-4855-9434-F310269CD30B}" sibTransId="{9CE4FD1E-9877-4D34-A4F6-5780A138C4B7}"/>
    <dgm:cxn modelId="{888CA9F7-D1DF-4D59-A302-2574402440EC}" type="presOf" srcId="{22B3F2A2-2454-453A-B3DA-65E3535B6808}" destId="{99CC4622-7D19-4B52-92C6-4C9BB35B67DC}" srcOrd="0" destOrd="0" presId="urn:microsoft.com/office/officeart/2005/8/layout/radial1"/>
    <dgm:cxn modelId="{464CDCFB-807C-491F-9C91-BBD36F8CFEEB}" type="presOf" srcId="{C29E1066-C41A-413D-9B91-B257C016226B}" destId="{4A22A9E0-A3D4-42A2-AB1F-79AF5E5B4B42}" srcOrd="0" destOrd="0" presId="urn:microsoft.com/office/officeart/2005/8/layout/radial1"/>
    <dgm:cxn modelId="{DDA92FF6-FFF9-463D-8A56-7F48CE56590E}" type="presParOf" srcId="{A2BA9870-DDA9-4B43-BF88-72380AEB3071}" destId="{4A22A9E0-A3D4-42A2-AB1F-79AF5E5B4B42}" srcOrd="0" destOrd="0" presId="urn:microsoft.com/office/officeart/2005/8/layout/radial1"/>
    <dgm:cxn modelId="{80362563-C1E8-4B5B-A2F3-58C91335F259}" type="presParOf" srcId="{A2BA9870-DDA9-4B43-BF88-72380AEB3071}" destId="{733A2B58-75EB-4038-B8B0-7FAF55713E4F}" srcOrd="1" destOrd="0" presId="urn:microsoft.com/office/officeart/2005/8/layout/radial1"/>
    <dgm:cxn modelId="{6F35FC7F-7B08-468A-B0A3-B6EB223CCFFA}" type="presParOf" srcId="{733A2B58-75EB-4038-B8B0-7FAF55713E4F}" destId="{27104DB6-A436-4D33-9134-68D172A81DAC}" srcOrd="0" destOrd="0" presId="urn:microsoft.com/office/officeart/2005/8/layout/radial1"/>
    <dgm:cxn modelId="{DDADF289-014D-4543-AE30-5EC0A78033C4}" type="presParOf" srcId="{A2BA9870-DDA9-4B43-BF88-72380AEB3071}" destId="{D1C12563-4075-47DB-86F6-CA06F0FC5591}" srcOrd="2" destOrd="0" presId="urn:microsoft.com/office/officeart/2005/8/layout/radial1"/>
    <dgm:cxn modelId="{97B81071-5B5F-4453-BF99-EA054646B2B6}" type="presParOf" srcId="{A2BA9870-DDA9-4B43-BF88-72380AEB3071}" destId="{810E94E0-268C-4888-96FE-CFEC11B401B3}" srcOrd="3" destOrd="0" presId="urn:microsoft.com/office/officeart/2005/8/layout/radial1"/>
    <dgm:cxn modelId="{A5F67A70-92E8-4F32-8087-796DC784107F}" type="presParOf" srcId="{810E94E0-268C-4888-96FE-CFEC11B401B3}" destId="{209FAE37-39EE-4EDD-893A-1DA171B6164B}" srcOrd="0" destOrd="0" presId="urn:microsoft.com/office/officeart/2005/8/layout/radial1"/>
    <dgm:cxn modelId="{5D860D49-B33F-4B26-81BA-30960D31914F}" type="presParOf" srcId="{A2BA9870-DDA9-4B43-BF88-72380AEB3071}" destId="{1840EE2D-6CD4-473B-8388-6411D7712E6F}" srcOrd="4" destOrd="0" presId="urn:microsoft.com/office/officeart/2005/8/layout/radial1"/>
    <dgm:cxn modelId="{1AEF1965-70A7-4357-ADE5-A8BFB0720920}" type="presParOf" srcId="{A2BA9870-DDA9-4B43-BF88-72380AEB3071}" destId="{857217D8-8C41-40F0-94F9-30BE4DB55C10}" srcOrd="5" destOrd="0" presId="urn:microsoft.com/office/officeart/2005/8/layout/radial1"/>
    <dgm:cxn modelId="{0D0666AC-3EA4-4F56-8FE4-5D875CF63862}" type="presParOf" srcId="{857217D8-8C41-40F0-94F9-30BE4DB55C10}" destId="{C6A3C002-623F-4C7F-A593-6EFCCE3754CF}" srcOrd="0" destOrd="0" presId="urn:microsoft.com/office/officeart/2005/8/layout/radial1"/>
    <dgm:cxn modelId="{012995DB-65D3-40E6-86F9-F156C7D08116}" type="presParOf" srcId="{A2BA9870-DDA9-4B43-BF88-72380AEB3071}" destId="{1F8D7E3B-49B4-47F2-99DF-594C91B0FBD8}" srcOrd="6" destOrd="0" presId="urn:microsoft.com/office/officeart/2005/8/layout/radial1"/>
    <dgm:cxn modelId="{94E5E205-4938-4E2E-A13A-647C3776B1D9}" type="presParOf" srcId="{A2BA9870-DDA9-4B43-BF88-72380AEB3071}" destId="{D5BC021A-D3F4-422E-8BC7-D6F5F4E9170A}" srcOrd="7" destOrd="0" presId="urn:microsoft.com/office/officeart/2005/8/layout/radial1"/>
    <dgm:cxn modelId="{3E00C2F7-56BB-4851-B9C5-3B8CF7B9AC88}" type="presParOf" srcId="{D5BC021A-D3F4-422E-8BC7-D6F5F4E9170A}" destId="{07BC2421-FBCE-4DC5-AB90-20CBE0A04E0A}" srcOrd="0" destOrd="0" presId="urn:microsoft.com/office/officeart/2005/8/layout/radial1"/>
    <dgm:cxn modelId="{8051A08B-B838-4D9C-BB62-B6D5AF273707}" type="presParOf" srcId="{A2BA9870-DDA9-4B43-BF88-72380AEB3071}" destId="{87F0ED00-6E54-4F8A-BD35-EEC52B452910}" srcOrd="8" destOrd="0" presId="urn:microsoft.com/office/officeart/2005/8/layout/radial1"/>
    <dgm:cxn modelId="{2FFE5775-A0C8-42C8-84DF-E607B5E82251}" type="presParOf" srcId="{A2BA9870-DDA9-4B43-BF88-72380AEB3071}" destId="{C3203004-2645-4DCE-A91F-ECE5C3F20757}" srcOrd="9" destOrd="0" presId="urn:microsoft.com/office/officeart/2005/8/layout/radial1"/>
    <dgm:cxn modelId="{E328A190-2564-4AC8-8ED0-ED2521685640}" type="presParOf" srcId="{C3203004-2645-4DCE-A91F-ECE5C3F20757}" destId="{2F3A5331-6674-4344-98DF-F6BD5B64B52D}" srcOrd="0" destOrd="0" presId="urn:microsoft.com/office/officeart/2005/8/layout/radial1"/>
    <dgm:cxn modelId="{8FA21C88-B4D0-450C-A39F-1EFBB600BD31}" type="presParOf" srcId="{A2BA9870-DDA9-4B43-BF88-72380AEB3071}" destId="{99CC4622-7D19-4B52-92C6-4C9BB35B67DC}" srcOrd="10" destOrd="0" presId="urn:microsoft.com/office/officeart/2005/8/layout/radial1"/>
    <dgm:cxn modelId="{705B2197-DD80-4E9E-A265-6BE8DD80CE11}" type="presParOf" srcId="{A2BA9870-DDA9-4B43-BF88-72380AEB3071}" destId="{78B822F0-467A-497E-AFC9-94B35F4A621D}" srcOrd="11" destOrd="0" presId="urn:microsoft.com/office/officeart/2005/8/layout/radial1"/>
    <dgm:cxn modelId="{304E4965-4B91-40AF-BD7F-343839515CF8}" type="presParOf" srcId="{78B822F0-467A-497E-AFC9-94B35F4A621D}" destId="{EED954EA-7DAE-43F9-8C22-DE7A147BBAB4}" srcOrd="0" destOrd="0" presId="urn:microsoft.com/office/officeart/2005/8/layout/radial1"/>
    <dgm:cxn modelId="{598B1C73-010E-405B-A537-7D0A5F948F95}" type="presParOf" srcId="{A2BA9870-DDA9-4B43-BF88-72380AEB3071}" destId="{48432039-0852-421A-A41D-4EA4178F73D3}" srcOrd="12" destOrd="0" presId="urn:microsoft.com/office/officeart/2005/8/layout/radial1"/>
    <dgm:cxn modelId="{4CF10523-A7C0-495F-BAFF-24F96AE3C6BD}" type="presParOf" srcId="{A2BA9870-DDA9-4B43-BF88-72380AEB3071}" destId="{BDFE5A68-EF85-45E6-BB50-FF26077C51E4}" srcOrd="13" destOrd="0" presId="urn:microsoft.com/office/officeart/2005/8/layout/radial1"/>
    <dgm:cxn modelId="{6DA45A1F-1BF0-4C28-B696-9933ED090A83}" type="presParOf" srcId="{BDFE5A68-EF85-45E6-BB50-FF26077C51E4}" destId="{808A6C89-04EE-4364-8D9C-F4EB5D31F091}" srcOrd="0" destOrd="0" presId="urn:microsoft.com/office/officeart/2005/8/layout/radial1"/>
    <dgm:cxn modelId="{95331838-CD7D-49EB-A741-A3D1775C989F}" type="presParOf" srcId="{A2BA9870-DDA9-4B43-BF88-72380AEB3071}" destId="{F9D27E1F-C4DF-4EC8-A2FB-FFB306AC6C76}" srcOrd="14" destOrd="0" presId="urn:microsoft.com/office/officeart/2005/8/layout/radial1"/>
    <dgm:cxn modelId="{2A3B384A-3D96-4C09-BCA3-91BAA378BE6B}" type="presParOf" srcId="{A2BA9870-DDA9-4B43-BF88-72380AEB3071}" destId="{21C2D555-BBA0-4779-ACCF-5F8C73DCD0F5}" srcOrd="15" destOrd="0" presId="urn:microsoft.com/office/officeart/2005/8/layout/radial1"/>
    <dgm:cxn modelId="{664DF534-B3D5-4D1B-AF9D-14EF51635704}" type="presParOf" srcId="{21C2D555-BBA0-4779-ACCF-5F8C73DCD0F5}" destId="{5E122740-9BDD-4A36-A796-794D5DA13E3E}" srcOrd="0" destOrd="0" presId="urn:microsoft.com/office/officeart/2005/8/layout/radial1"/>
    <dgm:cxn modelId="{A6CF4902-EE3C-4C23-AF73-8440340E85F0}" type="presParOf" srcId="{A2BA9870-DDA9-4B43-BF88-72380AEB3071}" destId="{3EB9A976-2162-4B40-96C5-D5F48A187C20}" srcOrd="1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22A9E0-A3D4-42A2-AB1F-79AF5E5B4B42}">
      <dsp:nvSpPr>
        <dsp:cNvPr id="0" name=""/>
        <dsp:cNvSpPr/>
      </dsp:nvSpPr>
      <dsp:spPr>
        <a:xfrm>
          <a:off x="3222318" y="1906695"/>
          <a:ext cx="1119040" cy="1119040"/>
        </a:xfrm>
        <a:prstGeom prst="ellipse">
          <a:avLst/>
        </a:pr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solidFill>
                <a:schemeClr val="accent2"/>
              </a:solidFill>
            </a:rPr>
            <a:t>Стейтмент</a:t>
          </a:r>
        </a:p>
      </dsp:txBody>
      <dsp:txXfrm>
        <a:off x="3386198" y="2070575"/>
        <a:ext cx="791280" cy="791280"/>
      </dsp:txXfrm>
    </dsp:sp>
    <dsp:sp modelId="{733A2B58-75EB-4038-B8B0-7FAF55713E4F}">
      <dsp:nvSpPr>
        <dsp:cNvPr id="0" name=""/>
        <dsp:cNvSpPr/>
      </dsp:nvSpPr>
      <dsp:spPr>
        <a:xfrm rot="16200000">
          <a:off x="3389682" y="1501224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3762231" y="1494931"/>
        <a:ext cx="39215" cy="39215"/>
      </dsp:txXfrm>
    </dsp:sp>
    <dsp:sp modelId="{D1C12563-4075-47DB-86F6-CA06F0FC5591}">
      <dsp:nvSpPr>
        <dsp:cNvPr id="0" name=""/>
        <dsp:cNvSpPr/>
      </dsp:nvSpPr>
      <dsp:spPr>
        <a:xfrm>
          <a:off x="3222318" y="3342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labeled-statement</a:t>
          </a:r>
          <a:endParaRPr lang="ru-RU" sz="1200" i="0" kern="1200" dirty="0"/>
        </a:p>
      </dsp:txBody>
      <dsp:txXfrm>
        <a:off x="3386198" y="167222"/>
        <a:ext cx="791280" cy="791280"/>
      </dsp:txXfrm>
    </dsp:sp>
    <dsp:sp modelId="{810E94E0-268C-4888-96FE-CFEC11B401B3}">
      <dsp:nvSpPr>
        <dsp:cNvPr id="0" name=""/>
        <dsp:cNvSpPr/>
      </dsp:nvSpPr>
      <dsp:spPr>
        <a:xfrm rot="18900000">
          <a:off x="4062619" y="1779963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4435168" y="1773671"/>
        <a:ext cx="39215" cy="39215"/>
      </dsp:txXfrm>
    </dsp:sp>
    <dsp:sp modelId="{1840EE2D-6CD4-473B-8388-6411D7712E6F}">
      <dsp:nvSpPr>
        <dsp:cNvPr id="0" name=""/>
        <dsp:cNvSpPr/>
      </dsp:nvSpPr>
      <dsp:spPr>
        <a:xfrm>
          <a:off x="4568192" y="560822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expression-statement</a:t>
          </a:r>
          <a:endParaRPr lang="ru-RU" sz="1200" i="0" kern="1200" dirty="0"/>
        </a:p>
      </dsp:txBody>
      <dsp:txXfrm>
        <a:off x="4732072" y="724702"/>
        <a:ext cx="791280" cy="791280"/>
      </dsp:txXfrm>
    </dsp:sp>
    <dsp:sp modelId="{857217D8-8C41-40F0-94F9-30BE4DB55C10}">
      <dsp:nvSpPr>
        <dsp:cNvPr id="0" name=""/>
        <dsp:cNvSpPr/>
      </dsp:nvSpPr>
      <dsp:spPr>
        <a:xfrm>
          <a:off x="4341359" y="2452900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4713907" y="2446608"/>
        <a:ext cx="39215" cy="39215"/>
      </dsp:txXfrm>
    </dsp:sp>
    <dsp:sp modelId="{1F8D7E3B-49B4-47F2-99DF-594C91B0FBD8}">
      <dsp:nvSpPr>
        <dsp:cNvPr id="0" name=""/>
        <dsp:cNvSpPr/>
      </dsp:nvSpPr>
      <dsp:spPr>
        <a:xfrm>
          <a:off x="5125671" y="1906695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compound-statement</a:t>
          </a:r>
          <a:endParaRPr lang="ru-RU" sz="1200" i="0" kern="1200" dirty="0"/>
        </a:p>
      </dsp:txBody>
      <dsp:txXfrm>
        <a:off x="5289551" y="2070575"/>
        <a:ext cx="791280" cy="791280"/>
      </dsp:txXfrm>
    </dsp:sp>
    <dsp:sp modelId="{D5BC021A-D3F4-422E-8BC7-D6F5F4E9170A}">
      <dsp:nvSpPr>
        <dsp:cNvPr id="0" name=""/>
        <dsp:cNvSpPr/>
      </dsp:nvSpPr>
      <dsp:spPr>
        <a:xfrm rot="2700000">
          <a:off x="4062619" y="3125837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4435168" y="3119545"/>
        <a:ext cx="39215" cy="39215"/>
      </dsp:txXfrm>
    </dsp:sp>
    <dsp:sp modelId="{87F0ED00-6E54-4F8A-BD35-EEC52B452910}">
      <dsp:nvSpPr>
        <dsp:cNvPr id="0" name=""/>
        <dsp:cNvSpPr/>
      </dsp:nvSpPr>
      <dsp:spPr>
        <a:xfrm>
          <a:off x="4568192" y="3252569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selection-statement</a:t>
          </a:r>
          <a:endParaRPr lang="ru-RU" sz="1200" i="0" kern="1200" dirty="0"/>
        </a:p>
      </dsp:txBody>
      <dsp:txXfrm>
        <a:off x="4732072" y="3416449"/>
        <a:ext cx="791280" cy="791280"/>
      </dsp:txXfrm>
    </dsp:sp>
    <dsp:sp modelId="{C3203004-2645-4DCE-A91F-ECE5C3F20757}">
      <dsp:nvSpPr>
        <dsp:cNvPr id="0" name=""/>
        <dsp:cNvSpPr/>
      </dsp:nvSpPr>
      <dsp:spPr>
        <a:xfrm rot="5400000">
          <a:off x="3389682" y="3404577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3762231" y="3398284"/>
        <a:ext cx="39215" cy="39215"/>
      </dsp:txXfrm>
    </dsp:sp>
    <dsp:sp modelId="{99CC4622-7D19-4B52-92C6-4C9BB35B67DC}">
      <dsp:nvSpPr>
        <dsp:cNvPr id="0" name=""/>
        <dsp:cNvSpPr/>
      </dsp:nvSpPr>
      <dsp:spPr>
        <a:xfrm>
          <a:off x="3222318" y="3810048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iteration-statement</a:t>
          </a:r>
          <a:endParaRPr lang="ru-RU" sz="1200" i="0" kern="1200" dirty="0"/>
        </a:p>
      </dsp:txBody>
      <dsp:txXfrm>
        <a:off x="3386198" y="3973928"/>
        <a:ext cx="791280" cy="791280"/>
      </dsp:txXfrm>
    </dsp:sp>
    <dsp:sp modelId="{78B822F0-467A-497E-AFC9-94B35F4A621D}">
      <dsp:nvSpPr>
        <dsp:cNvPr id="0" name=""/>
        <dsp:cNvSpPr/>
      </dsp:nvSpPr>
      <dsp:spPr>
        <a:xfrm rot="8100000">
          <a:off x="2716745" y="3125837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 rot="10800000">
        <a:off x="3089294" y="3119545"/>
        <a:ext cx="39215" cy="39215"/>
      </dsp:txXfrm>
    </dsp:sp>
    <dsp:sp modelId="{48432039-0852-421A-A41D-4EA4178F73D3}">
      <dsp:nvSpPr>
        <dsp:cNvPr id="0" name=""/>
        <dsp:cNvSpPr/>
      </dsp:nvSpPr>
      <dsp:spPr>
        <a:xfrm>
          <a:off x="1876445" y="3252569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jump-statement</a:t>
          </a:r>
          <a:endParaRPr lang="ru-RU" sz="1200" i="0" kern="1200" dirty="0"/>
        </a:p>
      </dsp:txBody>
      <dsp:txXfrm>
        <a:off x="2040325" y="3416449"/>
        <a:ext cx="791280" cy="791280"/>
      </dsp:txXfrm>
    </dsp:sp>
    <dsp:sp modelId="{BDFE5A68-EF85-45E6-BB50-FF26077C51E4}">
      <dsp:nvSpPr>
        <dsp:cNvPr id="0" name=""/>
        <dsp:cNvSpPr/>
      </dsp:nvSpPr>
      <dsp:spPr>
        <a:xfrm rot="10800000">
          <a:off x="2438006" y="2452900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 rot="10800000">
        <a:off x="2810554" y="2446608"/>
        <a:ext cx="39215" cy="39215"/>
      </dsp:txXfrm>
    </dsp:sp>
    <dsp:sp modelId="{F9D27E1F-C4DF-4EC8-A2FB-FFB306AC6C76}">
      <dsp:nvSpPr>
        <dsp:cNvPr id="0" name=""/>
        <dsp:cNvSpPr/>
      </dsp:nvSpPr>
      <dsp:spPr>
        <a:xfrm>
          <a:off x="1318965" y="1906695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declaration-statement</a:t>
          </a:r>
          <a:endParaRPr lang="ru-RU" sz="1200" i="0" kern="1200" dirty="0"/>
        </a:p>
      </dsp:txBody>
      <dsp:txXfrm>
        <a:off x="1482845" y="2070575"/>
        <a:ext cx="791280" cy="791280"/>
      </dsp:txXfrm>
    </dsp:sp>
    <dsp:sp modelId="{21C2D555-BBA0-4779-ACCF-5F8C73DCD0F5}">
      <dsp:nvSpPr>
        <dsp:cNvPr id="0" name=""/>
        <dsp:cNvSpPr/>
      </dsp:nvSpPr>
      <dsp:spPr>
        <a:xfrm rot="13500000">
          <a:off x="2716745" y="1779963"/>
          <a:ext cx="7843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843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 rot="10800000">
        <a:off x="3089294" y="1773671"/>
        <a:ext cx="39215" cy="39215"/>
      </dsp:txXfrm>
    </dsp:sp>
    <dsp:sp modelId="{3EB9A976-2162-4B40-96C5-D5F48A187C20}">
      <dsp:nvSpPr>
        <dsp:cNvPr id="0" name=""/>
        <dsp:cNvSpPr/>
      </dsp:nvSpPr>
      <dsp:spPr>
        <a:xfrm>
          <a:off x="1876445" y="560822"/>
          <a:ext cx="1119040" cy="11190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try-block</a:t>
          </a:r>
          <a:endParaRPr lang="ru-RU" sz="1200" i="0" kern="1200" dirty="0"/>
        </a:p>
      </dsp:txBody>
      <dsp:txXfrm>
        <a:off x="2040325" y="724702"/>
        <a:ext cx="791280" cy="791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g21.link/n4861" TargetMode="External"/><Relationship Id="rId3" Type="http://schemas.openxmlformats.org/officeDocument/2006/relationships/hyperlink" Target="https://eel.is/c++draft/" TargetMode="External"/><Relationship Id="rId7" Type="http://schemas.openxmlformats.org/officeDocument/2006/relationships/hyperlink" Target="https://wg21.link/n4659" TargetMode="External"/><Relationship Id="rId2" Type="http://schemas.openxmlformats.org/officeDocument/2006/relationships/hyperlink" Target="https://github.com/cplusplus/draf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g21.link/n4140" TargetMode="External"/><Relationship Id="rId5" Type="http://schemas.openxmlformats.org/officeDocument/2006/relationships/hyperlink" Target="https://wg21.link/n3337" TargetMode="External"/><Relationship Id="rId4" Type="http://schemas.openxmlformats.org/officeDocument/2006/relationships/hyperlink" Target="https://en.cppreference.com/cpp/links" TargetMode="External"/><Relationship Id="rId9" Type="http://schemas.openxmlformats.org/officeDocument/2006/relationships/hyperlink" Target="https://wg21.link/n4950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.cppreference.com/w/cpp/language/operator_precedence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/>
              <a:t>Лекция 2 (С++)</a:t>
            </a:r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Базовые сведения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5122E-0E93-47AF-B91B-7BCC8843FAE1}"/>
              </a:ext>
            </a:extLst>
          </p:cNvPr>
          <p:cNvSpPr txBox="1"/>
          <p:nvPr/>
        </p:nvSpPr>
        <p:spPr>
          <a:xfrm>
            <a:off x="924560" y="2136338"/>
            <a:ext cx="59029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Автор языка: Бьярне Страуструп (</a:t>
            </a:r>
            <a:r>
              <a:rPr lang="ru-RU" dirty="0" err="1"/>
              <a:t>Bjarne</a:t>
            </a:r>
            <a:r>
              <a:rPr lang="ru-RU" dirty="0"/>
              <a:t> </a:t>
            </a:r>
            <a:r>
              <a:rPr lang="ru-RU" dirty="0" err="1"/>
              <a:t>Stroustrup</a:t>
            </a:r>
            <a:r>
              <a:rPr lang="ru-RU" dirty="0"/>
              <a:t>) – датский учёный в области информатики, родился 30 декабря 1950 года в Орхусе (Дания).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Начал разработку языка в 1979 году в Bell Labs (AT&amp;T).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Цель – соединить эффективность и низкоуровневый контроль C с абстракциями высокого уровня.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Изначально язык назывался «C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Classes</a:t>
            </a:r>
            <a:r>
              <a:rPr lang="ru-RU" dirty="0"/>
              <a:t>» – расширение C классами и другими возможностями ООП.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В 1983 году язык получил имя C++.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F97716C0-7EC6-4A09-86F7-DAA27C6E58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3" r="25803"/>
          <a:stretch/>
        </p:blipFill>
        <p:spPr bwMode="auto">
          <a:xfrm>
            <a:off x="7213600" y="0"/>
            <a:ext cx="497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60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Характеристика языка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5122E-0E93-47AF-B91B-7BCC8843FAE1}"/>
              </a:ext>
            </a:extLst>
          </p:cNvPr>
          <p:cNvSpPr txBox="1"/>
          <p:nvPr/>
        </p:nvSpPr>
        <p:spPr>
          <a:xfrm>
            <a:off x="924560" y="213633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Мультипарадигменный</a:t>
            </a:r>
            <a:r>
              <a:rPr lang="ru-RU" dirty="0"/>
              <a:t> язык: процедурное, объектно-ориентированное, обобщённое (</a:t>
            </a:r>
            <a:r>
              <a:rPr lang="en-US" b="0" i="0" dirty="0">
                <a:solidFill>
                  <a:srgbClr val="000000"/>
                </a:solidFill>
                <a:effectLst/>
                <a:latin typeface="YS Text"/>
              </a:rPr>
              <a:t>generic</a:t>
            </a:r>
            <a:r>
              <a:rPr lang="ru-RU" dirty="0"/>
              <a:t>), функциональное программирование.</a:t>
            </a:r>
          </a:p>
          <a:p>
            <a:endParaRPr lang="ru-RU" dirty="0"/>
          </a:p>
          <a:p>
            <a:r>
              <a:rPr lang="ru-RU" dirty="0"/>
              <a:t>Типизация: статическая</a:t>
            </a:r>
            <a:r>
              <a:rPr lang="en-US" dirty="0"/>
              <a:t>;</a:t>
            </a:r>
            <a:r>
              <a:rPr lang="ru-RU" dirty="0"/>
              <a:t> в целом сильная (строгая), но есть неявные преобразования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Язык компилируемый - компилируется в машинный код.</a:t>
            </a:r>
          </a:p>
          <a:p>
            <a:endParaRPr lang="ru-RU" dirty="0"/>
          </a:p>
          <a:p>
            <a:r>
              <a:rPr lang="ru-RU" dirty="0"/>
              <a:t>Ручное управление памятью 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+ умные указатели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Принцип: за то, что не используешь, не платишь (</a:t>
            </a:r>
            <a:r>
              <a:rPr lang="ru-RU" dirty="0" err="1"/>
              <a:t>zero-overhead</a:t>
            </a:r>
            <a:r>
              <a:rPr lang="ru-RU" dirty="0"/>
              <a:t> </a:t>
            </a:r>
            <a:r>
              <a:rPr lang="ru-RU" dirty="0" err="1"/>
              <a:t>principle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Кроссплатформенность: Windows, Linux, </a:t>
            </a:r>
            <a:r>
              <a:rPr lang="ru-RU" dirty="0" err="1"/>
              <a:t>macOS</a:t>
            </a:r>
            <a:r>
              <a:rPr lang="ru-RU" dirty="0"/>
              <a:t>, </a:t>
            </a:r>
            <a:r>
              <a:rPr lang="ru-RU" dirty="0" err="1"/>
              <a:t>embedded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Активно развивается комитетом ISO WG21.</a:t>
            </a:r>
          </a:p>
        </p:txBody>
      </p:sp>
    </p:spTree>
    <p:extLst>
      <p:ext uri="{BB962C8B-B14F-4D97-AF65-F5344CB8AC3E}">
        <p14:creationId xmlns:p14="http://schemas.microsoft.com/office/powerpoint/2010/main" val="391679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174625"/>
              </p:ext>
            </p:extLst>
          </p:nvPr>
        </p:nvGraphicFramePr>
        <p:xfrm>
          <a:off x="995680" y="1280160"/>
          <a:ext cx="10220960" cy="431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6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Год</a:t>
                      </a:r>
                    </a:p>
                  </a:txBody>
                  <a:tcPr>
                    <a:solidFill>
                      <a:srgbClr val="00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Стандарт</a:t>
                      </a:r>
                    </a:p>
                  </a:txBody>
                  <a:tcPr>
                    <a:solidFill>
                      <a:srgbClr val="00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Ключевые возможности</a:t>
                      </a:r>
                    </a:p>
                  </a:txBody>
                  <a:tcPr>
                    <a:solidFill>
                      <a:srgbClr val="005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C++98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Первый ISO-стандарт: STL, шаблоны, исключения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2003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C++03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Исправления, уточнения (TC1)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C++11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auto, </a:t>
                      </a:r>
                      <a:r>
                        <a:rPr dirty="0" err="1"/>
                        <a:t>лямбды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rvalue-ссылки</a:t>
                      </a:r>
                      <a:r>
                        <a:rPr dirty="0"/>
                        <a:t>, move, </a:t>
                      </a:r>
                      <a:r>
                        <a:rPr dirty="0" err="1"/>
                        <a:t>nullptr</a:t>
                      </a:r>
                      <a:r>
                        <a:rPr dirty="0"/>
                        <a:t>, thread, regex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C++14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 err="1"/>
                        <a:t>Обобщённые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лямбды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constexpr-улучшения</a:t>
                      </a:r>
                      <a:endParaRPr dirty="0"/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C++17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structured bindings, if </a:t>
                      </a:r>
                      <a:r>
                        <a:rPr dirty="0" err="1"/>
                        <a:t>constexpr</a:t>
                      </a:r>
                      <a:r>
                        <a:rPr dirty="0"/>
                        <a:t>, optional, variant, filesystem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C++20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 err="1"/>
                        <a:t>концепты</a:t>
                      </a:r>
                      <a:r>
                        <a:rPr dirty="0"/>
                        <a:t>, ranges, </a:t>
                      </a:r>
                      <a:r>
                        <a:rPr dirty="0" err="1"/>
                        <a:t>корутины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модули</a:t>
                      </a:r>
                      <a:r>
                        <a:rPr dirty="0"/>
                        <a:t>, three-way comparison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C++23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std::expected, std::print, deducing this, import std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C++26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в </a:t>
                      </a:r>
                      <a:r>
                        <a:rPr dirty="0" err="1"/>
                        <a:t>разработке</a:t>
                      </a:r>
                      <a:r>
                        <a:rPr dirty="0"/>
                        <a:t>: </a:t>
                      </a:r>
                      <a:r>
                        <a:rPr dirty="0" err="1"/>
                        <a:t>рефлексия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контракты</a:t>
                      </a:r>
                      <a:r>
                        <a:rPr dirty="0"/>
                        <a:t>, executors и </a:t>
                      </a:r>
                      <a:r>
                        <a:rPr dirty="0" err="1"/>
                        <a:t>др</a:t>
                      </a:r>
                      <a:r>
                        <a:rPr dirty="0"/>
                        <a:t>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3EB9C12-8E8C-4AF6-B14D-005793CD8D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История и стандарты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6A327-8B54-4699-A066-865BC874A80D}"/>
              </a:ext>
            </a:extLst>
          </p:cNvPr>
          <p:cNvSpPr txBox="1"/>
          <p:nvPr/>
        </p:nvSpPr>
        <p:spPr>
          <a:xfrm>
            <a:off x="995680" y="5866944"/>
            <a:ext cx="10063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0" i="0" dirty="0">
                <a:solidFill>
                  <a:srgbClr val="000000"/>
                </a:solidFill>
                <a:effectLst/>
              </a:rPr>
              <a:t>Релиз нового стандарта – каждые 3 года. «Крупные» выпуски (с существенными новыми возможностями) чередуются с «полировочными»: C++20 и C++26 — крупные, C++23 — доработка.</a:t>
            </a:r>
            <a:endParaRPr lang="ru-RU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371600"/>
            <a:ext cx="1069848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lang="ru-RU" dirty="0"/>
              <a:t>Официальные стандарты ISO платные. Но комитет WG21 публикует свободные рабочие драфты – они практически идентичны финальным стандартам (отличаются только редакционными правками)</a:t>
            </a:r>
            <a:r>
              <a:rPr dirty="0"/>
              <a:t>.</a:t>
            </a:r>
            <a:endParaRPr lang="ru-RU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lang="ru-RU" dirty="0"/>
              <a:t>Основной репозиторий: </a:t>
            </a:r>
            <a:r>
              <a:rPr lang="ru-RU" dirty="0">
                <a:hlinkClick r:id="rId2"/>
              </a:rPr>
              <a:t>https://github.com/cplusplus/draft</a:t>
            </a:r>
            <a:endParaRPr lang="ru-RU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lang="ru-RU" dirty="0"/>
              <a:t>Онлайн-версия текущего драфта (живой документ): </a:t>
            </a:r>
            <a:r>
              <a:rPr lang="ru-RU" dirty="0">
                <a:hlinkClick r:id="rId3"/>
              </a:rPr>
              <a:t>https://eel.is/c++draft/</a:t>
            </a:r>
            <a:endParaRPr lang="ru-RU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lang="ru-RU" dirty="0"/>
              <a:t>Тут тоже список драфтов: </a:t>
            </a:r>
            <a:r>
              <a:rPr lang="en-US" dirty="0">
                <a:hlinkClick r:id="rId4"/>
              </a:rPr>
              <a:t>https://en.cppreference.com/cpp/links</a:t>
            </a:r>
            <a:endParaRPr lang="ru-RU" dirty="0"/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r>
              <a:rPr lang="ru-RU" dirty="0"/>
              <a:t>Нумерованные драфты соответствуют стандартам:</a:t>
            </a:r>
          </a:p>
          <a:p>
            <a:pPr>
              <a:spcAft>
                <a:spcPts val="600"/>
              </a:spcAft>
              <a:defRPr sz="2000" b="0">
                <a:solidFill>
                  <a:srgbClr val="1A1A1A"/>
                </a:solidFill>
              </a:defRPr>
            </a:pPr>
            <a:endParaRPr lang="ru-R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827093"/>
              </p:ext>
            </p:extLst>
          </p:nvPr>
        </p:nvGraphicFramePr>
        <p:xfrm>
          <a:off x="731520" y="3992879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Драфт</a:t>
                      </a:r>
                    </a:p>
                  </a:txBody>
                  <a:tcPr>
                    <a:solidFill>
                      <a:srgbClr val="00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Стандарт</a:t>
                      </a:r>
                    </a:p>
                  </a:txBody>
                  <a:tcPr>
                    <a:solidFill>
                      <a:srgbClr val="00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Ссылка</a:t>
                      </a:r>
                    </a:p>
                  </a:txBody>
                  <a:tcPr>
                    <a:solidFill>
                      <a:srgbClr val="005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N3337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C++11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>
                          <a:hlinkClick r:id="rId5"/>
                        </a:rPr>
                        <a:t>https://wg21.link/n3337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N4140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C++14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>
                          <a:hlinkClick r:id="rId6"/>
                        </a:rPr>
                        <a:t>https://wg21.link/n4140</a:t>
                      </a:r>
                      <a:endParaRPr lang="ru-RU" dirty="0"/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N4659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C++17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>
                          <a:hlinkClick r:id="rId7"/>
                        </a:rPr>
                        <a:t>https://wg21.link/n4659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N4861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C++20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>
                          <a:hlinkClick r:id="rId8"/>
                        </a:rPr>
                        <a:t>https://wg21.link/n4861</a:t>
                      </a:r>
                      <a:endParaRPr lang="ru-RU" dirty="0"/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N4950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C++23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>
                          <a:hlinkClick r:id="rId9"/>
                        </a:rPr>
                        <a:t>https://wg21.link/n4950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87E2D3E-553D-43C9-8BED-95BC2E7F69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Публичные драфты стандарта </a:t>
            </a:r>
            <a:r>
              <a:rPr lang="en-US" dirty="0"/>
              <a:t>C++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CDCF-932F-EDAC-C9C1-A32C5D3F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48-F456-D5FB-EAF1-DDC414BCE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Первая модель программы на С++</a:t>
            </a:r>
          </a:p>
        </p:txBody>
      </p:sp>
    </p:spTree>
    <p:extLst>
      <p:ext uri="{BB962C8B-B14F-4D97-AF65-F5344CB8AC3E}">
        <p14:creationId xmlns:p14="http://schemas.microsoft.com/office/powerpoint/2010/main" val="362913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500E-C504-4610-E143-0A6076EA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B4841-BAA6-1D4B-8A06-B32292D4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</a:rPr>
              <a:t>Модели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4DF7E08-B843-4EA3-85AB-3929551FF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379" y="1933241"/>
            <a:ext cx="8653243" cy="415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66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Только один файл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3F62A-2590-4EDD-B226-0D442F38B431}"/>
              </a:ext>
            </a:extLst>
          </p:cNvPr>
          <p:cNvSpPr txBox="1"/>
          <p:nvPr/>
        </p:nvSpPr>
        <p:spPr>
          <a:xfrm>
            <a:off x="5930317" y="3521169"/>
            <a:ext cx="3044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Весь код программы полностью в одном файле</a:t>
            </a:r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8E6A802A-B687-4BA1-987C-E51F9F8C2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922" y="2200360"/>
            <a:ext cx="3044505" cy="304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84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Структура программы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5D5A097-2DA7-57A2-1B71-843EFF272FBC}"/>
              </a:ext>
            </a:extLst>
          </p:cNvPr>
          <p:cNvGrpSpPr/>
          <p:nvPr/>
        </p:nvGrpSpPr>
        <p:grpSpPr>
          <a:xfrm>
            <a:off x="1711764" y="2831033"/>
            <a:ext cx="8477756" cy="2918713"/>
            <a:chOff x="1711764" y="2632252"/>
            <a:chExt cx="8477756" cy="2918713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7268F5C-A206-4D87-ABCE-7DE8CE393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1764" y="2632252"/>
              <a:ext cx="6408975" cy="2918713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D288CA3E-1267-4A3D-9C20-FA6393760ABA}"/>
                </a:ext>
              </a:extLst>
            </p:cNvPr>
            <p:cNvSpPr/>
            <p:nvPr/>
          </p:nvSpPr>
          <p:spPr>
            <a:xfrm>
              <a:off x="2368796" y="2632253"/>
              <a:ext cx="3649210" cy="83019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777249F-C622-413C-A147-15F4CB46D04A}"/>
                </a:ext>
              </a:extLst>
            </p:cNvPr>
            <p:cNvSpPr/>
            <p:nvPr/>
          </p:nvSpPr>
          <p:spPr>
            <a:xfrm>
              <a:off x="2368796" y="3816628"/>
              <a:ext cx="3649210" cy="160020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AEC1AB-039D-4AC3-94F3-E9A590C97D95}"/>
                </a:ext>
              </a:extLst>
            </p:cNvPr>
            <p:cNvSpPr txBox="1"/>
            <p:nvPr/>
          </p:nvSpPr>
          <p:spPr>
            <a:xfrm>
              <a:off x="6213752" y="2724184"/>
              <a:ext cx="39757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В этой секции только подключаем</a:t>
              </a:r>
              <a:br>
                <a:rPr lang="ru-RU" dirty="0"/>
              </a:br>
              <a:r>
                <a:rPr lang="ru-RU" dirty="0"/>
                <a:t>стандартные библиотеки, если нужно.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83F62A-2590-4EDD-B226-0D442F38B431}"/>
                </a:ext>
              </a:extLst>
            </p:cNvPr>
            <p:cNvSpPr txBox="1"/>
            <p:nvPr/>
          </p:nvSpPr>
          <p:spPr>
            <a:xfrm>
              <a:off x="6213752" y="4222442"/>
              <a:ext cx="39359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Весь код пишем только в этой секции.</a:t>
              </a:r>
            </a:p>
            <a:p>
              <a:r>
                <a:rPr lang="ru-RU" dirty="0"/>
                <a:t>Эта секция обязательна.</a:t>
              </a:r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2545E-F2F6-86D7-622B-D078929B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561" y="1825625"/>
            <a:ext cx="10736136" cy="8066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Программа состоит строго из 2х секций: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53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A48-766C-1499-485E-2A094789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C262F-F221-D086-77A7-13D6AC5A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Минимальная программа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10A5CB4-5C65-B249-9E32-55B627E1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меньше нельзя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 стандарту можно не писать</a:t>
            </a:r>
            <a:endParaRPr lang="ru-RU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68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A48-766C-1499-485E-2A094789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C262F-F221-D086-77A7-13D6AC5A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Подключение нескольких библиотек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10A5CB4-5C65-B249-9E32-55B627E1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ru-RU" sz="2800" b="0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math&gt;</a:t>
            </a:r>
            <a:endParaRPr 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ru-RU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 библиотеки</a:t>
            </a:r>
            <a:r>
              <a:rPr lang="en-US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код</a:t>
            </a:r>
            <a:endParaRPr 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9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A48-766C-1499-485E-2A094789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C262F-F221-D086-77A7-13D6AC5A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Комментарии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10A5CB4-5C65-B249-9E32-55B627E1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235200"/>
            <a:ext cx="9753600" cy="34747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однострочный комментарий. От // до конца строки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многострочный комментарий.</a:t>
            </a:r>
          </a:p>
          <a:p>
            <a:pPr>
              <a:lnSpc>
                <a:spcPct val="100000"/>
              </a:lnSpc>
              <a:buNone/>
            </a:pP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   Всё, что между символами начала и конца.</a:t>
            </a:r>
          </a:p>
          <a:p>
            <a:pPr>
              <a:lnSpc>
                <a:spcPct val="100000"/>
              </a:lnSpc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Не вкладываются друг в друга. */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B1B0294-0BF8-4389-9400-1326B97E00F7}"/>
              </a:ext>
            </a:extLst>
          </p:cNvPr>
          <p:cNvSpPr txBox="1">
            <a:spLocks/>
          </p:cNvSpPr>
          <p:nvPr/>
        </p:nvSpPr>
        <p:spPr>
          <a:xfrm>
            <a:off x="924561" y="1825625"/>
            <a:ext cx="10911840" cy="806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Комментарии можно писать в любом месте файла. Они не влияют на результат работы программы.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36427D-F99D-4FC0-9A97-A5FD8ED2D1C2}"/>
              </a:ext>
            </a:extLst>
          </p:cNvPr>
          <p:cNvSpPr txBox="1">
            <a:spLocks/>
          </p:cNvSpPr>
          <p:nvPr/>
        </p:nvSpPr>
        <p:spPr>
          <a:xfrm>
            <a:off x="924561" y="5818505"/>
            <a:ext cx="10911840" cy="806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Применяются для документирования кода или чтобы временно отключить его часть без удаления.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43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A6BF-6361-81E1-F9B6-AF494EB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2C232-EA8A-817C-BF94-258DB55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Программа просто запускается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5271F1-7349-0D62-88A8-42C8151A8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884" y="2617310"/>
            <a:ext cx="7897327" cy="3915321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130CDDA0-3C6B-B6B5-1675-696EFA8C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097" y="1825625"/>
            <a:ext cx="10732164" cy="8066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Мы не управляем процессом сборки программы и не думаем о нём. По нажатию кнопки происходит магия и программа просто запускается.</a:t>
            </a: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3D335BFA-AC53-6A15-3145-5B4934BCCFEC}"/>
              </a:ext>
            </a:extLst>
          </p:cNvPr>
          <p:cNvCxnSpPr>
            <a:cxnSpLocks/>
          </p:cNvCxnSpPr>
          <p:nvPr/>
        </p:nvCxnSpPr>
        <p:spPr>
          <a:xfrm>
            <a:off x="7096539" y="4929809"/>
            <a:ext cx="467139" cy="9442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48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A48-766C-1499-485E-2A094789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C262F-F221-D086-77A7-13D6AC5A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 ручного управления памятью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10A5CB4-5C65-B249-9E32-55B627E1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825625"/>
            <a:ext cx="10388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00000"/>
              </a:lnSpc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Не используем механизмы языка для ручного выделения и освобождения памяти.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Всё, что мы будем создавать, будет удаляться автоматически.</a:t>
            </a:r>
            <a:endParaRPr lang="en-US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17787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F85A-53AC-3A16-9741-066377F8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74576-352D-C4A4-3E0E-B1BAD790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Структура кода в </a:t>
            </a:r>
            <a:r>
              <a:rPr lang="en-US" sz="4000" dirty="0">
                <a:solidFill>
                  <a:srgbClr val="333333"/>
                </a:solidFill>
              </a:rPr>
              <a:t>main</a:t>
            </a:r>
            <a:endParaRPr lang="ru-RU" sz="4000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0951343-1365-9466-629A-4BDD50EE0EE1}"/>
              </a:ext>
            </a:extLst>
          </p:cNvPr>
          <p:cNvGrpSpPr/>
          <p:nvPr/>
        </p:nvGrpSpPr>
        <p:grpSpPr>
          <a:xfrm>
            <a:off x="4949682" y="2242981"/>
            <a:ext cx="2166733" cy="3722015"/>
            <a:chOff x="4581936" y="2103833"/>
            <a:chExt cx="2166733" cy="3722015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777EE8BB-EE9A-8958-EC8E-4F5977F8206B}"/>
                </a:ext>
              </a:extLst>
            </p:cNvPr>
            <p:cNvGrpSpPr/>
            <p:nvPr/>
          </p:nvGrpSpPr>
          <p:grpSpPr>
            <a:xfrm>
              <a:off x="4830414" y="2103833"/>
              <a:ext cx="1918255" cy="3722015"/>
              <a:chOff x="4830414" y="2103833"/>
              <a:chExt cx="1918255" cy="3722015"/>
            </a:xfrm>
          </p:grpSpPr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27BF6A01-4D3F-395A-E550-142B5638DA4A}"/>
                  </a:ext>
                </a:extLst>
              </p:cNvPr>
              <p:cNvSpPr/>
              <p:nvPr/>
            </p:nvSpPr>
            <p:spPr>
              <a:xfrm>
                <a:off x="4830415" y="3651740"/>
                <a:ext cx="1918254" cy="165891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B2F0653D-9CD8-993A-F9BB-3A17FB35227B}"/>
                  </a:ext>
                </a:extLst>
              </p:cNvPr>
              <p:cNvSpPr/>
              <p:nvPr/>
            </p:nvSpPr>
            <p:spPr>
              <a:xfrm>
                <a:off x="4830414" y="2103833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55F7AE07-A926-0002-59EF-29D06260F9F7}"/>
                  </a:ext>
                </a:extLst>
              </p:cNvPr>
              <p:cNvSpPr/>
              <p:nvPr/>
            </p:nvSpPr>
            <p:spPr>
              <a:xfrm>
                <a:off x="4830415" y="2619022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BBCD421B-E26D-110B-CB37-B9019EA816E2}"/>
                  </a:ext>
                </a:extLst>
              </p:cNvPr>
              <p:cNvSpPr/>
              <p:nvPr/>
            </p:nvSpPr>
            <p:spPr>
              <a:xfrm>
                <a:off x="4830415" y="3135381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D4C5523C-BED9-8673-CEEC-41C68D5019E9}"/>
                  </a:ext>
                </a:extLst>
              </p:cNvPr>
              <p:cNvSpPr/>
              <p:nvPr/>
            </p:nvSpPr>
            <p:spPr>
              <a:xfrm>
                <a:off x="5421794" y="3727390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F3F28FFE-3F7B-BEFB-F656-33206E276AA3}"/>
                  </a:ext>
                </a:extLst>
              </p:cNvPr>
              <p:cNvSpPr/>
              <p:nvPr/>
            </p:nvSpPr>
            <p:spPr>
              <a:xfrm>
                <a:off x="5421794" y="4243749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A597A9A8-7759-D035-AD8E-AA8FA1DBAB6B}"/>
                  </a:ext>
                </a:extLst>
              </p:cNvPr>
              <p:cNvSpPr/>
              <p:nvPr/>
            </p:nvSpPr>
            <p:spPr>
              <a:xfrm>
                <a:off x="5421794" y="4760108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269D0808-FA47-E64D-F3A0-CF62E86C5306}"/>
                  </a:ext>
                </a:extLst>
              </p:cNvPr>
              <p:cNvSpPr/>
              <p:nvPr/>
            </p:nvSpPr>
            <p:spPr>
              <a:xfrm>
                <a:off x="4830414" y="5386309"/>
                <a:ext cx="1182760" cy="439539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ru-RU" sz="1400" dirty="0"/>
                  <a:t>Стейтмент</a:t>
                </a:r>
              </a:p>
            </p:txBody>
          </p:sp>
        </p:grp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E2E201C1-B1CD-27EA-9EE4-1A6CDF699F5E}"/>
                </a:ext>
              </a:extLst>
            </p:cNvPr>
            <p:cNvCxnSpPr>
              <a:cxnSpLocks/>
            </p:cNvCxnSpPr>
            <p:nvPr/>
          </p:nvCxnSpPr>
          <p:spPr>
            <a:xfrm>
              <a:off x="4581936" y="2103833"/>
              <a:ext cx="0" cy="3722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33122C-85EE-6261-694A-C14C28D78AE2}"/>
              </a:ext>
            </a:extLst>
          </p:cNvPr>
          <p:cNvSpPr txBox="1"/>
          <p:nvPr/>
        </p:nvSpPr>
        <p:spPr>
          <a:xfrm>
            <a:off x="3416574" y="1796829"/>
            <a:ext cx="1781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6A6CD3-E0C1-E15D-423E-E85C66221521}"/>
              </a:ext>
            </a:extLst>
          </p:cNvPr>
          <p:cNvSpPr txBox="1"/>
          <p:nvPr/>
        </p:nvSpPr>
        <p:spPr>
          <a:xfrm>
            <a:off x="4688782" y="6040646"/>
            <a:ext cx="1182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02510-E753-BB72-8FB3-BD38B3E7E8D1}"/>
              </a:ext>
            </a:extLst>
          </p:cNvPr>
          <p:cNvSpPr txBox="1"/>
          <p:nvPr/>
        </p:nvSpPr>
        <p:spPr>
          <a:xfrm>
            <a:off x="7653132" y="2397270"/>
            <a:ext cx="3451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Базовая единица выполнения программы.</a:t>
            </a:r>
          </a:p>
          <a:p>
            <a:r>
              <a:rPr lang="ru-RU" sz="1400" dirty="0"/>
              <a:t>Исполняется и НЕ возвращает значение.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259A437-07EA-1ADD-90B4-5C12A0A4532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05160" y="2484784"/>
            <a:ext cx="1147972" cy="17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1AAEB7-ADD5-44EB-B7D1-670577288906}"/>
              </a:ext>
            </a:extLst>
          </p:cNvPr>
          <p:cNvSpPr txBox="1"/>
          <p:nvPr/>
        </p:nvSpPr>
        <p:spPr>
          <a:xfrm>
            <a:off x="2946951" y="3529278"/>
            <a:ext cx="1858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Линейная последовательность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6364A-2F5A-4051-A3B3-1277BCE117AE}"/>
              </a:ext>
            </a:extLst>
          </p:cNvPr>
          <p:cNvSpPr txBox="1"/>
          <p:nvPr/>
        </p:nvSpPr>
        <p:spPr>
          <a:xfrm>
            <a:off x="988565" y="5648226"/>
            <a:ext cx="34517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b="0" i="0" dirty="0">
                <a:solidFill>
                  <a:srgbClr val="333333"/>
                </a:solidFill>
                <a:effectLst/>
                <a:latin typeface="YS Text"/>
              </a:rPr>
              <a:t>⚠ </a:t>
            </a:r>
            <a:r>
              <a:rPr lang="ru-RU" sz="1400" dirty="0"/>
              <a:t>Кроме </a:t>
            </a:r>
            <a:r>
              <a:rPr lang="ru-RU" sz="1400" dirty="0" err="1"/>
              <a:t>стейтментов</a:t>
            </a:r>
            <a:r>
              <a:rPr lang="ru-RU" sz="1400" dirty="0"/>
              <a:t> ещё могут быть </a:t>
            </a:r>
            <a:r>
              <a:rPr lang="ru-RU" sz="1400" dirty="0" err="1"/>
              <a:t>деклараторы</a:t>
            </a:r>
            <a:r>
              <a:rPr lang="ru-RU" sz="1400" dirty="0"/>
              <a:t> (объявления). На текущий момент мы о них тоже говорить не будем.</a:t>
            </a:r>
          </a:p>
        </p:txBody>
      </p:sp>
    </p:spTree>
    <p:extLst>
      <p:ext uri="{BB962C8B-B14F-4D97-AF65-F5344CB8AC3E}">
        <p14:creationId xmlns:p14="http://schemas.microsoft.com/office/powerpoint/2010/main" val="25312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F85A-53AC-3A16-9741-066377F8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74576-352D-C4A4-3E0E-B1BAD790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err="1">
                <a:solidFill>
                  <a:srgbClr val="333333"/>
                </a:solidFill>
              </a:rPr>
              <a:t>Стейтмент</a:t>
            </a:r>
            <a:r>
              <a:rPr lang="ru-RU" sz="4000" dirty="0">
                <a:solidFill>
                  <a:srgbClr val="333333"/>
                </a:solidFill>
              </a:rPr>
              <a:t> (</a:t>
            </a:r>
            <a:r>
              <a:rPr lang="en-US" sz="4000" dirty="0">
                <a:solidFill>
                  <a:srgbClr val="333333"/>
                </a:solidFill>
              </a:rPr>
              <a:t>statement</a:t>
            </a:r>
            <a:r>
              <a:rPr lang="ru-RU" sz="4000" dirty="0">
                <a:solidFill>
                  <a:srgbClr val="333333"/>
                </a:solidFill>
              </a:rPr>
              <a:t>)</a:t>
            </a:r>
            <a:endParaRPr lang="ru-RU" sz="4000" dirty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B6CAE41F-10F2-4DAD-8CE7-F7DC2F3BBD50}"/>
              </a:ext>
            </a:extLst>
          </p:cNvPr>
          <p:cNvSpPr txBox="1">
            <a:spLocks/>
          </p:cNvSpPr>
          <p:nvPr/>
        </p:nvSpPr>
        <p:spPr>
          <a:xfrm>
            <a:off x="883921" y="1878644"/>
            <a:ext cx="6949439" cy="3853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В русскоязычной литературе можно встретить такие переводы как: оператор, команда, инструкция, и т.д., что не является верным.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Аналогично, как если бы слова «верблюд» не существовало в русском языке, и авторы переводили бы его как «жираф» или «корова», вместо того, чтобы ввести в русский язык слово «верблюд» как есть.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Однако, вышеуказанные переводы настолько «прижились», что встречаются повсеместно в книгах и статьях и все понимают о чём на самом деле идёт речь, так что вполне можно их использовать.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AFAF86-949F-4A41-AAC6-757D3E167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878644"/>
            <a:ext cx="3835400" cy="3835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86036E-BEA7-4D10-B5CB-864C8634EFA5}"/>
              </a:ext>
            </a:extLst>
          </p:cNvPr>
          <p:cNvSpPr txBox="1"/>
          <p:nvPr/>
        </p:nvSpPr>
        <p:spPr>
          <a:xfrm>
            <a:off x="9062720" y="5732459"/>
            <a:ext cx="2029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Типичный </a:t>
            </a:r>
            <a:r>
              <a:rPr lang="ru-RU" dirty="0" err="1"/>
              <a:t>корован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0856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F85A-53AC-3A16-9741-066377F8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74576-352D-C4A4-3E0E-B1BAD790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err="1">
                <a:solidFill>
                  <a:srgbClr val="333333"/>
                </a:solidFill>
              </a:rPr>
              <a:t>Стейтмент</a:t>
            </a:r>
            <a:r>
              <a:rPr lang="ru-RU" sz="4000" dirty="0">
                <a:solidFill>
                  <a:srgbClr val="333333"/>
                </a:solidFill>
              </a:rPr>
              <a:t> (</a:t>
            </a:r>
            <a:r>
              <a:rPr lang="en-US" sz="4000" dirty="0">
                <a:solidFill>
                  <a:srgbClr val="333333"/>
                </a:solidFill>
              </a:rPr>
              <a:t>statement</a:t>
            </a:r>
            <a:r>
              <a:rPr lang="ru-RU" sz="4000" dirty="0">
                <a:solidFill>
                  <a:srgbClr val="333333"/>
                </a:solidFill>
              </a:rPr>
              <a:t>)</a:t>
            </a:r>
            <a:endParaRPr lang="ru-RU" sz="4000" dirty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B6CAE41F-10F2-4DAD-8CE7-F7DC2F3BBD50}"/>
              </a:ext>
            </a:extLst>
          </p:cNvPr>
          <p:cNvSpPr txBox="1">
            <a:spLocks/>
          </p:cNvSpPr>
          <p:nvPr/>
        </p:nvSpPr>
        <p:spPr>
          <a:xfrm>
            <a:off x="883920" y="1878644"/>
            <a:ext cx="10637519" cy="3853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solidFill>
                  <a:srgbClr val="000000"/>
                </a:solidFill>
              </a:rPr>
              <a:t>Стейтмент</a:t>
            </a:r>
            <a:r>
              <a:rPr lang="ru-RU" sz="2000" dirty="0">
                <a:solidFill>
                  <a:srgbClr val="000000"/>
                </a:solidFill>
              </a:rPr>
              <a:t> в C++ – это базовая единица </a:t>
            </a:r>
            <a:r>
              <a:rPr lang="ru-RU" sz="2000" b="1" dirty="0">
                <a:solidFill>
                  <a:srgbClr val="000000"/>
                </a:solidFill>
              </a:rPr>
              <a:t>выполнения</a:t>
            </a:r>
            <a:r>
              <a:rPr lang="ru-RU" sz="2000" dirty="0">
                <a:solidFill>
                  <a:srgbClr val="000000"/>
                </a:solidFill>
              </a:rPr>
              <a:t> программы. Программа на C++ состоит из последовательности </a:t>
            </a:r>
            <a:r>
              <a:rPr lang="ru-RU" sz="2000" dirty="0" err="1">
                <a:solidFill>
                  <a:srgbClr val="000000"/>
                </a:solidFill>
              </a:rPr>
              <a:t>стейтментов</a:t>
            </a:r>
            <a:r>
              <a:rPr lang="ru-RU" sz="2000" dirty="0">
                <a:solidFill>
                  <a:srgbClr val="000000"/>
                </a:solidFill>
              </a:rPr>
              <a:t>, которые выполняются по порядку.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</a:rPr>
              <a:t>Для </a:t>
            </a:r>
            <a:r>
              <a:rPr lang="ru-RU" sz="2000" dirty="0" err="1">
                <a:solidFill>
                  <a:srgbClr val="000000"/>
                </a:solidFill>
              </a:rPr>
              <a:t>стейтментов</a:t>
            </a:r>
            <a:r>
              <a:rPr lang="ru-RU" sz="2000" dirty="0">
                <a:solidFill>
                  <a:srgbClr val="000000"/>
                </a:solidFill>
              </a:rPr>
              <a:t> существует ряд гарантий со стороны языка. Они будут рассмотрены по мере изучения. Например: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1616075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print_and_return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+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print_and_return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1616075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1616075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print_and_return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1616075">
              <a:buNone/>
            </a:pP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print_and_return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68823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CDCF-932F-EDAC-C9C1-A32C5D3F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48-F456-D5FB-EAF1-DDC414BCE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Виды стейтментов</a:t>
            </a:r>
          </a:p>
        </p:txBody>
      </p:sp>
    </p:spTree>
    <p:extLst>
      <p:ext uri="{BB962C8B-B14F-4D97-AF65-F5344CB8AC3E}">
        <p14:creationId xmlns:p14="http://schemas.microsoft.com/office/powerpoint/2010/main" val="4071931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9421B-7E74-8F71-7356-B684C292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25F498-ACE6-192F-56DE-EF79D72F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стейтментов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B66E52D4-805D-1050-EAF9-A048D5203C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432582"/>
              </p:ext>
            </p:extLst>
          </p:nvPr>
        </p:nvGraphicFramePr>
        <p:xfrm>
          <a:off x="2454965" y="1560443"/>
          <a:ext cx="7563678" cy="4932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015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C9946-49CF-8715-B2A2-174270C2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7BEDB-08C2-F0F2-830E-8CF552A1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0000"/>
                </a:solidFill>
              </a:rPr>
              <a:t>Expression Statement (</a:t>
            </a:r>
            <a:r>
              <a:rPr lang="ru-RU" sz="4000" dirty="0">
                <a:solidFill>
                  <a:srgbClr val="000000"/>
                </a:solidFill>
              </a:rPr>
              <a:t>Стейтмент-выражение)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181B75-BBF5-611B-81D8-913566FBF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Любое </a:t>
            </a:r>
            <a:r>
              <a:rPr lang="ru-RU" sz="2000" b="1" dirty="0"/>
              <a:t>выражение</a:t>
            </a:r>
            <a:r>
              <a:rPr lang="ru-RU" sz="2000" dirty="0"/>
              <a:t>, завершающееся точкой с запятой, становится стейтментом.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выражение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;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44C7482-175C-4A97-C788-9277F31B100E}"/>
              </a:ext>
            </a:extLst>
          </p:cNvPr>
          <p:cNvGrpSpPr/>
          <p:nvPr/>
        </p:nvGrpSpPr>
        <p:grpSpPr>
          <a:xfrm>
            <a:off x="5401303" y="4234069"/>
            <a:ext cx="1530627" cy="68581"/>
            <a:chOff x="1351725" y="4214191"/>
            <a:chExt cx="1530627" cy="68581"/>
          </a:xfrm>
        </p:grpSpPr>
        <p:sp>
          <p:nvSpPr>
            <p:cNvPr id="4" name="Левая круглая скобка 3">
              <a:extLst>
                <a:ext uri="{FF2B5EF4-FFF2-40B4-BE49-F238E27FC236}">
                  <a16:creationId xmlns:a16="http://schemas.microsoft.com/office/drawing/2014/main" id="{B1DE5F3F-0F81-AF5B-CD72-6689DC270A88}"/>
                </a:ext>
              </a:extLst>
            </p:cNvPr>
            <p:cNvSpPr/>
            <p:nvPr/>
          </p:nvSpPr>
          <p:spPr>
            <a:xfrm rot="16200000">
              <a:off x="1943599" y="3622317"/>
              <a:ext cx="68580" cy="1252328"/>
            </a:xfrm>
            <a:prstGeom prst="leftBracket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Левая круглая скобка 4">
              <a:extLst>
                <a:ext uri="{FF2B5EF4-FFF2-40B4-BE49-F238E27FC236}">
                  <a16:creationId xmlns:a16="http://schemas.microsoft.com/office/drawing/2014/main" id="{31E206C0-9034-9639-EC32-C249016ADA29}"/>
                </a:ext>
              </a:extLst>
            </p:cNvPr>
            <p:cNvSpPr/>
            <p:nvPr/>
          </p:nvSpPr>
          <p:spPr>
            <a:xfrm rot="16200000">
              <a:off x="2779623" y="4180043"/>
              <a:ext cx="68581" cy="136877"/>
            </a:xfrm>
            <a:prstGeom prst="leftBracket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30837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DE7C-BE50-A6EA-7ED1-08C1F948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3DF47-8545-3A08-DBD5-BCF43FA4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Statement (</a:t>
            </a:r>
            <a:r>
              <a:rPr lang="ru-RU" dirty="0"/>
              <a:t>Пустой стейтмент)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B4D09B-7854-45A3-36DC-748D515E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Если выражение отсутствует, то получается пустой стейтмент, который не делает ничего. Это не отдельный вид, а частный случай </a:t>
            </a:r>
            <a:r>
              <a:rPr lang="en-US" sz="2000" b="1" dirty="0">
                <a:solidFill>
                  <a:srgbClr val="000000"/>
                </a:solidFill>
              </a:rPr>
              <a:t>Expression Statement</a:t>
            </a:r>
            <a:r>
              <a:rPr lang="ru-RU" sz="2000" b="1" dirty="0">
                <a:solidFill>
                  <a:srgbClr val="000000"/>
                </a:solidFill>
              </a:rPr>
              <a:t>.</a:t>
            </a: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Левая круглая скобка 3">
            <a:extLst>
              <a:ext uri="{FF2B5EF4-FFF2-40B4-BE49-F238E27FC236}">
                <a16:creationId xmlns:a16="http://schemas.microsoft.com/office/drawing/2014/main" id="{D88BB0BD-2E09-971D-46CF-7AFC60721D5C}"/>
              </a:ext>
            </a:extLst>
          </p:cNvPr>
          <p:cNvSpPr/>
          <p:nvPr/>
        </p:nvSpPr>
        <p:spPr>
          <a:xfrm rot="16200000">
            <a:off x="5848816" y="4145588"/>
            <a:ext cx="68581" cy="136877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899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6FA0-8748-6F30-9A16-20B98B6D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3981D-1192-0CA5-30D9-91A5C1E0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Statement (</a:t>
            </a:r>
            <a:r>
              <a:rPr lang="ru-RU" dirty="0"/>
              <a:t>Пустой стейтмент)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26E59-A83A-36D2-200D-B8DB5144C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;;;;      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;;   ;;  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;;          ;;     ;;   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;;        ;;;;;; ;;;;;; 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;;          ;;     ;;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;;   ;;   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;;;;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3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2214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B6FE-7D5A-5C85-F94E-E5241867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D12B7-3326-5EC1-4530-689BD985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Выражение (</a:t>
            </a:r>
            <a:r>
              <a:rPr lang="en-US" dirty="0">
                <a:solidFill>
                  <a:srgbClr val="333333"/>
                </a:solidFill>
              </a:rPr>
              <a:t>expression)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DB02E-D7C3-A951-17A5-97FB85F0B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99" y="1800000"/>
            <a:ext cx="10093801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1" dirty="0">
                <a:solidFill>
                  <a:srgbClr val="333333"/>
                </a:solidFill>
              </a:rPr>
              <a:t>Выражение</a:t>
            </a:r>
            <a:r>
              <a:rPr lang="ru-RU" sz="2000" dirty="0">
                <a:solidFill>
                  <a:srgbClr val="333333"/>
                </a:solidFill>
              </a:rPr>
              <a:t> (</a:t>
            </a:r>
            <a:r>
              <a:rPr lang="en-US" sz="2000" dirty="0">
                <a:solidFill>
                  <a:srgbClr val="333333"/>
                </a:solidFill>
              </a:rPr>
              <a:t>expression)</a:t>
            </a:r>
            <a:r>
              <a:rPr lang="ru-RU" sz="2000" dirty="0">
                <a:solidFill>
                  <a:srgbClr val="333333"/>
                </a:solidFill>
              </a:rPr>
              <a:t> - последовательность</a:t>
            </a:r>
            <a:r>
              <a:rPr lang="ru-RU" sz="2000" dirty="0"/>
              <a:t> операторов, переменных, литералов и вызовов функций, которая </a:t>
            </a:r>
            <a:r>
              <a:rPr lang="ru-RU" sz="2000" b="1" dirty="0"/>
              <a:t>вычисляется и возвращает значение</a:t>
            </a:r>
            <a:r>
              <a:rPr lang="ru-RU" sz="200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Любое из этого является выражением:</a:t>
            </a:r>
            <a:endParaRPr lang="ru-RU" sz="2000" dirty="0"/>
          </a:p>
          <a:p>
            <a:pPr lvl="1"/>
            <a:r>
              <a:rPr lang="ru-RU" sz="2000" dirty="0"/>
              <a:t>Отдельная переменная: x (возвращает своё значение)</a:t>
            </a:r>
            <a:r>
              <a:rPr lang="en-US" sz="2000" dirty="0"/>
              <a:t>;</a:t>
            </a:r>
            <a:endParaRPr lang="ru-RU" sz="2000" dirty="0"/>
          </a:p>
          <a:p>
            <a:pPr lvl="1"/>
            <a:r>
              <a:rPr lang="ru-RU" sz="2000" dirty="0"/>
              <a:t>Литерал: 42 (возвращает 42)</a:t>
            </a:r>
            <a:r>
              <a:rPr lang="en-US" sz="2000" dirty="0"/>
              <a:t>;</a:t>
            </a:r>
            <a:endParaRPr lang="ru-RU" sz="2000" dirty="0"/>
          </a:p>
          <a:p>
            <a:pPr lvl="1"/>
            <a:r>
              <a:rPr lang="ru-RU" sz="2000" dirty="0"/>
              <a:t>Вызов функции: </a:t>
            </a:r>
            <a:r>
              <a:rPr lang="ru-RU" sz="2000" dirty="0" err="1"/>
              <a:t>sqrt</a:t>
            </a:r>
            <a:r>
              <a:rPr lang="ru-RU" sz="2000" dirty="0"/>
              <a:t>(25) (возвращает 5.0)</a:t>
            </a:r>
            <a:r>
              <a:rPr lang="en-US" sz="2000" dirty="0"/>
              <a:t>;</a:t>
            </a:r>
            <a:endParaRPr lang="ru-RU" sz="2000" dirty="0"/>
          </a:p>
          <a:p>
            <a:pPr lvl="1"/>
            <a:r>
              <a:rPr lang="ru-RU" sz="2000" dirty="0"/>
              <a:t>Комбинация всего вышеперечисленного с операторами: (a + b) * 2 - </a:t>
            </a:r>
            <a:r>
              <a:rPr lang="ru-RU" sz="2000" dirty="0" err="1"/>
              <a:t>func</a:t>
            </a:r>
            <a:r>
              <a:rPr lang="ru-RU" sz="2000" dirty="0"/>
              <a:t>()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399090A-31A9-E9BB-D573-4CEDAC7D7B56}"/>
              </a:ext>
            </a:extLst>
          </p:cNvPr>
          <p:cNvSpPr/>
          <p:nvPr/>
        </p:nvSpPr>
        <p:spPr>
          <a:xfrm>
            <a:off x="1416910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555284-0C85-D130-3359-42D968E6008B}"/>
              </a:ext>
            </a:extLst>
          </p:cNvPr>
          <p:cNvSpPr/>
          <p:nvPr/>
        </p:nvSpPr>
        <p:spPr>
          <a:xfrm>
            <a:off x="2727313" y="2989943"/>
            <a:ext cx="1123090" cy="5660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оператор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F9BA4B2-8A9B-8C19-5D91-8258285B5645}"/>
              </a:ext>
            </a:extLst>
          </p:cNvPr>
          <p:cNvSpPr/>
          <p:nvPr/>
        </p:nvSpPr>
        <p:spPr>
          <a:xfrm>
            <a:off x="4037716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CF9DDDD-CA79-535F-206C-66DB6704BF6E}"/>
              </a:ext>
            </a:extLst>
          </p:cNvPr>
          <p:cNvSpPr/>
          <p:nvPr/>
        </p:nvSpPr>
        <p:spPr>
          <a:xfrm>
            <a:off x="5348119" y="2989943"/>
            <a:ext cx="1123090" cy="5660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оператор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A1B4DBB-88A5-AF26-78C4-2F0874760D3B}"/>
              </a:ext>
            </a:extLst>
          </p:cNvPr>
          <p:cNvSpPr/>
          <p:nvPr/>
        </p:nvSpPr>
        <p:spPr>
          <a:xfrm>
            <a:off x="6658522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42BDC8-23B6-BE71-C793-79B62C3BBB79}"/>
              </a:ext>
            </a:extLst>
          </p:cNvPr>
          <p:cNvSpPr/>
          <p:nvPr/>
        </p:nvSpPr>
        <p:spPr>
          <a:xfrm>
            <a:off x="7968925" y="2989943"/>
            <a:ext cx="1123090" cy="56605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07E8C5B-F589-5756-EE9C-3251E087A0FC}"/>
              </a:ext>
            </a:extLst>
          </p:cNvPr>
          <p:cNvSpPr/>
          <p:nvPr/>
        </p:nvSpPr>
        <p:spPr>
          <a:xfrm>
            <a:off x="9279328" y="2989943"/>
            <a:ext cx="1123090" cy="5660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операнд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61F6A-3A9C-64E9-46BA-564A761D7A97}"/>
              </a:ext>
            </a:extLst>
          </p:cNvPr>
          <p:cNvSpPr txBox="1"/>
          <p:nvPr/>
        </p:nvSpPr>
        <p:spPr>
          <a:xfrm>
            <a:off x="8603260" y="3918118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Литерал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757D0-DFD5-B5D5-2538-718144D37922}"/>
              </a:ext>
            </a:extLst>
          </p:cNvPr>
          <p:cNvSpPr txBox="1"/>
          <p:nvPr/>
        </p:nvSpPr>
        <p:spPr>
          <a:xfrm>
            <a:off x="10165493" y="3791003"/>
            <a:ext cx="141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Переменная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C9FE18-288C-9ADA-A40F-2D8B90C0B656}"/>
              </a:ext>
            </a:extLst>
          </p:cNvPr>
          <p:cNvSpPr txBox="1"/>
          <p:nvPr/>
        </p:nvSpPr>
        <p:spPr>
          <a:xfrm>
            <a:off x="9448177" y="4210671"/>
            <a:ext cx="169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Вызов функции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54D4CC0-1234-486F-9735-B6C97489409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9104936" y="3556001"/>
            <a:ext cx="426449" cy="362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83F46D2-E111-1C41-FFE8-C5AF04E53997}"/>
              </a:ext>
            </a:extLst>
          </p:cNvPr>
          <p:cNvCxnSpPr>
            <a:cxnSpLocks/>
          </p:cNvCxnSpPr>
          <p:nvPr/>
        </p:nvCxnSpPr>
        <p:spPr>
          <a:xfrm>
            <a:off x="9840873" y="3556001"/>
            <a:ext cx="324620" cy="60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4E0DF3-3F06-A4A0-B585-70D32095C0D5}"/>
              </a:ext>
            </a:extLst>
          </p:cNvPr>
          <p:cNvCxnSpPr>
            <a:endCxn id="17" idx="0"/>
          </p:cNvCxnSpPr>
          <p:nvPr/>
        </p:nvCxnSpPr>
        <p:spPr>
          <a:xfrm>
            <a:off x="10165493" y="3556001"/>
            <a:ext cx="708816" cy="235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0098BB8-0461-4DFD-A049-4E36E647CEEB}"/>
              </a:ext>
            </a:extLst>
          </p:cNvPr>
          <p:cNvSpPr txBox="1"/>
          <p:nvPr/>
        </p:nvSpPr>
        <p:spPr>
          <a:xfrm>
            <a:off x="7017704" y="4160335"/>
            <a:ext cx="184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</a:t>
            </a:r>
            <a:r>
              <a:rPr lang="ru-RU" dirty="0"/>
              <a:t>(</a:t>
            </a:r>
            <a:r>
              <a:rPr lang="en-US" dirty="0"/>
              <a:t>"</a:t>
            </a:r>
            <a:r>
              <a:rPr lang="ru-RU" dirty="0"/>
              <a:t>Выражение</a:t>
            </a:r>
            <a:r>
              <a:rPr lang="en-US" dirty="0"/>
              <a:t>"</a:t>
            </a:r>
            <a:r>
              <a:rPr lang="ru-RU" dirty="0"/>
              <a:t>)</a:t>
            </a:r>
            <a:r>
              <a:rPr lang="en-US" dirty="0"/>
              <a:t>"</a:t>
            </a:r>
            <a:endParaRPr lang="ru-RU" dirty="0"/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66F9261E-B638-400D-BCFA-9C0D74EE186D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7939495" y="3499358"/>
            <a:ext cx="1339833" cy="660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631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8CDC-315B-D336-331C-2A959065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E8588B-6500-7E27-8E0A-969F7E3C9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Литерал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39159-611E-85F2-5ADF-75A7F11F2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ru-RU" sz="2000" b="1" dirty="0"/>
              <a:t>Литерал</a:t>
            </a:r>
            <a:r>
              <a:rPr lang="ru-RU" sz="2000" dirty="0"/>
              <a:t> в C++ — это явное представление в исходном коде </a:t>
            </a:r>
            <a:r>
              <a:rPr lang="ru-RU" sz="2000" b="1" dirty="0"/>
              <a:t>конкретного значения</a:t>
            </a:r>
            <a:r>
              <a:rPr lang="ru-RU" sz="2000" dirty="0"/>
              <a:t> любого типа данных. 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2000" dirty="0"/>
              <a:t>Это константы, которые непосредственно записываются в программе и не могут быть изменены во время выполнения.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   // целочисленный литерал (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integer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литерал с плавающей точкой (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floating-point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символьный литерал (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character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строковый литерал (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булев литерал (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литерал (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pointer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1.2_w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Пользовательский литерал (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user-defined literal)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4686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6D9F-7CF5-A859-E4D1-528F849C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1A772-4CC0-BB44-88DF-E579E26B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Операторы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12078F-59F0-3A3C-40D4-8B84D1824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100938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Оператор</a:t>
            </a:r>
            <a:r>
              <a:rPr lang="ru-RU" sz="2000" dirty="0"/>
              <a:t> — это заранее определённый символ или ключевое слово в языке, которое выполняет </a:t>
            </a:r>
            <a:r>
              <a:rPr lang="ru-RU" sz="2000" b="1" dirty="0"/>
              <a:t>конкретную операцию</a:t>
            </a:r>
            <a:r>
              <a:rPr lang="ru-RU" sz="2000" dirty="0"/>
              <a:t> над одним или несколькими операндами и возвращает значение. Порядок выполнения операторов определяется приоритетом и ассоциативностью.</a:t>
            </a:r>
            <a:endParaRPr lang="ru-RU" sz="2000" b="1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1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Операторы бывают:</a:t>
            </a:r>
            <a:endParaRPr lang="ru-RU" sz="2000" b="1" dirty="0">
              <a:solidFill>
                <a:srgbClr val="000000"/>
              </a:solidFill>
            </a:endParaRPr>
          </a:p>
          <a:p>
            <a:r>
              <a:rPr lang="ru-RU" sz="2000" b="1" dirty="0"/>
              <a:t>Унарные</a:t>
            </a:r>
            <a:r>
              <a:rPr lang="ru-RU" sz="2000" dirty="0"/>
              <a:t> (работают с одним операндом): -x, ++i, !</a:t>
            </a:r>
            <a:r>
              <a:rPr lang="ru-RU" sz="2000" dirty="0" err="1"/>
              <a:t>flag</a:t>
            </a:r>
            <a:r>
              <a:rPr lang="ru-RU" sz="2000" dirty="0"/>
              <a:t>, *</a:t>
            </a:r>
            <a:r>
              <a:rPr lang="ru-RU" sz="2000" dirty="0" err="1"/>
              <a:t>ptr</a:t>
            </a:r>
            <a:r>
              <a:rPr lang="ru-RU" sz="2000" dirty="0"/>
              <a:t> (разыменование).</a:t>
            </a:r>
          </a:p>
          <a:p>
            <a:r>
              <a:rPr lang="ru-RU" sz="2000" b="1" dirty="0"/>
              <a:t>Бинарные</a:t>
            </a:r>
            <a:r>
              <a:rPr lang="ru-RU" sz="2000" dirty="0"/>
              <a:t> (работают с двумя операндами): a + b, c = 10, x &gt; y, n % 2.</a:t>
            </a:r>
          </a:p>
          <a:p>
            <a:r>
              <a:rPr lang="ru-RU" sz="2000" b="1" dirty="0"/>
              <a:t>Тернарный</a:t>
            </a:r>
            <a:r>
              <a:rPr lang="ru-RU" sz="2000" dirty="0"/>
              <a:t> (работает с тремя операндами): единственный такой оператор — условный a ? b : c.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1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Примеры операторов:</a:t>
            </a:r>
            <a:br>
              <a:rPr lang="ru-RU" sz="2000" dirty="0"/>
            </a:br>
            <a:r>
              <a:rPr lang="ru-RU" sz="2000" dirty="0"/>
              <a:t>=, +, -, *, /, %, ==, !=, &lt;, &gt;, &lt;=, &gt;=, &amp;&amp;, ||, !, ++, --, &amp; (адрес или побитовое И), -&gt; и т.д.</a:t>
            </a:r>
            <a:endParaRPr lang="ru-RU" sz="2000" b="1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1876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124B-0019-C41B-FE56-24179450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4D8F7-5591-9DAF-D789-95F1890F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333333"/>
                </a:solidFill>
              </a:rPr>
              <a:t>Приоритет операторов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43E50B-F801-E1D1-91BF-A18638B56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78"/>
          <a:stretch>
            <a:fillRect/>
          </a:stretch>
        </p:blipFill>
        <p:spPr>
          <a:xfrm>
            <a:off x="1388773" y="2734888"/>
            <a:ext cx="9491729" cy="3149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E282A1-43CE-9C1C-9676-38A4524D0692}"/>
              </a:ext>
            </a:extLst>
          </p:cNvPr>
          <p:cNvSpPr txBox="1"/>
          <p:nvPr/>
        </p:nvSpPr>
        <p:spPr>
          <a:xfrm>
            <a:off x="1259999" y="1692000"/>
            <a:ext cx="97771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0000"/>
                </a:solidFill>
                <a:latin typeface="Yandex Sans Text"/>
              </a:rPr>
              <a:t>П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Yandex Sans Text"/>
              </a:rPr>
              <a:t>риоритет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Yandex Sans Text"/>
              </a:rPr>
              <a:t> определяет порядок выполнения операторов в выражении. Если выражение содержит несколько операторов, то операторы с более высоким приоритетом выполняются раньше, чем операторы с более низким приоритетом.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0183A-2AE3-C9BD-C341-C788E2013234}"/>
              </a:ext>
            </a:extLst>
          </p:cNvPr>
          <p:cNvSpPr txBox="1"/>
          <p:nvPr/>
        </p:nvSpPr>
        <p:spPr>
          <a:xfrm>
            <a:off x="1461053" y="3332371"/>
            <a:ext cx="918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endParaRPr lang="ru-RU" sz="4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1D657-26B4-02F5-F671-676FDF42B404}"/>
              </a:ext>
            </a:extLst>
          </p:cNvPr>
          <p:cNvSpPr txBox="1"/>
          <p:nvPr/>
        </p:nvSpPr>
        <p:spPr>
          <a:xfrm>
            <a:off x="1838740" y="4287081"/>
            <a:ext cx="918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endParaRPr lang="ru-RU" sz="4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12F71-1B25-AC36-9307-A8496DCB8A56}"/>
              </a:ext>
            </a:extLst>
          </p:cNvPr>
          <p:cNvSpPr txBox="1"/>
          <p:nvPr/>
        </p:nvSpPr>
        <p:spPr>
          <a:xfrm>
            <a:off x="2379894" y="5203304"/>
            <a:ext cx="918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chemeClr val="accent5"/>
                </a:solidFill>
                <a:latin typeface="Consolas" panose="020B0609020204030204" pitchFamily="49" charset="0"/>
              </a:rPr>
              <a:t>=</a:t>
            </a:r>
            <a:endParaRPr lang="ru-RU" sz="4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AB60D-3A65-06B7-21D3-A14192E88D8F}"/>
              </a:ext>
            </a:extLst>
          </p:cNvPr>
          <p:cNvSpPr txBox="1"/>
          <p:nvPr/>
        </p:nvSpPr>
        <p:spPr>
          <a:xfrm>
            <a:off x="2711381" y="6092302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  <a:latin typeface="Consolas" panose="020B0609020204030204" pitchFamily="49" charset="0"/>
              </a:rPr>
              <a:t>610</a:t>
            </a:r>
            <a:endParaRPr lang="ru-RU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Левая круглая скобка 8">
            <a:extLst>
              <a:ext uri="{FF2B5EF4-FFF2-40B4-BE49-F238E27FC236}">
                <a16:creationId xmlns:a16="http://schemas.microsoft.com/office/drawing/2014/main" id="{25A98398-D6D0-B725-338F-14E917DAD99C}"/>
              </a:ext>
            </a:extLst>
          </p:cNvPr>
          <p:cNvSpPr/>
          <p:nvPr/>
        </p:nvSpPr>
        <p:spPr>
          <a:xfrm rot="16200000">
            <a:off x="3106750" y="5353190"/>
            <a:ext cx="72000" cy="1044000"/>
          </a:xfrm>
          <a:prstGeom prst="leftBracket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84EE694-AA80-E6DC-ED40-63F1C9CAFCAC}"/>
              </a:ext>
            </a:extLst>
          </p:cNvPr>
          <p:cNvCxnSpPr>
            <a:cxnSpLocks/>
            <a:stCxn id="9" idx="1"/>
            <a:endCxn id="8" idx="0"/>
          </p:cNvCxnSpPr>
          <p:nvPr/>
        </p:nvCxnSpPr>
        <p:spPr>
          <a:xfrm>
            <a:off x="3142750" y="5911190"/>
            <a:ext cx="0" cy="1811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29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19FD-CC5B-5AD6-1A16-9512FA26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28610-5522-79BB-4CDD-C51B7EC7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Ассоциативность операторов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0483C-ADBB-63F8-A3A1-B70DB774DC40}"/>
              </a:ext>
            </a:extLst>
          </p:cNvPr>
          <p:cNvSpPr txBox="1"/>
          <p:nvPr/>
        </p:nvSpPr>
        <p:spPr>
          <a:xfrm>
            <a:off x="1260000" y="1800000"/>
            <a:ext cx="10266592" cy="447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b="1" dirty="0">
                <a:solidFill>
                  <a:srgbClr val="000000"/>
                </a:solidFill>
              </a:rPr>
              <a:t>Ассоциативность</a:t>
            </a:r>
            <a:r>
              <a:rPr lang="ru-RU" sz="2000" dirty="0">
                <a:solidFill>
                  <a:srgbClr val="000000"/>
                </a:solidFill>
              </a:rPr>
              <a:t> операторов определяет порядок, в котором операнды группируются, когда несколько операторов имеют одинаковый приоритет. Существует два типа ассоциативности: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endParaRPr lang="ru-RU" sz="20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Ассоциативность </a:t>
            </a:r>
            <a:r>
              <a:rPr lang="ru-RU" sz="2000" b="1" dirty="0"/>
              <a:t>слева направо </a:t>
            </a:r>
            <a:r>
              <a:rPr lang="ru-RU" sz="2000" dirty="0"/>
              <a:t>означает, что при наличии в выражении нескольких операторов с одинаковым приоритетом они вычисляются слева направо. Например, в выражении </a:t>
            </a:r>
            <a:r>
              <a:rPr lang="ru-RU" sz="2000" b="1" dirty="0"/>
              <a:t>a + b - c</a:t>
            </a:r>
            <a:r>
              <a:rPr lang="ru-RU" sz="2000" dirty="0"/>
              <a:t> сложение и вычитание имеют одинаковый приоритет и являются </a:t>
            </a:r>
            <a:r>
              <a:rPr lang="ru-RU" sz="2000" dirty="0" err="1"/>
              <a:t>левоассоциативными</a:t>
            </a:r>
            <a:r>
              <a:rPr lang="ru-RU" sz="2000" dirty="0"/>
              <a:t>, поэтому выражение вычисляется как </a:t>
            </a:r>
            <a:r>
              <a:rPr lang="ru-RU" sz="2000" b="1" dirty="0"/>
              <a:t>(a + b) - c</a:t>
            </a:r>
            <a:r>
              <a:rPr lang="ru-RU" sz="20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Ассоциативность </a:t>
            </a:r>
            <a:r>
              <a:rPr lang="ru-RU" sz="2000" b="1" dirty="0"/>
              <a:t>справа налево </a:t>
            </a:r>
            <a:r>
              <a:rPr lang="ru-RU" sz="2000" dirty="0"/>
              <a:t>означает, что операторы вычисляются справа налево. Например, оператор присваивания = является </a:t>
            </a:r>
            <a:r>
              <a:rPr lang="ru-RU" sz="2000" dirty="0" err="1"/>
              <a:t>правоассоциативным</a:t>
            </a:r>
            <a:r>
              <a:rPr lang="ru-RU" sz="2000" dirty="0"/>
              <a:t>. Таким образом, выражение </a:t>
            </a:r>
            <a:r>
              <a:rPr lang="ru-RU" sz="2000" b="1" dirty="0"/>
              <a:t>a = b = 4</a:t>
            </a:r>
            <a:r>
              <a:rPr lang="ru-RU" sz="2000" dirty="0"/>
              <a:t> вычисляется как </a:t>
            </a:r>
            <a:r>
              <a:rPr lang="ru-RU" sz="2000" b="1" dirty="0"/>
              <a:t>a = (b = 4)</a:t>
            </a:r>
            <a:r>
              <a:rPr lang="ru-RU" sz="2000" dirty="0"/>
              <a:t>.</a:t>
            </a:r>
            <a:r>
              <a:rPr lang="ru-RU" sz="2000" b="1" dirty="0"/>
              <a:t> </a:t>
            </a:r>
            <a:r>
              <a:rPr lang="ru-RU" sz="2000" dirty="0"/>
              <a:t>Т.е. значение 4 сначала присваивается переменной b, а затем результат этого присваивания (b, которое теперь равно 4) присваивается переменной a.</a:t>
            </a:r>
          </a:p>
        </p:txBody>
      </p:sp>
    </p:spTree>
    <p:extLst>
      <p:ext uri="{BB962C8B-B14F-4D97-AF65-F5344CB8AC3E}">
        <p14:creationId xmlns:p14="http://schemas.microsoft.com/office/powerpoint/2010/main" val="1132857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BA62-7E9A-7546-F6E4-81F8B6DB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4F535-6B3D-1160-CE0D-F4A02173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Ассоциативность операторов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6DC415-FDB2-2960-E21F-E8B202417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807403"/>
            <a:ext cx="9525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17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EEF0-BDFC-B846-D5BA-95F7F7B1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FC5B9-4E86-AE18-9AE4-2708119F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Комплексный пример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9ABDD7-3B7B-D824-75B5-2F41C049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587" y="1433890"/>
            <a:ext cx="8774596" cy="521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541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A671B-BDBE-E6FC-75A4-CBD84D84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068791-772E-40D9-7853-C7289752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Таблица приоритетов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F4964-5BEA-8AE6-301E-9B77453653F2}"/>
              </a:ext>
            </a:extLst>
          </p:cNvPr>
          <p:cNvSpPr txBox="1"/>
          <p:nvPr/>
        </p:nvSpPr>
        <p:spPr>
          <a:xfrm>
            <a:off x="1260000" y="1800000"/>
            <a:ext cx="9624390" cy="109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dirty="0"/>
              <a:t>Полный список операторов, их приоритеты и ассоциативность можно найти в таблице, например: </a:t>
            </a:r>
            <a:r>
              <a:rPr lang="en-US" sz="2000" dirty="0">
                <a:hlinkClick r:id="rId2"/>
              </a:rPr>
              <a:t>https://en.cppreference.com/w/cpp/language/operator_precedence.html</a:t>
            </a:r>
            <a:endParaRPr lang="ru-RU" sz="2000" dirty="0"/>
          </a:p>
          <a:p>
            <a:pPr>
              <a:lnSpc>
                <a:spcPct val="110000"/>
              </a:lnSpc>
            </a:pPr>
            <a:r>
              <a:rPr lang="ru-RU" sz="2000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A0BB25-9D00-E55A-E307-20C5B7360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717" y="2853565"/>
            <a:ext cx="7070567" cy="3597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775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CB4F-FA15-C8FB-E36F-E6419A846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26C66-3F3C-2152-D013-343F609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Expression Statement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60E83D-5D30-4AC8-F729-757341E4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08" y="1690688"/>
            <a:ext cx="688119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C3874-3270-9A2C-1776-A914208639DA}"/>
              </a:ext>
            </a:extLst>
          </p:cNvPr>
          <p:cNvSpPr txBox="1"/>
          <p:nvPr/>
        </p:nvSpPr>
        <p:spPr>
          <a:xfrm>
            <a:off x="6808304" y="4705647"/>
            <a:ext cx="3260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Ошибка. Нет </a:t>
            </a:r>
            <a:r>
              <a:rPr lang="en-US" dirty="0">
                <a:latin typeface="Consolas" panose="020B0609020204030204" pitchFamily="49" charset="0"/>
              </a:rPr>
              <a:t>';'</a:t>
            </a:r>
          </a:p>
          <a:p>
            <a:r>
              <a:rPr lang="ru-RU" dirty="0"/>
              <a:t>Компилятор будет искать конец стейтмента и не найдёт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BC6FEB7-6835-B635-ECB8-6A3BC7CCD9C4}"/>
              </a:ext>
            </a:extLst>
          </p:cNvPr>
          <p:cNvCxnSpPr>
            <a:cxnSpLocks/>
          </p:cNvCxnSpPr>
          <p:nvPr/>
        </p:nvCxnSpPr>
        <p:spPr>
          <a:xfrm flipH="1" flipV="1">
            <a:off x="5973417" y="4601817"/>
            <a:ext cx="834886" cy="268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274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874C-F958-ACAE-55C8-20D00A96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7371C-D4FA-6E8A-D7DD-FEDC455F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Expression Statement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F3A02-74B6-9BB6-E65B-64DA10537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496" y="2539999"/>
            <a:ext cx="6881191" cy="36369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9346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5607-9306-01D9-A29F-30C16E8B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2753C-6F64-98CE-90FE-14DA2705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err="1"/>
              <a:t>Compound</a:t>
            </a:r>
            <a:r>
              <a:rPr lang="ru-RU" sz="3600" dirty="0"/>
              <a:t> </a:t>
            </a:r>
            <a:r>
              <a:rPr lang="ru-RU" sz="3600" dirty="0" err="1"/>
              <a:t>Statement</a:t>
            </a:r>
            <a:r>
              <a:rPr lang="ru-RU" sz="3600" dirty="0"/>
              <a:t> (Составной </a:t>
            </a:r>
            <a:r>
              <a:rPr lang="ru-RU" sz="3600" dirty="0" err="1"/>
              <a:t>стейтмент</a:t>
            </a:r>
            <a:r>
              <a:rPr lang="ru-RU" sz="3600" dirty="0"/>
              <a:t> / Блок)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1C912-639F-2003-AD9D-A91229410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Составной </a:t>
            </a:r>
            <a:r>
              <a:rPr lang="ru-RU" sz="2000" dirty="0" err="1">
                <a:solidFill>
                  <a:srgbClr val="000000"/>
                </a:solidFill>
              </a:rPr>
              <a:t>стейтмент</a:t>
            </a:r>
            <a:r>
              <a:rPr lang="ru-RU" sz="2000" dirty="0">
                <a:solidFill>
                  <a:srgbClr val="000000"/>
                </a:solidFill>
              </a:rPr>
              <a:t> начинается с открывающей фигурной скобки, затем указывается 0 или более стэйтментов. Составной </a:t>
            </a:r>
            <a:r>
              <a:rPr lang="ru-RU" sz="2000" dirty="0" err="1">
                <a:solidFill>
                  <a:srgbClr val="000000"/>
                </a:solidFill>
              </a:rPr>
              <a:t>стейтмент</a:t>
            </a:r>
            <a:r>
              <a:rPr lang="ru-RU" sz="2000" dirty="0">
                <a:solidFill>
                  <a:srgbClr val="000000"/>
                </a:solidFill>
              </a:rPr>
              <a:t> заканчивается закрывающей фигурной скобкой.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B361D673-CD00-4065-A8A8-5DE46419648C}"/>
              </a:ext>
            </a:extLst>
          </p:cNvPr>
          <p:cNvGrpSpPr/>
          <p:nvPr/>
        </p:nvGrpSpPr>
        <p:grpSpPr>
          <a:xfrm>
            <a:off x="4995931" y="2833149"/>
            <a:ext cx="1692139" cy="2916429"/>
            <a:chOff x="4688782" y="2995709"/>
            <a:chExt cx="1692139" cy="2916429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E8247CC-71C5-4094-B4F6-749488A3BA82}"/>
                </a:ext>
              </a:extLst>
            </p:cNvPr>
            <p:cNvSpPr/>
            <p:nvPr/>
          </p:nvSpPr>
          <p:spPr>
            <a:xfrm>
              <a:off x="5198160" y="3429000"/>
              <a:ext cx="1182760" cy="439200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Стейтмент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3352B2A-5C2F-4ECA-B66C-D59443521431}"/>
                </a:ext>
              </a:extLst>
            </p:cNvPr>
            <p:cNvSpPr/>
            <p:nvPr/>
          </p:nvSpPr>
          <p:spPr>
            <a:xfrm>
              <a:off x="5198161" y="3976348"/>
              <a:ext cx="1182760" cy="439200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Стейтмент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97E92E4-105E-4389-82A8-FC31B895F841}"/>
                </a:ext>
              </a:extLst>
            </p:cNvPr>
            <p:cNvSpPr/>
            <p:nvPr/>
          </p:nvSpPr>
          <p:spPr>
            <a:xfrm>
              <a:off x="5198161" y="4523696"/>
              <a:ext cx="1182760" cy="439200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…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CAC4A9BD-C46F-4A2E-880A-D1C96048FBA4}"/>
                </a:ext>
              </a:extLst>
            </p:cNvPr>
            <p:cNvSpPr/>
            <p:nvPr/>
          </p:nvSpPr>
          <p:spPr>
            <a:xfrm>
              <a:off x="5198160" y="5071043"/>
              <a:ext cx="1182760" cy="43920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Стейтмент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5FF81C-4669-426A-9C9F-8921D61D2D3C}"/>
                </a:ext>
              </a:extLst>
            </p:cNvPr>
            <p:cNvSpPr txBox="1"/>
            <p:nvPr/>
          </p:nvSpPr>
          <p:spPr>
            <a:xfrm>
              <a:off x="4688782" y="2995709"/>
              <a:ext cx="509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{</a:t>
              </a:r>
              <a:endPara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6AF461-166D-4306-9E39-9411A0C424EE}"/>
                </a:ext>
              </a:extLst>
            </p:cNvPr>
            <p:cNvSpPr txBox="1"/>
            <p:nvPr/>
          </p:nvSpPr>
          <p:spPr>
            <a:xfrm>
              <a:off x="4688782" y="5542806"/>
              <a:ext cx="11827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157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5607-9306-01D9-A29F-30C16E8B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2753C-6F64-98CE-90FE-14DA2705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err="1"/>
              <a:t>Compound</a:t>
            </a:r>
            <a:r>
              <a:rPr lang="ru-RU" sz="3600" dirty="0"/>
              <a:t> </a:t>
            </a:r>
            <a:r>
              <a:rPr lang="ru-RU" sz="3600" dirty="0" err="1"/>
              <a:t>Statement</a:t>
            </a:r>
            <a:r>
              <a:rPr lang="ru-RU" sz="3600" dirty="0"/>
              <a:t> (Составной </a:t>
            </a:r>
            <a:r>
              <a:rPr lang="ru-RU" sz="3600" dirty="0" err="1"/>
              <a:t>стейтмент</a:t>
            </a:r>
            <a:r>
              <a:rPr lang="ru-RU" sz="3600" dirty="0"/>
              <a:t> / Блок)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1C912-639F-2003-AD9D-A91229410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 latinLnBrk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ru-RU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пустой блок. 0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стейтментов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внутри</a:t>
            </a:r>
            <a:endParaRPr lang="en-US" sz="1800" b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 latinLnBrk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          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начало блока</a:t>
            </a:r>
            <a:endParaRPr lang="en-US" sz="1800" b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 latinLnBrk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  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стейтмент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-выражение</a:t>
            </a:r>
          </a:p>
          <a:p>
            <a:pPr marL="0" indent="0" algn="l" latinLnBrk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стейтмент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-выражение</a:t>
            </a:r>
            <a:endParaRPr lang="en-US" sz="18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 marL="0" indent="0" algn="l" latinLnBrk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{    </a:t>
            </a:r>
            <a:r>
              <a:rPr lang="ru-RU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           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начало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вложенного блока </a:t>
            </a:r>
            <a:endParaRPr lang="en-US" sz="1800" b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 algn="l" latinLnBrk="1">
              <a:lnSpc>
                <a:spcPct val="100000"/>
              </a:lnSpc>
              <a:buNone/>
            </a:pPr>
            <a:r>
              <a:rPr lang="en-US" sz="1800" dirty="0">
                <a:solidFill>
                  <a:srgbClr val="0F1115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}    </a:t>
            </a:r>
            <a:r>
              <a:rPr lang="ru-RU" sz="1800" b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           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конец вложенного блока</a:t>
            </a:r>
            <a:endParaRPr lang="en-US" sz="1800" b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 algn="l" latinLnBrk="1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ru-RU" sz="1800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          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конец блока</a:t>
            </a:r>
            <a:endParaRPr lang="en-US" sz="1800" b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авая круглая скобка 3">
            <a:extLst>
              <a:ext uri="{FF2B5EF4-FFF2-40B4-BE49-F238E27FC236}">
                <a16:creationId xmlns:a16="http://schemas.microsoft.com/office/drawing/2014/main" id="{2721D611-9021-407C-B527-E8CAA134E08B}"/>
              </a:ext>
            </a:extLst>
          </p:cNvPr>
          <p:cNvSpPr/>
          <p:nvPr/>
        </p:nvSpPr>
        <p:spPr>
          <a:xfrm>
            <a:off x="7589520" y="4582160"/>
            <a:ext cx="36000" cy="648000"/>
          </a:xfrm>
          <a:prstGeom prst="rightBracket">
            <a:avLst/>
          </a:prstGeom>
          <a:ln w="12700">
            <a:solidFill>
              <a:srgbClr val="0E870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12C34-4455-4E40-A0BE-835A755293B6}"/>
              </a:ext>
            </a:extLst>
          </p:cNvPr>
          <p:cNvSpPr txBox="1"/>
          <p:nvPr/>
        </p:nvSpPr>
        <p:spPr>
          <a:xfrm>
            <a:off x="7721600" y="4691014"/>
            <a:ext cx="290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8000"/>
                </a:solidFill>
              </a:rPr>
              <a:t>блок – это один </a:t>
            </a:r>
            <a:r>
              <a:rPr lang="ru-RU" dirty="0" err="1">
                <a:solidFill>
                  <a:srgbClr val="008000"/>
                </a:solidFill>
              </a:rPr>
              <a:t>стейтмент</a:t>
            </a:r>
            <a:endParaRPr lang="ru-RU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348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5607-9306-01D9-A29F-30C16E8B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6EF7CCF-E4FD-41C3-BB55-67BC11C0B742}"/>
              </a:ext>
            </a:extLst>
          </p:cNvPr>
          <p:cNvSpPr/>
          <p:nvPr/>
        </p:nvSpPr>
        <p:spPr>
          <a:xfrm>
            <a:off x="6471138" y="4290646"/>
            <a:ext cx="1446963" cy="4421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1C912-639F-2003-AD9D-A91229410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>
                <a:solidFill>
                  <a:srgbClr val="000000"/>
                </a:solidFill>
              </a:rPr>
              <a:t>Зачем вкладывать </a:t>
            </a:r>
            <a:r>
              <a:rPr lang="ru-RU" sz="2000" dirty="0" err="1">
                <a:solidFill>
                  <a:srgbClr val="000000"/>
                </a:solidFill>
              </a:rPr>
              <a:t>стейтменты</a:t>
            </a:r>
            <a:r>
              <a:rPr lang="ru-RU" sz="2000" dirty="0">
                <a:solidFill>
                  <a:srgbClr val="000000"/>
                </a:solidFill>
              </a:rPr>
              <a:t> в блок, если они итак прекрасно исполняются?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У блока есть</a:t>
            </a:r>
            <a:r>
              <a:rPr lang="ru-RU" sz="2000" dirty="0">
                <a:solidFill>
                  <a:srgbClr val="000000"/>
                </a:solidFill>
              </a:rPr>
              <a:t> 2 фишки: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000" b="0" dirty="0">
                <a:solidFill>
                  <a:srgbClr val="0F1115"/>
                </a:solidFill>
                <a:effectLst/>
              </a:rPr>
              <a:t>Внутри блока создаётся отдельная блочная область видимости </a:t>
            </a:r>
            <a:r>
              <a:rPr lang="ru-RU" sz="2000" dirty="0">
                <a:solidFill>
                  <a:srgbClr val="0F1115"/>
                </a:solidFill>
                <a:effectLst/>
              </a:rPr>
              <a:t>(</a:t>
            </a:r>
            <a:r>
              <a:rPr lang="en-US" sz="2000" i="0" dirty="0">
                <a:solidFill>
                  <a:srgbClr val="000000"/>
                </a:solidFill>
                <a:effectLst/>
              </a:rPr>
              <a:t>Block scope</a:t>
            </a:r>
            <a:r>
              <a:rPr lang="ru-RU" sz="2000" dirty="0">
                <a:solidFill>
                  <a:srgbClr val="0F1115"/>
                </a:solidFill>
                <a:effectLst/>
              </a:rPr>
              <a:t>)</a:t>
            </a:r>
            <a:r>
              <a:rPr lang="en-US" sz="2000" dirty="0">
                <a:solidFill>
                  <a:srgbClr val="0F1115"/>
                </a:solidFill>
                <a:effectLst/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000" dirty="0">
                <a:solidFill>
                  <a:srgbClr val="0F1115"/>
                </a:solidFill>
                <a:effectLst/>
              </a:rPr>
              <a:t>Блок (вместе со всеми вложенными </a:t>
            </a:r>
            <a:r>
              <a:rPr lang="ru-RU" sz="2000" dirty="0" err="1">
                <a:solidFill>
                  <a:srgbClr val="0F1115"/>
                </a:solidFill>
                <a:effectLst/>
              </a:rPr>
              <a:t>стейтментами</a:t>
            </a:r>
            <a:r>
              <a:rPr lang="ru-RU" sz="2000" dirty="0">
                <a:solidFill>
                  <a:srgbClr val="0F1115"/>
                </a:solidFill>
                <a:effectLst/>
              </a:rPr>
              <a:t> считается одним </a:t>
            </a:r>
            <a:r>
              <a:rPr lang="ru-RU" sz="2000" dirty="0" err="1">
                <a:solidFill>
                  <a:srgbClr val="0F1115"/>
                </a:solidFill>
                <a:effectLst/>
              </a:rPr>
              <a:t>стейтментом</a:t>
            </a:r>
            <a:r>
              <a:rPr lang="ru-RU" sz="2000" dirty="0">
                <a:solidFill>
                  <a:srgbClr val="0F1115"/>
                </a:solidFill>
                <a:effectLst/>
              </a:rPr>
              <a:t>), поэтому в конструкция, в которых разрешено указывать только один </a:t>
            </a:r>
            <a:r>
              <a:rPr lang="ru-RU" sz="2000" dirty="0" err="1">
                <a:solidFill>
                  <a:srgbClr val="0F1115"/>
                </a:solidFill>
                <a:effectLst/>
              </a:rPr>
              <a:t>стейтмент</a:t>
            </a:r>
            <a:r>
              <a:rPr lang="ru-RU" sz="2000" dirty="0">
                <a:solidFill>
                  <a:srgbClr val="0F1115"/>
                </a:solidFill>
                <a:effectLst/>
              </a:rPr>
              <a:t> можно использовать блок</a:t>
            </a:r>
            <a:r>
              <a:rPr lang="en-US" sz="2000" dirty="0">
                <a:solidFill>
                  <a:srgbClr val="0F1115"/>
                </a:solidFill>
                <a:effectLst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 algn="ctr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выражение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стейтмент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2753C-6F64-98CE-90FE-14DA2705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err="1"/>
              <a:t>Compound</a:t>
            </a:r>
            <a:r>
              <a:rPr lang="ru-RU" sz="3600" dirty="0"/>
              <a:t> </a:t>
            </a:r>
            <a:r>
              <a:rPr lang="ru-RU" sz="3600" dirty="0" err="1"/>
              <a:t>Statement</a:t>
            </a:r>
            <a:r>
              <a:rPr lang="ru-RU" sz="3600" dirty="0"/>
              <a:t> (Составной </a:t>
            </a:r>
            <a:r>
              <a:rPr lang="ru-RU" sz="3600" dirty="0" err="1"/>
              <a:t>стейтмент</a:t>
            </a:r>
            <a:r>
              <a:rPr lang="ru-RU" sz="3600" dirty="0"/>
              <a:t> / Блок)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1C105-B8E2-4A41-A5A1-A1ACC4CD3935}"/>
              </a:ext>
            </a:extLst>
          </p:cNvPr>
          <p:cNvSpPr txBox="1"/>
          <p:nvPr/>
        </p:nvSpPr>
        <p:spPr>
          <a:xfrm>
            <a:off x="5687367" y="5119637"/>
            <a:ext cx="3329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слот под один любой </a:t>
            </a:r>
            <a:r>
              <a:rPr lang="ru-RU" dirty="0" err="1"/>
              <a:t>стейтмент</a:t>
            </a:r>
            <a:endParaRPr lang="ru-RU" dirty="0"/>
          </a:p>
          <a:p>
            <a:pPr algn="ctr"/>
            <a:r>
              <a:rPr lang="ru-RU" dirty="0"/>
              <a:t>можно использовать блок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C594554-575D-4EAE-B248-A03020CF192C}"/>
              </a:ext>
            </a:extLst>
          </p:cNvPr>
          <p:cNvCxnSpPr>
            <a:cxnSpLocks/>
          </p:cNvCxnSpPr>
          <p:nvPr/>
        </p:nvCxnSpPr>
        <p:spPr>
          <a:xfrm flipH="1">
            <a:off x="7192107" y="4732774"/>
            <a:ext cx="1" cy="386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185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21DD-5AE4-008A-6EBE-44B3F01C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F449E-178D-5529-A612-2B3F39DE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Compound</a:t>
            </a:r>
            <a:r>
              <a:rPr lang="ru-RU" dirty="0"/>
              <a:t> </a:t>
            </a:r>
            <a:r>
              <a:rPr lang="ru-RU" dirty="0" err="1"/>
              <a:t>Statement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8273D5-2CC4-7D79-35F4-38C9A4BA0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0" y="1690689"/>
            <a:ext cx="7405917" cy="448627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US" sz="2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1391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EBC3-67A0-7AA0-9E4D-9428325C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016DD-8EB5-4EF4-423B-40A3000E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Declaration Statement (</a:t>
            </a:r>
            <a:r>
              <a:rPr lang="ru-RU" sz="4000" dirty="0" err="1"/>
              <a:t>Стейтмент</a:t>
            </a:r>
            <a:r>
              <a:rPr lang="ru-RU" sz="4000" dirty="0"/>
              <a:t>-объявление)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4BF24-936D-767A-85E1-7F1FA117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Declaration Statement</a:t>
            </a:r>
            <a:r>
              <a:rPr lang="ru-RU" sz="2000" dirty="0"/>
              <a:t> вводит в программу новые имена (идентификаторы) и/или влияет на правила работы с именами (например поиска имён).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b="0" dirty="0">
              <a:solidFill>
                <a:schemeClr val="bg1">
                  <a:lumMod val="6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Без объявлений приходилось бы использовать только встроенные в язык слова и знаки. Нельзя было бы создать переменные, типы и т.д.</a:t>
            </a:r>
          </a:p>
        </p:txBody>
      </p:sp>
    </p:spTree>
    <p:extLst>
      <p:ext uri="{BB962C8B-B14F-4D97-AF65-F5344CB8AC3E}">
        <p14:creationId xmlns:p14="http://schemas.microsoft.com/office/powerpoint/2010/main" val="2734403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EBC3-67A0-7AA0-9E4D-9428325C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016DD-8EB5-4EF4-423B-40A3000E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Declaration Statement (</a:t>
            </a:r>
            <a:r>
              <a:rPr lang="ru-RU" sz="4000" dirty="0" err="1"/>
              <a:t>Стейтмент</a:t>
            </a:r>
            <a:r>
              <a:rPr lang="ru-RU" sz="4000" dirty="0"/>
              <a:t>-объявление)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4BF24-936D-767A-85E1-7F1FA117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Формально грамматика </a:t>
            </a:r>
            <a:r>
              <a:rPr lang="en-US" sz="2000" dirty="0"/>
              <a:t>declaration-statement</a:t>
            </a:r>
            <a:r>
              <a:rPr lang="ru-RU" sz="2000" dirty="0"/>
              <a:t> в C++20 выглядит так: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2600325"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declaration-statement: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block-declaration</a:t>
            </a:r>
          </a:p>
          <a:p>
            <a:pPr marL="0" indent="2600325">
              <a:spcBef>
                <a:spcPts val="0"/>
              </a:spcBef>
              <a:buNone/>
            </a:pPr>
            <a:endParaRPr lang="ru-RU" sz="2000" dirty="0"/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block-declaration: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simple-declaration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asm</a:t>
            </a: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-declaration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   namespace-alias-definition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   using-declaration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using-</a:t>
            </a:r>
            <a:r>
              <a:rPr lang="en-US" sz="20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-declaration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using-directive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-declaration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   alias-declaration</a:t>
            </a:r>
          </a:p>
          <a:p>
            <a:pPr marL="0" indent="2600325"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   opaque-</a:t>
            </a:r>
            <a:r>
              <a:rPr lang="en-US" sz="20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20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-declaration</a:t>
            </a:r>
            <a:endParaRPr lang="ru-RU" sz="2000" b="0" dirty="0">
              <a:solidFill>
                <a:schemeClr val="bg1">
                  <a:lumMod val="6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7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EBC3-67A0-7AA0-9E4D-9428325C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016DD-8EB5-4EF4-423B-40A3000E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using-directive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4BF24-936D-767A-85E1-7F1FA117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Один из вариантов </a:t>
            </a:r>
            <a:r>
              <a:rPr lang="en-US" sz="2000" dirty="0">
                <a:solidFill>
                  <a:srgbClr val="000000"/>
                </a:solidFill>
              </a:rPr>
              <a:t>declaration-statement</a:t>
            </a:r>
            <a:r>
              <a:rPr lang="ru-RU" sz="2000" dirty="0">
                <a:solidFill>
                  <a:srgbClr val="000000"/>
                </a:solidFill>
              </a:rPr>
              <a:t> это </a:t>
            </a:r>
            <a:r>
              <a:rPr lang="en-US" sz="2000" dirty="0"/>
              <a:t>using-directive</a:t>
            </a:r>
            <a:r>
              <a:rPr lang="ru-RU" sz="2000" dirty="0"/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233680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имя_пространства</a:t>
            </a:r>
            <a:r>
              <a:rPr lang="ru-RU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_имён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Например: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336800"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2336800"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стейтменты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2336800"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using-directive</a:t>
            </a:r>
          </a:p>
          <a:p>
            <a:pPr marL="0" indent="2336800"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стейтменты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233680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982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EBC3-67A0-7AA0-9E4D-9428325C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016DD-8EB5-4EF4-423B-40A3000E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using-directive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4BF24-936D-767A-85E1-7F1FA117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800" dirty="0"/>
              <a:t>После директивы и до конца текущего блока, в конец обычной процедуры поиска имён добавляется правило: «поискать имя в пространстве имён </a:t>
            </a:r>
            <a:r>
              <a:rPr lang="en-US" sz="1800" dirty="0"/>
              <a:t>std</a:t>
            </a:r>
            <a:r>
              <a:rPr lang="ru-RU" sz="1800" dirty="0"/>
              <a:t>»:</a:t>
            </a:r>
          </a:p>
          <a:p>
            <a:pPr marL="0" indent="0">
              <a:spcBef>
                <a:spcPts val="600"/>
              </a:spcBef>
              <a:buNone/>
            </a:pPr>
            <a:endParaRPr lang="ru-RU" sz="1400" dirty="0"/>
          </a:p>
          <a:p>
            <a:pPr marL="0" indent="0">
              <a:spcBef>
                <a:spcPts val="600"/>
              </a:spcBef>
              <a:buNone/>
            </a:pPr>
            <a:endParaRPr lang="ru-RU" sz="1400" dirty="0"/>
          </a:p>
          <a:p>
            <a:pPr marL="0" indent="233680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ru-RU" sz="1400" b="0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pPr marL="0" indent="2336800">
              <a:buNone/>
            </a:pPr>
            <a:endParaRPr lang="ru-RU" sz="14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 marL="0" indent="233680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233680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Тут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обязательно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233680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233680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не писать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233680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0803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EBC3-67A0-7AA0-9E4D-9428325C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016DD-8EB5-4EF4-423B-40A3000E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simple-declaration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4BF24-936D-767A-85E1-7F1FA117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simple-declaration</a:t>
            </a:r>
            <a:r>
              <a:rPr lang="ru-RU" sz="2000" dirty="0"/>
              <a:t> </a:t>
            </a:r>
            <a:r>
              <a:rPr lang="ru-RU" sz="2000" b="1" dirty="0"/>
              <a:t>объявляет</a:t>
            </a:r>
            <a:r>
              <a:rPr lang="ru-RU" sz="2000" dirty="0"/>
              <a:t> в текущем блоке</a:t>
            </a:r>
            <a:r>
              <a:rPr lang="en-US" sz="2000" dirty="0"/>
              <a:t> </a:t>
            </a:r>
            <a:r>
              <a:rPr lang="ru-RU" sz="2000" dirty="0"/>
              <a:t>идентификатор и указывает, что за программная сущность обозначена этим идентификатором: переменная, функция, локальный класс и т.д. 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Сейчас мы ограничимся объявлением только переменных/констант.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Объявление - это способ, с помощью которого </a:t>
            </a:r>
            <a:r>
              <a:rPr lang="ru-RU" sz="2000" b="1" dirty="0"/>
              <a:t>имена</a:t>
            </a:r>
            <a:r>
              <a:rPr lang="ru-RU" sz="2000" dirty="0"/>
              <a:t> вводятся (или повторно вводятся) в программу на C++. После объявления имя можно использовать в программе.</a:t>
            </a: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B942ADF-1ACD-43AA-C1C8-EBA9A8395259}"/>
              </a:ext>
            </a:extLst>
          </p:cNvPr>
          <p:cNvGrpSpPr/>
          <p:nvPr/>
        </p:nvGrpSpPr>
        <p:grpSpPr>
          <a:xfrm>
            <a:off x="3649371" y="4852878"/>
            <a:ext cx="5469582" cy="1062786"/>
            <a:chOff x="3082841" y="4813122"/>
            <a:chExt cx="5469582" cy="1062786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2A8707E-F6C3-9FBB-78E9-607FDF7A8104}"/>
                </a:ext>
              </a:extLst>
            </p:cNvPr>
            <p:cNvSpPr/>
            <p:nvPr/>
          </p:nvSpPr>
          <p:spPr>
            <a:xfrm>
              <a:off x="3458817" y="4820476"/>
              <a:ext cx="914400" cy="655983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x</a:t>
              </a:r>
              <a:endParaRPr lang="ru-RU" sz="2000" dirty="0">
                <a:solidFill>
                  <a:schemeClr val="tx1"/>
                </a:solidFill>
              </a:endParaRP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90A523F-36CF-79FA-0257-B381010BFAC0}"/>
                </a:ext>
              </a:extLst>
            </p:cNvPr>
            <p:cNvSpPr/>
            <p:nvPr/>
          </p:nvSpPr>
          <p:spPr>
            <a:xfrm>
              <a:off x="6304056" y="4820476"/>
              <a:ext cx="1755914" cy="655983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</a:rPr>
                <a:t>Переменная типа </a:t>
              </a:r>
              <a:r>
                <a:rPr lang="en-US" sz="2000" dirty="0">
                  <a:solidFill>
                    <a:schemeClr val="tx1"/>
                  </a:solidFill>
                </a:rPr>
                <a:t>int</a:t>
              </a:r>
              <a:endParaRPr lang="ru-RU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F3C142F-ACDD-5E02-652F-AFC1A122389B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4373217" y="5148468"/>
              <a:ext cx="19308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79F1D9-07E4-5103-A4CF-89130806C146}"/>
                </a:ext>
              </a:extLst>
            </p:cNvPr>
            <p:cNvSpPr txBox="1"/>
            <p:nvPr/>
          </p:nvSpPr>
          <p:spPr>
            <a:xfrm>
              <a:off x="5104922" y="4813122"/>
              <a:ext cx="494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это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874802-DBB5-9586-95CB-9FE2B85A41E9}"/>
                </a:ext>
              </a:extLst>
            </p:cNvPr>
            <p:cNvSpPr txBox="1"/>
            <p:nvPr/>
          </p:nvSpPr>
          <p:spPr>
            <a:xfrm>
              <a:off x="3082841" y="5506576"/>
              <a:ext cx="1725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Идентификатор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8AB5E1-43EF-BE96-EA6F-F613FACF1BBF}"/>
                </a:ext>
              </a:extLst>
            </p:cNvPr>
            <p:cNvSpPr txBox="1"/>
            <p:nvPr/>
          </p:nvSpPr>
          <p:spPr>
            <a:xfrm>
              <a:off x="5990503" y="5506576"/>
              <a:ext cx="25619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Программная сущность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12222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61E-A00B-C70C-B378-9166258F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D5BA-E22F-C651-2E0C-25BA55FC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переменной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C592F7-F7F9-46A3-1553-5C089C2C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Переменная</a:t>
            </a:r>
            <a:r>
              <a:rPr lang="ru-RU" sz="2000" dirty="0"/>
              <a:t> — это именованный блок данных определённого типа. Чтобы объявить переменную, нужно указать её тип и имя. Тип переменной зафиксирован до «смерти» переменной. В общем виде это выглядит так: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name1, name2, name3;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name1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value1, name2, name3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value3;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auto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 = value;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value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инициализация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value;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Копирующая инициализация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name(value);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Прямая инициализация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7373B9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name{value};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Uniform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инициализация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1227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61E-A00B-C70C-B378-9166258F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D5BA-E22F-C651-2E0C-25BA55FC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переменной -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C592F7-F7F9-46A3-1553-5C089C2C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1038336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Инициализация</a:t>
            </a:r>
            <a:r>
              <a:rPr lang="ru-RU" sz="2000" dirty="0"/>
              <a:t> – это установка начального значения объекта в момент его создания. Инициализатор (если он есть) определяет это значение. Если инициализатора нет, то объект инициализируется значением по умолчанию.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Для примитивных типов, значение по умолчанию не гарантировано: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хранит значение 4. 4 - это инициализатор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ru-RU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хранит неопределённый "мусор"</a:t>
            </a:r>
          </a:p>
          <a:p>
            <a:pPr marL="0" indent="0">
              <a:buNone/>
            </a:pP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/>
              <a:t>Для объектов значение определяется конструктором класса: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name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 значение "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John". "John" -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инициализатор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name2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 значение ""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044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1AC5C-FB2D-2AB3-C0CD-6A6969AA0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AB081-3933-ED65-757A-B1B14035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переменной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3D190-5F90-5EE8-4939-10A079830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0" y="2385391"/>
            <a:ext cx="7010399" cy="379157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1D81998-9228-4407-A6D3-8D8A9826920D}"/>
              </a:ext>
            </a:extLst>
          </p:cNvPr>
          <p:cNvGrpSpPr/>
          <p:nvPr/>
        </p:nvGrpSpPr>
        <p:grpSpPr>
          <a:xfrm>
            <a:off x="5916313" y="4244009"/>
            <a:ext cx="1728358" cy="437912"/>
            <a:chOff x="6341166" y="3568147"/>
            <a:chExt cx="1728358" cy="437912"/>
          </a:xfrm>
        </p:grpSpPr>
        <p:sp>
          <p:nvSpPr>
            <p:cNvPr id="5" name="Левая круглая скобка 4">
              <a:extLst>
                <a:ext uri="{FF2B5EF4-FFF2-40B4-BE49-F238E27FC236}">
                  <a16:creationId xmlns:a16="http://schemas.microsoft.com/office/drawing/2014/main" id="{7508E59B-0496-F755-B639-747E6A67750F}"/>
                </a:ext>
              </a:extLst>
            </p:cNvPr>
            <p:cNvSpPr/>
            <p:nvPr/>
          </p:nvSpPr>
          <p:spPr>
            <a:xfrm rot="16200000">
              <a:off x="7126238" y="2976273"/>
              <a:ext cx="68580" cy="1252328"/>
            </a:xfrm>
            <a:prstGeom prst="leftBracket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86E182-D9DE-B122-6580-920E9AAB3C81}"/>
                </a:ext>
              </a:extLst>
            </p:cNvPr>
            <p:cNvSpPr txBox="1"/>
            <p:nvPr/>
          </p:nvSpPr>
          <p:spPr>
            <a:xfrm>
              <a:off x="6341166" y="3636727"/>
              <a:ext cx="1728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инициализация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F248835-3A0B-44A0-2082-45328D9672D3}"/>
              </a:ext>
            </a:extLst>
          </p:cNvPr>
          <p:cNvSpPr txBox="1"/>
          <p:nvPr/>
        </p:nvSpPr>
        <p:spPr>
          <a:xfrm>
            <a:off x="5170600" y="487544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double</a:t>
            </a:r>
            <a:endParaRPr lang="ru-RU" dirty="0">
              <a:latin typeface="Consolas" panose="020B0609020204030204" pitchFamily="49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2AE4CF7C-E57F-589C-5BCB-133F7C9D44FA}"/>
              </a:ext>
            </a:extLst>
          </p:cNvPr>
          <p:cNvCxnSpPr>
            <a:cxnSpLocks/>
          </p:cNvCxnSpPr>
          <p:nvPr/>
        </p:nvCxnSpPr>
        <p:spPr>
          <a:xfrm flipV="1">
            <a:off x="5633481" y="4312589"/>
            <a:ext cx="137124" cy="54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460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61E-A00B-C70C-B378-9166258F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D5BA-E22F-C651-2E0C-25BA55FC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константы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C592F7-F7F9-46A3-1553-5C089C2C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1038336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В С++ под понятием константность может скрываться несколько значений. Сейчас мы обсуждаем константы созданные при помощи квалификатора </a:t>
            </a:r>
            <a:r>
              <a:rPr lang="en-US" sz="2000" dirty="0">
                <a:latin typeface="Consolas" panose="020B0609020204030204" pitchFamily="49" charset="0"/>
              </a:rPr>
              <a:t>const</a:t>
            </a:r>
            <a:r>
              <a:rPr lang="en-US" sz="2000" dirty="0"/>
              <a:t>. </a:t>
            </a:r>
            <a:r>
              <a:rPr lang="ru-RU" sz="2000" dirty="0"/>
              <a:t>Стандарт C++ требует, чтобы объект с квалификатором </a:t>
            </a:r>
            <a:r>
              <a:rPr lang="ru-RU" sz="2000" dirty="0" err="1">
                <a:latin typeface="Consolas" panose="020B0609020204030204" pitchFamily="49" charset="0"/>
              </a:rPr>
              <a:t>const</a:t>
            </a:r>
            <a:r>
              <a:rPr lang="ru-RU" sz="2000" dirty="0"/>
              <a:t> был инициализирован. Однако «инициализация» не обязательно означает явный инициализатор в коде.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Для примитивных типов, инициализатор должен быть обязательно: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val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 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uninitialized const '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val2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/>
              <a:t>Для объектов значение определяется конструктором класса: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"John"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OK.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З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начение ""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42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61E-A00B-C70C-B378-9166258F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D5BA-E22F-C651-2E0C-25BA55FC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Объявление константы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C592F7-F7F9-46A3-1553-5C089C2C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1038336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После создания, значение константы не может быть изменено:</a:t>
            </a:r>
          </a:p>
          <a:p>
            <a:pPr marL="0" indent="0">
              <a:buNone/>
            </a:pPr>
            <a:r>
              <a:rPr lang="fr-FR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fr-FR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fr-F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fr-FR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</a:t>
            </a:r>
            <a:endParaRPr lang="fr-FR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fr-FR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fr-FR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fr-FR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/>
              <a:t>Можно и так: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Мусор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ru-RU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Ввод значения с консоли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702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C07A-3A55-EA30-6CE7-D6838514C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0F64D-1A55-5F95-A9DA-95EFD5AE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Идентификатор (</a:t>
            </a:r>
            <a:r>
              <a:rPr lang="en-US" sz="4000" dirty="0"/>
              <a:t>Identifier</a:t>
            </a:r>
            <a:r>
              <a:rPr lang="ru-RU" sz="40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1E7AC-AA97-BD72-7E01-83983F441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b="1" dirty="0"/>
              <a:t>Идентификатор</a:t>
            </a:r>
            <a:r>
              <a:rPr lang="ru-RU" sz="2000" dirty="0"/>
              <a:t> (имя) - это последовательность букв и цифр произвольной длины.</a:t>
            </a:r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CBB74D8-26BF-5CD7-F2A9-34575BC08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335279"/>
              </p:ext>
            </p:extLst>
          </p:nvPr>
        </p:nvGraphicFramePr>
        <p:xfrm>
          <a:off x="4206789" y="2684390"/>
          <a:ext cx="3024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000">
                  <a:extLst>
                    <a:ext uri="{9D8B030D-6E8A-4147-A177-3AD203B41FA5}">
                      <a16:colId xmlns:a16="http://schemas.microsoft.com/office/drawing/2014/main" val="172549486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44214232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01975126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242877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11968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67E0B0B-0039-B5F4-48E9-9601777FC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402427"/>
              </p:ext>
            </p:extLst>
          </p:nvPr>
        </p:nvGraphicFramePr>
        <p:xfrm>
          <a:off x="919800" y="3975669"/>
          <a:ext cx="4788000" cy="136372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42000">
                  <a:extLst>
                    <a:ext uri="{9D8B030D-6E8A-4147-A177-3AD203B41FA5}">
                      <a16:colId xmlns:a16="http://schemas.microsoft.com/office/drawing/2014/main" val="2412364366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429009491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203182957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735663759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421171312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4180262821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345719052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068569943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402185062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111334885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083685619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905144887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328856238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10903968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j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k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m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10848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s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u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v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w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z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94702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J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K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M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345317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S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U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V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W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Z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_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9661498"/>
                  </a:ext>
                </a:extLst>
              </a:tr>
            </a:tbl>
          </a:graphicData>
        </a:graphic>
      </p:graphicFrame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7DCAE99-6067-93C2-F723-A156B5856E4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313800" y="3191106"/>
            <a:ext cx="1171703" cy="784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FBC7F485-490D-6069-62F4-E5B34E1F3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218234"/>
              </p:ext>
            </p:extLst>
          </p:nvPr>
        </p:nvGraphicFramePr>
        <p:xfrm>
          <a:off x="6565800" y="3856141"/>
          <a:ext cx="4788000" cy="17046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42000">
                  <a:extLst>
                    <a:ext uri="{9D8B030D-6E8A-4147-A177-3AD203B41FA5}">
                      <a16:colId xmlns:a16="http://schemas.microsoft.com/office/drawing/2014/main" val="2233460315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048915052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295777337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2664952631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745735506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18278433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180282971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993373115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985597057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558972898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3580083618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507544137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921239612"/>
                    </a:ext>
                  </a:extLst>
                </a:gridCol>
                <a:gridCol w="342000">
                  <a:extLst>
                    <a:ext uri="{9D8B030D-6E8A-4147-A177-3AD203B41FA5}">
                      <a16:colId xmlns:a16="http://schemas.microsoft.com/office/drawing/2014/main" val="114481684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j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k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m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13051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s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u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v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w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z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73458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J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K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M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9430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Q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S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T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U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V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W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Z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_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7357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ru-RU" sz="2200" b="0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ru-RU" sz="2200" b="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ru-RU" sz="2200" b="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ru-RU" sz="2200" b="0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ru-RU" sz="2200" b="0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ru-RU" sz="2200" b="0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ru-RU" sz="2200" b="0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ru-RU" sz="2200" b="0" kern="1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200" b="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8</a:t>
                      </a:r>
                      <a:endParaRPr lang="ru-RU" sz="2200" b="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endParaRPr lang="ru-RU" sz="2200" b="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0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endParaRPr lang="ru-RU" sz="2200" b="0" kern="1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5651272"/>
                  </a:ext>
                </a:extLst>
              </a:tr>
            </a:tbl>
          </a:graphicData>
        </a:graphic>
      </p:graphicFrame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6ECCAF2-0B17-F640-5567-F9377A00B839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6116984" y="3374917"/>
            <a:ext cx="2842816" cy="481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Левая круглая скобка 14">
            <a:extLst>
              <a:ext uri="{FF2B5EF4-FFF2-40B4-BE49-F238E27FC236}">
                <a16:creationId xmlns:a16="http://schemas.microsoft.com/office/drawing/2014/main" id="{C91ABC0A-DD88-5092-3AA1-F3E37BBFB7DA}"/>
              </a:ext>
            </a:extLst>
          </p:cNvPr>
          <p:cNvSpPr/>
          <p:nvPr/>
        </p:nvSpPr>
        <p:spPr>
          <a:xfrm rot="16200000">
            <a:off x="6005203" y="2040017"/>
            <a:ext cx="148996" cy="2302180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846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8A94-F1FD-1447-5A10-DBFAD89F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A681D-50E8-3214-DD7A-D4661A1C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Идентификатор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44E4B-010C-DBC6-AC0B-72DBC92A7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1" y="1690688"/>
            <a:ext cx="7010399" cy="38424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_42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4cheeses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camel case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pascal case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my_name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snake case</a:t>
            </a: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Число😁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429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00BA-25C4-E71D-168F-97BB9827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16ED5-21D3-F950-0EA4-7CEF30E4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Поиск имени (</a:t>
            </a:r>
            <a:r>
              <a:rPr lang="en-US" sz="4000" dirty="0"/>
              <a:t>Name lookup</a:t>
            </a:r>
            <a:r>
              <a:rPr lang="ru-RU" sz="4000" dirty="0"/>
              <a:t>)</a:t>
            </a: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5A8D6214-259E-4AD6-BDE0-33E3B432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1035288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Если компилятор встречает в тексте программы идентификатор, то он выполняет процедуру поиска </a:t>
            </a:r>
            <a:r>
              <a:rPr lang="ru-RU" sz="2000" b="1" dirty="0"/>
              <a:t>объявления</a:t>
            </a:r>
            <a:r>
              <a:rPr lang="ru-RU" sz="2000" dirty="0"/>
              <a:t>, которое сообщит ему, с какой программной сущностью идентификатор связан в текущей точке программы. В простом варианте: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Ищи</a:t>
            </a:r>
            <a:r>
              <a:rPr lang="en-US" sz="2000" dirty="0"/>
              <a:t> </a:t>
            </a:r>
            <a:r>
              <a:rPr lang="ru-RU" sz="2000" dirty="0"/>
              <a:t>объявление в текущем блоке { ... } вверх от текущей позиции.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Если не нашёл – ищи в объемлющем блоке (тоже вверх по коду).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Повторяй, пока не дойдёшь до глобальной области.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Если нашёл – СТОП. Выше не смотри, даже если найденное имя не подходит по типу или контексту.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Если не нашёл и в процессе поиска встречались директивы </a:t>
            </a:r>
            <a:r>
              <a:rPr lang="en-US" sz="2000" dirty="0"/>
              <a:t>using </a:t>
            </a:r>
            <a:r>
              <a:rPr lang="ru-RU" sz="2000" dirty="0"/>
              <a:t>смотри в указанных пространствах имён.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Если нашёл в нескольких пространствах имён - то ошибка неоднозначности (</a:t>
            </a:r>
            <a:r>
              <a:rPr lang="en-US" sz="2000" dirty="0"/>
              <a:t>ambiguous)</a:t>
            </a:r>
            <a:r>
              <a:rPr lang="ru-RU" sz="2000" dirty="0"/>
              <a:t>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Если не нашёл нигде – ошибка компиляции (</a:t>
            </a:r>
            <a:r>
              <a:rPr lang="ru-RU" sz="2000" b="1" dirty="0">
                <a:solidFill>
                  <a:srgbClr val="000000"/>
                </a:solidFill>
              </a:rPr>
              <a:t>имя</a:t>
            </a:r>
            <a:r>
              <a:rPr lang="en-US" sz="2000" b="1" dirty="0">
                <a:solidFill>
                  <a:srgbClr val="000000"/>
                </a:solidFill>
              </a:rPr>
              <a:t> was not declared</a:t>
            </a:r>
            <a:r>
              <a:rPr lang="ru-RU" sz="2000" dirty="0">
                <a:solidFill>
                  <a:srgbClr val="000000"/>
                </a:solidFill>
              </a:rPr>
              <a:t>)</a:t>
            </a:r>
            <a:r>
              <a:rPr lang="ru-RU" sz="2000" dirty="0"/>
              <a:t>.</a:t>
            </a:r>
          </a:p>
          <a:p>
            <a:pPr marL="1706563" indent="-365125">
              <a:spcBef>
                <a:spcPts val="0"/>
              </a:spcBef>
              <a:buFont typeface="+mj-lt"/>
              <a:buAutoNum type="arabicPeriod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420910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C79B-A313-2354-0DBF-4D549721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316AE-C0DF-119A-8186-5301BC1F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Scope (</a:t>
            </a:r>
            <a:r>
              <a:rPr lang="ru-RU" sz="4000" dirty="0"/>
              <a:t>Область видимости</a:t>
            </a:r>
            <a:r>
              <a:rPr lang="en-US" sz="4000" dirty="0"/>
              <a:t>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ABB23D-46BB-A743-3A88-54052C7AE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374" y="2802835"/>
            <a:ext cx="7169426" cy="33741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+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Ошибка. Имя x не объявлено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Ок. Имя x объявлено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7804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B9E94-8513-E3B4-B118-0CF1478C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85B17D8-2E90-4AFA-9CF4-28E529E27067}"/>
              </a:ext>
            </a:extLst>
          </p:cNvPr>
          <p:cNvSpPr/>
          <p:nvPr/>
        </p:nvSpPr>
        <p:spPr>
          <a:xfrm>
            <a:off x="4984621" y="4951903"/>
            <a:ext cx="1586383" cy="338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BE28C96-FABE-40F9-BAA0-06804E546B45}"/>
              </a:ext>
            </a:extLst>
          </p:cNvPr>
          <p:cNvGrpSpPr/>
          <p:nvPr/>
        </p:nvGrpSpPr>
        <p:grpSpPr>
          <a:xfrm>
            <a:off x="4783016" y="3818374"/>
            <a:ext cx="1788606" cy="1472079"/>
            <a:chOff x="4783016" y="3818374"/>
            <a:chExt cx="1788606" cy="1472079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2EEA8AB-C249-43C4-B3F2-86DB8623F62A}"/>
                </a:ext>
              </a:extLst>
            </p:cNvPr>
            <p:cNvSpPr/>
            <p:nvPr/>
          </p:nvSpPr>
          <p:spPr>
            <a:xfrm>
              <a:off x="4783016" y="3818374"/>
              <a:ext cx="1788606" cy="3014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4435E5A-F343-412D-89F7-3FA712A5A94F}"/>
                </a:ext>
              </a:extLst>
            </p:cNvPr>
            <p:cNvSpPr/>
            <p:nvPr/>
          </p:nvSpPr>
          <p:spPr>
            <a:xfrm>
              <a:off x="4783017" y="4180769"/>
              <a:ext cx="1436914" cy="3014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A6139C7-295C-4920-9921-87EEE4871E47}"/>
                </a:ext>
              </a:extLst>
            </p:cNvPr>
            <p:cNvSpPr/>
            <p:nvPr/>
          </p:nvSpPr>
          <p:spPr>
            <a:xfrm>
              <a:off x="6219931" y="4181223"/>
              <a:ext cx="351691" cy="30099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6B89576-8220-440D-A3F4-54BF55B3A316}"/>
                </a:ext>
              </a:extLst>
            </p:cNvPr>
            <p:cNvSpPr/>
            <p:nvPr/>
          </p:nvSpPr>
          <p:spPr>
            <a:xfrm>
              <a:off x="4783016" y="4554641"/>
              <a:ext cx="1788606" cy="30099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7A2E7A4-6C85-49B0-9E00-158F5E5750C5}"/>
                </a:ext>
              </a:extLst>
            </p:cNvPr>
            <p:cNvSpPr/>
            <p:nvPr/>
          </p:nvSpPr>
          <p:spPr>
            <a:xfrm>
              <a:off x="4783016" y="4938106"/>
              <a:ext cx="190918" cy="35234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Объект 2">
            <a:extLst>
              <a:ext uri="{FF2B5EF4-FFF2-40B4-BE49-F238E27FC236}">
                <a16:creationId xmlns:a16="http://schemas.microsoft.com/office/drawing/2014/main" id="{E679FC45-C620-41B3-9945-CAF7975FCF38}"/>
              </a:ext>
            </a:extLst>
          </p:cNvPr>
          <p:cNvSpPr txBox="1">
            <a:spLocks/>
          </p:cNvSpPr>
          <p:nvPr/>
        </p:nvSpPr>
        <p:spPr>
          <a:xfrm>
            <a:off x="4722619" y="3757429"/>
            <a:ext cx="2286000" cy="1948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42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b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E9303-C8A8-B3D1-FB3E-83786F02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Scope (</a:t>
            </a:r>
            <a:r>
              <a:rPr lang="ru-RU" sz="4000" dirty="0"/>
              <a:t>Область видимости</a:t>
            </a:r>
            <a:r>
              <a:rPr lang="en-US" sz="4000" dirty="0"/>
              <a:t>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3AA10-1251-BB22-7CEA-D0EF503B3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1800000"/>
            <a:ext cx="9864334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Вышесказанное означает, что компилятор "видит" идентификатор начиная с определённой точки кода (</a:t>
            </a:r>
            <a:r>
              <a:rPr lang="en-US" sz="2000" i="0" dirty="0">
                <a:solidFill>
                  <a:srgbClr val="000000"/>
                </a:solidFill>
                <a:effectLst/>
              </a:rPr>
              <a:t>Point of declaration</a:t>
            </a:r>
            <a:r>
              <a:rPr lang="ru-RU" sz="2000" dirty="0"/>
              <a:t>). 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Часть кода, в которой компилятор связывает идентификатор с конкретной программной сущностью называется </a:t>
            </a:r>
            <a:r>
              <a:rPr lang="ru-RU" sz="2000" b="1" dirty="0"/>
              <a:t>областью видимости </a:t>
            </a:r>
            <a:r>
              <a:rPr lang="ru-RU" sz="2000" dirty="0"/>
              <a:t>этого объявления/идентификатора.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endParaRPr lang="ru-R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58FC55-900B-43C5-8A1E-7FEC6C0E3761}"/>
              </a:ext>
            </a:extLst>
          </p:cNvPr>
          <p:cNvSpPr txBox="1"/>
          <p:nvPr/>
        </p:nvSpPr>
        <p:spPr>
          <a:xfrm>
            <a:off x="1428788" y="5970964"/>
            <a:ext cx="394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Область видимости</a:t>
            </a:r>
            <a:r>
              <a:rPr lang="en-US" dirty="0"/>
              <a:t> </a:t>
            </a:r>
            <a:r>
              <a:rPr lang="ru-RU" dirty="0"/>
              <a:t>идентификатора </a:t>
            </a:r>
            <a:r>
              <a:rPr lang="en-US" b="1" dirty="0"/>
              <a:t>x</a:t>
            </a:r>
            <a:endParaRPr lang="ru-RU" b="1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45EB04A-6019-4805-8E53-00666B07889A}"/>
              </a:ext>
            </a:extLst>
          </p:cNvPr>
          <p:cNvSpPr/>
          <p:nvPr/>
        </p:nvSpPr>
        <p:spPr>
          <a:xfrm>
            <a:off x="1067666" y="5970964"/>
            <a:ext cx="36112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506E6-1C6A-4E51-B415-7A580A6F9F97}"/>
              </a:ext>
            </a:extLst>
          </p:cNvPr>
          <p:cNvSpPr txBox="1"/>
          <p:nvPr/>
        </p:nvSpPr>
        <p:spPr>
          <a:xfrm>
            <a:off x="6571005" y="5966672"/>
            <a:ext cx="2823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Идентификатор </a:t>
            </a:r>
            <a:r>
              <a:rPr lang="en-US" b="1" dirty="0"/>
              <a:t>x</a:t>
            </a:r>
            <a:r>
              <a:rPr lang="ru-RU" dirty="0"/>
              <a:t> не виден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092B558-0FF9-4A28-8516-A32A3D75E454}"/>
              </a:ext>
            </a:extLst>
          </p:cNvPr>
          <p:cNvSpPr/>
          <p:nvPr/>
        </p:nvSpPr>
        <p:spPr>
          <a:xfrm>
            <a:off x="6209883" y="5966672"/>
            <a:ext cx="36112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1EB3B3-B960-4863-8046-0B9EAE1122D9}"/>
              </a:ext>
            </a:extLst>
          </p:cNvPr>
          <p:cNvSpPr txBox="1"/>
          <p:nvPr/>
        </p:nvSpPr>
        <p:spPr>
          <a:xfrm>
            <a:off x="6781340" y="4963168"/>
            <a:ext cx="2031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</a:rPr>
              <a:t>point of declaration</a:t>
            </a:r>
            <a:endParaRPr lang="ru-RU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1107F91-B365-431E-918B-CA8EB4CAAE8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209883" y="4472172"/>
            <a:ext cx="571457" cy="67566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15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3CD6-8F94-CCDB-BCFA-2302735FC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5D800C-5539-9AFD-9C30-9E1A34A0CF95}"/>
              </a:ext>
            </a:extLst>
          </p:cNvPr>
          <p:cNvSpPr/>
          <p:nvPr/>
        </p:nvSpPr>
        <p:spPr>
          <a:xfrm>
            <a:off x="9564757" y="3187147"/>
            <a:ext cx="566530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AE52567-C0F2-F382-38BC-8788F23B80F1}"/>
              </a:ext>
            </a:extLst>
          </p:cNvPr>
          <p:cNvSpPr/>
          <p:nvPr/>
        </p:nvSpPr>
        <p:spPr>
          <a:xfrm>
            <a:off x="9433891" y="3597964"/>
            <a:ext cx="697396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BBF65E4-48C9-B174-5EF7-3AF2BB2CCE7A}"/>
              </a:ext>
            </a:extLst>
          </p:cNvPr>
          <p:cNvSpPr/>
          <p:nvPr/>
        </p:nvSpPr>
        <p:spPr>
          <a:xfrm>
            <a:off x="9433891" y="3988903"/>
            <a:ext cx="697395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96EE3F6-7388-C91E-10FF-62E87FDD4828}"/>
              </a:ext>
            </a:extLst>
          </p:cNvPr>
          <p:cNvSpPr/>
          <p:nvPr/>
        </p:nvSpPr>
        <p:spPr>
          <a:xfrm>
            <a:off x="9974743" y="4379842"/>
            <a:ext cx="156543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32471A6D-DE0C-8576-0086-943B5AD9D5CD}"/>
              </a:ext>
            </a:extLst>
          </p:cNvPr>
          <p:cNvSpPr txBox="1">
            <a:spLocks/>
          </p:cNvSpPr>
          <p:nvPr/>
        </p:nvSpPr>
        <p:spPr>
          <a:xfrm>
            <a:off x="8067260" y="2796208"/>
            <a:ext cx="2286000" cy="1948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x =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s-E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b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56E3237-0BDD-A55D-5012-97791E662209}"/>
              </a:ext>
            </a:extLst>
          </p:cNvPr>
          <p:cNvSpPr/>
          <p:nvPr/>
        </p:nvSpPr>
        <p:spPr>
          <a:xfrm>
            <a:off x="6311348" y="3187148"/>
            <a:ext cx="566530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44F779-9C38-EC56-B9BA-66E2603A2E2E}"/>
              </a:ext>
            </a:extLst>
          </p:cNvPr>
          <p:cNvSpPr/>
          <p:nvPr/>
        </p:nvSpPr>
        <p:spPr>
          <a:xfrm>
            <a:off x="5436703" y="3568148"/>
            <a:ext cx="1441175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C391903-1B59-A0C6-36F8-9216A254E511}"/>
              </a:ext>
            </a:extLst>
          </p:cNvPr>
          <p:cNvSpPr/>
          <p:nvPr/>
        </p:nvSpPr>
        <p:spPr>
          <a:xfrm>
            <a:off x="4893366" y="3969025"/>
            <a:ext cx="159027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A61A6E6-56EF-9DA2-5A85-BFF9EF677159}"/>
              </a:ext>
            </a:extLst>
          </p:cNvPr>
          <p:cNvSpPr txBox="1">
            <a:spLocks/>
          </p:cNvSpPr>
          <p:nvPr/>
        </p:nvSpPr>
        <p:spPr>
          <a:xfrm>
            <a:off x="4813855" y="2796208"/>
            <a:ext cx="2286000" cy="1948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x = 1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ru-RU" sz="20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b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0B2D54-B3C4-7851-7A54-E6786D2D49AF}"/>
              </a:ext>
            </a:extLst>
          </p:cNvPr>
          <p:cNvSpPr/>
          <p:nvPr/>
        </p:nvSpPr>
        <p:spPr>
          <a:xfrm>
            <a:off x="3299791" y="3210339"/>
            <a:ext cx="367748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A0A0EA-8D6A-0C74-8411-2A28287C4997}"/>
              </a:ext>
            </a:extLst>
          </p:cNvPr>
          <p:cNvSpPr/>
          <p:nvPr/>
        </p:nvSpPr>
        <p:spPr>
          <a:xfrm>
            <a:off x="2435087" y="3591339"/>
            <a:ext cx="1232452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24096B-EDF9-464C-6F8B-7F10E9E00BD4}"/>
              </a:ext>
            </a:extLst>
          </p:cNvPr>
          <p:cNvSpPr/>
          <p:nvPr/>
        </p:nvSpPr>
        <p:spPr>
          <a:xfrm>
            <a:off x="1938130" y="3992216"/>
            <a:ext cx="159027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62BF94-17BC-2BEA-4CB9-6452892D8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42" y="2802835"/>
            <a:ext cx="2286000" cy="194806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30D41-1C04-80B4-ADC7-F15C028F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Scope</a:t>
            </a:r>
            <a:endParaRPr lang="ru-RU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327DC8-1421-FB34-831F-146A979DF710}"/>
              </a:ext>
            </a:extLst>
          </p:cNvPr>
          <p:cNvSpPr txBox="1"/>
          <p:nvPr/>
        </p:nvSpPr>
        <p:spPr>
          <a:xfrm>
            <a:off x="1428788" y="5970964"/>
            <a:ext cx="21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Область видимости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60A1C7D-3E93-B9C1-CB7A-4EE89C3CCB19}"/>
              </a:ext>
            </a:extLst>
          </p:cNvPr>
          <p:cNvSpPr/>
          <p:nvPr/>
        </p:nvSpPr>
        <p:spPr>
          <a:xfrm>
            <a:off x="1067666" y="5970964"/>
            <a:ext cx="36112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9960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6D38-4B34-A6ED-2B09-CB2FA368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B842C-E624-7550-2E3F-87511464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</a:rPr>
              <a:t>Повторное определение имени в одной области видимости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01FF1-2D79-6055-F130-02DCFEED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0" y="2407419"/>
            <a:ext cx="7797800" cy="33741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Объявляем и определяем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нарушение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ODR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нарушение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ODR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97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3E1D8B-B427-DAC5-BB61-E43263D9D1FE}"/>
              </a:ext>
            </a:extLst>
          </p:cNvPr>
          <p:cNvSpPr/>
          <p:nvPr/>
        </p:nvSpPr>
        <p:spPr>
          <a:xfrm>
            <a:off x="5004487" y="3780996"/>
            <a:ext cx="2496064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9051CB-709A-E9AE-A507-43E2B8ED0B76}"/>
              </a:ext>
            </a:extLst>
          </p:cNvPr>
          <p:cNvSpPr/>
          <p:nvPr/>
        </p:nvSpPr>
        <p:spPr>
          <a:xfrm>
            <a:off x="5004487" y="3397766"/>
            <a:ext cx="2496064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3AC109-3597-71E8-C27A-103672EA9395}"/>
              </a:ext>
            </a:extLst>
          </p:cNvPr>
          <p:cNvSpPr/>
          <p:nvPr/>
        </p:nvSpPr>
        <p:spPr>
          <a:xfrm>
            <a:off x="6363730" y="3013657"/>
            <a:ext cx="1136821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8E11C16-E144-BDC0-7981-35BD123E782E}"/>
              </a:ext>
            </a:extLst>
          </p:cNvPr>
          <p:cNvSpPr/>
          <p:nvPr/>
        </p:nvSpPr>
        <p:spPr>
          <a:xfrm>
            <a:off x="5004485" y="4163519"/>
            <a:ext cx="2496065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4AA3BC0-88A6-F496-7E00-E9146F9BBA47}"/>
              </a:ext>
            </a:extLst>
          </p:cNvPr>
          <p:cNvSpPr/>
          <p:nvPr/>
        </p:nvSpPr>
        <p:spPr>
          <a:xfrm>
            <a:off x="5004485" y="4546042"/>
            <a:ext cx="160639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Вложенные блоки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289041-05F1-448D-B1D7-D35931EA302F}"/>
              </a:ext>
            </a:extLst>
          </p:cNvPr>
          <p:cNvSpPr/>
          <p:nvPr/>
        </p:nvSpPr>
        <p:spPr>
          <a:xfrm>
            <a:off x="6786880" y="3780996"/>
            <a:ext cx="713670" cy="3578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048F6F5-FD53-41A9-910B-2732E13D4187}"/>
              </a:ext>
            </a:extLst>
          </p:cNvPr>
          <p:cNvSpPr/>
          <p:nvPr/>
        </p:nvSpPr>
        <p:spPr>
          <a:xfrm>
            <a:off x="5004485" y="4163518"/>
            <a:ext cx="573355" cy="3578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466" y="2600685"/>
            <a:ext cx="5533767" cy="31866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F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fr-F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31E09-CDBD-5789-A137-BADC56A24AF6}"/>
              </a:ext>
            </a:extLst>
          </p:cNvPr>
          <p:cNvSpPr txBox="1"/>
          <p:nvPr/>
        </p:nvSpPr>
        <p:spPr>
          <a:xfrm>
            <a:off x="1428788" y="5970964"/>
            <a:ext cx="395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Область видимости идентификатора </a:t>
            </a:r>
            <a:r>
              <a:rPr lang="en-US" b="1" dirty="0"/>
              <a:t>x</a:t>
            </a:r>
            <a:endParaRPr lang="ru-RU" b="1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2D3CAA9-BD74-FCF5-D43D-9A709D2EB7EA}"/>
              </a:ext>
            </a:extLst>
          </p:cNvPr>
          <p:cNvSpPr/>
          <p:nvPr/>
        </p:nvSpPr>
        <p:spPr>
          <a:xfrm>
            <a:off x="1067666" y="5970964"/>
            <a:ext cx="36112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1E1423-29B9-422F-B5AC-11592C56CE74}"/>
              </a:ext>
            </a:extLst>
          </p:cNvPr>
          <p:cNvSpPr txBox="1"/>
          <p:nvPr/>
        </p:nvSpPr>
        <p:spPr>
          <a:xfrm>
            <a:off x="6098774" y="5970964"/>
            <a:ext cx="429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Область видимости</a:t>
            </a:r>
            <a:r>
              <a:rPr lang="en-US" dirty="0"/>
              <a:t> </a:t>
            </a:r>
            <a:r>
              <a:rPr lang="ru-RU" dirty="0"/>
              <a:t>идентификатора</a:t>
            </a:r>
            <a:r>
              <a:rPr lang="en-US" dirty="0"/>
              <a:t> </a:t>
            </a:r>
            <a:r>
              <a:rPr lang="en-US" b="1" dirty="0"/>
              <a:t>x </a:t>
            </a:r>
            <a:r>
              <a:rPr lang="ru-RU" dirty="0"/>
              <a:t>и </a:t>
            </a:r>
            <a:r>
              <a:rPr lang="en-US" b="1" dirty="0"/>
              <a:t>y</a:t>
            </a:r>
            <a:endParaRPr lang="ru-RU" b="1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BE2821-01C4-40EF-9F73-8B8EC105DA60}"/>
              </a:ext>
            </a:extLst>
          </p:cNvPr>
          <p:cNvSpPr/>
          <p:nvPr/>
        </p:nvSpPr>
        <p:spPr>
          <a:xfrm>
            <a:off x="5737652" y="5970964"/>
            <a:ext cx="36112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3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00BA-25C4-E71D-168F-97BB9827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E965633-ED59-87E2-57D8-560A33407559}"/>
              </a:ext>
            </a:extLst>
          </p:cNvPr>
          <p:cNvGrpSpPr/>
          <p:nvPr/>
        </p:nvGrpSpPr>
        <p:grpSpPr>
          <a:xfrm>
            <a:off x="4860322" y="3315068"/>
            <a:ext cx="3171570" cy="2269794"/>
            <a:chOff x="4860322" y="3315068"/>
            <a:chExt cx="3171570" cy="2269794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C810BA4-8491-B372-A706-15A85B5D22A5}"/>
                </a:ext>
              </a:extLst>
            </p:cNvPr>
            <p:cNvSpPr/>
            <p:nvPr/>
          </p:nvSpPr>
          <p:spPr>
            <a:xfrm>
              <a:off x="4860324" y="4080821"/>
              <a:ext cx="3171568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307A48-8568-D4D4-ECA6-99C780ADBA66}"/>
                </a:ext>
              </a:extLst>
            </p:cNvPr>
            <p:cNvSpPr/>
            <p:nvPr/>
          </p:nvSpPr>
          <p:spPr>
            <a:xfrm>
              <a:off x="4860324" y="3697591"/>
              <a:ext cx="3171568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E180D18-46C0-3954-06D4-9E6C2AE5E69C}"/>
                </a:ext>
              </a:extLst>
            </p:cNvPr>
            <p:cNvSpPr/>
            <p:nvPr/>
          </p:nvSpPr>
          <p:spPr>
            <a:xfrm>
              <a:off x="6231925" y="3315068"/>
              <a:ext cx="1799967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625A2D7-E215-9F3C-D9E4-F47D716057CC}"/>
                </a:ext>
              </a:extLst>
            </p:cNvPr>
            <p:cNvSpPr/>
            <p:nvPr/>
          </p:nvSpPr>
          <p:spPr>
            <a:xfrm>
              <a:off x="4860322" y="4463344"/>
              <a:ext cx="3171570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0AECFEC-6C61-AF93-B01C-CE6049A97A9C}"/>
                </a:ext>
              </a:extLst>
            </p:cNvPr>
            <p:cNvSpPr/>
            <p:nvPr/>
          </p:nvSpPr>
          <p:spPr>
            <a:xfrm>
              <a:off x="4860322" y="4845867"/>
              <a:ext cx="3171570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7E353A14-B6CF-4F31-BE76-69A366C2BD5F}"/>
                </a:ext>
              </a:extLst>
            </p:cNvPr>
            <p:cNvSpPr/>
            <p:nvPr/>
          </p:nvSpPr>
          <p:spPr>
            <a:xfrm>
              <a:off x="4860322" y="5227053"/>
              <a:ext cx="119451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382332A-B493-E87C-DFF4-C4BB99D33AA0}"/>
              </a:ext>
            </a:extLst>
          </p:cNvPr>
          <p:cNvGrpSpPr/>
          <p:nvPr/>
        </p:nvGrpSpPr>
        <p:grpSpPr>
          <a:xfrm>
            <a:off x="4860321" y="4080820"/>
            <a:ext cx="3171570" cy="1126663"/>
            <a:chOff x="4860321" y="4080820"/>
            <a:chExt cx="3171570" cy="112666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817C88C0-E589-89C7-184C-AC99698A6D92}"/>
                </a:ext>
              </a:extLst>
            </p:cNvPr>
            <p:cNvSpPr/>
            <p:nvPr/>
          </p:nvSpPr>
          <p:spPr>
            <a:xfrm>
              <a:off x="6792970" y="4080820"/>
              <a:ext cx="1238921" cy="3578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572FDDF-0520-8916-D90A-50C4E5C880DA}"/>
                </a:ext>
              </a:extLst>
            </p:cNvPr>
            <p:cNvSpPr/>
            <p:nvPr/>
          </p:nvSpPr>
          <p:spPr>
            <a:xfrm>
              <a:off x="4860321" y="4463344"/>
              <a:ext cx="3171570" cy="3578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87B13A8-7549-3F88-974F-4319F735F360}"/>
                </a:ext>
              </a:extLst>
            </p:cNvPr>
            <p:cNvSpPr/>
            <p:nvPr/>
          </p:nvSpPr>
          <p:spPr>
            <a:xfrm>
              <a:off x="4860321" y="4849673"/>
              <a:ext cx="521537" cy="3578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154813-1D7B-49ED-90E6-A189C825D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4000" y="1835686"/>
            <a:ext cx="5533767" cy="31866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Вывод: 2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16ED5-21D3-F950-0EA4-7CEF30E4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Вложенные блоки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978CC-2EDA-518D-FB01-429540FB4E03}"/>
              </a:ext>
            </a:extLst>
          </p:cNvPr>
          <p:cNvSpPr txBox="1"/>
          <p:nvPr/>
        </p:nvSpPr>
        <p:spPr>
          <a:xfrm>
            <a:off x="1428788" y="5970964"/>
            <a:ext cx="395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Область видимости идентификатора </a:t>
            </a:r>
            <a:r>
              <a:rPr lang="en-US" b="1" dirty="0"/>
              <a:t>x</a:t>
            </a:r>
            <a:endParaRPr lang="ru-RU" b="1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0FC2502-2E26-A58A-3500-049F26880DF0}"/>
              </a:ext>
            </a:extLst>
          </p:cNvPr>
          <p:cNvSpPr/>
          <p:nvPr/>
        </p:nvSpPr>
        <p:spPr>
          <a:xfrm>
            <a:off x="1067666" y="5970964"/>
            <a:ext cx="36112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974715-027C-FD0D-0A8D-32B5D242379D}"/>
              </a:ext>
            </a:extLst>
          </p:cNvPr>
          <p:cNvSpPr txBox="1"/>
          <p:nvPr/>
        </p:nvSpPr>
        <p:spPr>
          <a:xfrm>
            <a:off x="6098774" y="5970964"/>
            <a:ext cx="5190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Область видимости</a:t>
            </a:r>
            <a:r>
              <a:rPr lang="en-US" dirty="0"/>
              <a:t> </a:t>
            </a:r>
            <a:r>
              <a:rPr lang="ru-RU" b="1" dirty="0"/>
              <a:t>вложенного</a:t>
            </a:r>
            <a:r>
              <a:rPr lang="ru-RU" dirty="0"/>
              <a:t> идентификатора </a:t>
            </a:r>
            <a:r>
              <a:rPr lang="en-US" b="1" dirty="0"/>
              <a:t>x</a:t>
            </a:r>
            <a:endParaRPr lang="ru-RU" b="1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58487A9-CD26-EEDF-2D41-D113466B30BD}"/>
              </a:ext>
            </a:extLst>
          </p:cNvPr>
          <p:cNvSpPr/>
          <p:nvPr/>
        </p:nvSpPr>
        <p:spPr>
          <a:xfrm>
            <a:off x="5737652" y="5970964"/>
            <a:ext cx="36112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Левая круглая скобка 19">
            <a:extLst>
              <a:ext uri="{FF2B5EF4-FFF2-40B4-BE49-F238E27FC236}">
                <a16:creationId xmlns:a16="http://schemas.microsoft.com/office/drawing/2014/main" id="{7D02EA17-EF02-B274-20A0-EEE5CB528A02}"/>
              </a:ext>
            </a:extLst>
          </p:cNvPr>
          <p:cNvSpPr/>
          <p:nvPr/>
        </p:nvSpPr>
        <p:spPr>
          <a:xfrm>
            <a:off x="4660270" y="3315068"/>
            <a:ext cx="119450" cy="2269794"/>
          </a:xfrm>
          <a:prstGeom prst="lef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82A708-0DDB-E6A4-3D7C-6775025C4F9B}"/>
              </a:ext>
            </a:extLst>
          </p:cNvPr>
          <p:cNvSpPr txBox="1"/>
          <p:nvPr/>
        </p:nvSpPr>
        <p:spPr>
          <a:xfrm>
            <a:off x="1645242" y="3936559"/>
            <a:ext cx="2934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Потенциальная область видимости идентификатора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C2C57A-6934-4774-9263-C6213D0E71EE}"/>
              </a:ext>
            </a:extLst>
          </p:cNvPr>
          <p:cNvSpPr txBox="1"/>
          <p:nvPr/>
        </p:nvSpPr>
        <p:spPr>
          <a:xfrm>
            <a:off x="8615680" y="3686068"/>
            <a:ext cx="12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shadowing</a:t>
            </a:r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063DE71-AE61-4771-AD42-397A4C93A4B6}"/>
              </a:ext>
            </a:extLst>
          </p:cNvPr>
          <p:cNvCxnSpPr/>
          <p:nvPr/>
        </p:nvCxnSpPr>
        <p:spPr>
          <a:xfrm flipH="1">
            <a:off x="8031891" y="3876495"/>
            <a:ext cx="563469" cy="765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9015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32CB-9DAB-82F5-F010-A0E27E56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CDABD-8312-300D-06EC-12801DC7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Вложенные блоки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62C085-665E-C586-2A15-6E4C06817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000" y="2997138"/>
            <a:ext cx="9753600" cy="3154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y;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EDCB61A-A170-5F03-C768-86C803E21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37636"/>
              </p:ext>
            </p:extLst>
          </p:nvPr>
        </p:nvGraphicFramePr>
        <p:xfrm>
          <a:off x="5222192" y="1513528"/>
          <a:ext cx="4255439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8089">
                  <a:extLst>
                    <a:ext uri="{9D8B030D-6E8A-4147-A177-3AD203B41FA5}">
                      <a16:colId xmlns:a16="http://schemas.microsoft.com/office/drawing/2014/main" val="2044122583"/>
                    </a:ext>
                  </a:extLst>
                </a:gridCol>
                <a:gridCol w="618316">
                  <a:extLst>
                    <a:ext uri="{9D8B030D-6E8A-4147-A177-3AD203B41FA5}">
                      <a16:colId xmlns:a16="http://schemas.microsoft.com/office/drawing/2014/main" val="3216876202"/>
                    </a:ext>
                  </a:extLst>
                </a:gridCol>
                <a:gridCol w="1729034">
                  <a:extLst>
                    <a:ext uri="{9D8B030D-6E8A-4147-A177-3AD203B41FA5}">
                      <a16:colId xmlns:a16="http://schemas.microsoft.com/office/drawing/2014/main" val="1801689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Адрес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23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989156"/>
                  </a:ext>
                </a:extLst>
              </a:tr>
            </a:tbl>
          </a:graphicData>
        </a:graphic>
      </p:graphicFrame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0C4400B-E9C9-9A6F-EC8F-347EE6E37BEB}"/>
              </a:ext>
            </a:extLst>
          </p:cNvPr>
          <p:cNvCxnSpPr>
            <a:cxnSpLocks/>
          </p:cNvCxnSpPr>
          <p:nvPr/>
        </p:nvCxnSpPr>
        <p:spPr>
          <a:xfrm>
            <a:off x="1325217" y="3391929"/>
            <a:ext cx="1059637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D066916-A06D-0AB4-EB48-B9A2F9F8B695}"/>
              </a:ext>
            </a:extLst>
          </p:cNvPr>
          <p:cNvCxnSpPr>
            <a:cxnSpLocks/>
          </p:cNvCxnSpPr>
          <p:nvPr/>
        </p:nvCxnSpPr>
        <p:spPr>
          <a:xfrm>
            <a:off x="1325217" y="3766661"/>
            <a:ext cx="1059637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8287730-6B17-4C1F-6CA6-12E9D487A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34693"/>
              </p:ext>
            </p:extLst>
          </p:nvPr>
        </p:nvGraphicFramePr>
        <p:xfrm>
          <a:off x="5222193" y="2444077"/>
          <a:ext cx="4255438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8088">
                  <a:extLst>
                    <a:ext uri="{9D8B030D-6E8A-4147-A177-3AD203B41FA5}">
                      <a16:colId xmlns:a16="http://schemas.microsoft.com/office/drawing/2014/main" val="2044122583"/>
                    </a:ext>
                  </a:extLst>
                </a:gridCol>
                <a:gridCol w="618316">
                  <a:extLst>
                    <a:ext uri="{9D8B030D-6E8A-4147-A177-3AD203B41FA5}">
                      <a16:colId xmlns:a16="http://schemas.microsoft.com/office/drawing/2014/main" val="3216876202"/>
                    </a:ext>
                  </a:extLst>
                </a:gridCol>
                <a:gridCol w="1729034">
                  <a:extLst>
                    <a:ext uri="{9D8B030D-6E8A-4147-A177-3AD203B41FA5}">
                      <a16:colId xmlns:a16="http://schemas.microsoft.com/office/drawing/2014/main" val="1801689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Адрес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23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82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989156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A1F5277-71EC-9F17-56E9-6429F73DB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95245"/>
              </p:ext>
            </p:extLst>
          </p:nvPr>
        </p:nvGraphicFramePr>
        <p:xfrm>
          <a:off x="5222192" y="3745466"/>
          <a:ext cx="4255438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8088">
                  <a:extLst>
                    <a:ext uri="{9D8B030D-6E8A-4147-A177-3AD203B41FA5}">
                      <a16:colId xmlns:a16="http://schemas.microsoft.com/office/drawing/2014/main" val="2044122583"/>
                    </a:ext>
                  </a:extLst>
                </a:gridCol>
                <a:gridCol w="618316">
                  <a:extLst>
                    <a:ext uri="{9D8B030D-6E8A-4147-A177-3AD203B41FA5}">
                      <a16:colId xmlns:a16="http://schemas.microsoft.com/office/drawing/2014/main" val="3216876202"/>
                    </a:ext>
                  </a:extLst>
                </a:gridCol>
                <a:gridCol w="1729034">
                  <a:extLst>
                    <a:ext uri="{9D8B030D-6E8A-4147-A177-3AD203B41FA5}">
                      <a16:colId xmlns:a16="http://schemas.microsoft.com/office/drawing/2014/main" val="1801689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Адрес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23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28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82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989156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034E1DD8-93EC-43EF-7BD3-DC8C9BDC3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81182"/>
              </p:ext>
            </p:extLst>
          </p:nvPr>
        </p:nvGraphicFramePr>
        <p:xfrm>
          <a:off x="5222192" y="5417695"/>
          <a:ext cx="4255438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8088">
                  <a:extLst>
                    <a:ext uri="{9D8B030D-6E8A-4147-A177-3AD203B41FA5}">
                      <a16:colId xmlns:a16="http://schemas.microsoft.com/office/drawing/2014/main" val="2044122583"/>
                    </a:ext>
                  </a:extLst>
                </a:gridCol>
                <a:gridCol w="618316">
                  <a:extLst>
                    <a:ext uri="{9D8B030D-6E8A-4147-A177-3AD203B41FA5}">
                      <a16:colId xmlns:a16="http://schemas.microsoft.com/office/drawing/2014/main" val="3216876202"/>
                    </a:ext>
                  </a:extLst>
                </a:gridCol>
                <a:gridCol w="1729034">
                  <a:extLst>
                    <a:ext uri="{9D8B030D-6E8A-4147-A177-3AD203B41FA5}">
                      <a16:colId xmlns:a16="http://schemas.microsoft.com/office/drawing/2014/main" val="1801689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Адрес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23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82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0x7ffe6625f9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989156"/>
                  </a:ext>
                </a:extLst>
              </a:tr>
            </a:tbl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00515D62-B350-3308-288D-091DAA13A985}"/>
              </a:ext>
            </a:extLst>
          </p:cNvPr>
          <p:cNvCxnSpPr>
            <a:cxnSpLocks/>
          </p:cNvCxnSpPr>
          <p:nvPr/>
        </p:nvCxnSpPr>
        <p:spPr>
          <a:xfrm>
            <a:off x="1325217" y="4524542"/>
            <a:ext cx="1541551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FC316C0E-DEC1-A6F1-DC1F-B6016B353B73}"/>
              </a:ext>
            </a:extLst>
          </p:cNvPr>
          <p:cNvCxnSpPr>
            <a:cxnSpLocks/>
          </p:cNvCxnSpPr>
          <p:nvPr/>
        </p:nvCxnSpPr>
        <p:spPr>
          <a:xfrm>
            <a:off x="1325217" y="4994098"/>
            <a:ext cx="1059637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CB4FC58-F57C-F17D-C346-95F29EDFA09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384854" y="1884368"/>
            <a:ext cx="2837338" cy="1501292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19DFE3-2159-C9A6-288A-E21522372976}"/>
              </a:ext>
            </a:extLst>
          </p:cNvPr>
          <p:cNvCxnSpPr>
            <a:cxnSpLocks/>
          </p:cNvCxnSpPr>
          <p:nvPr/>
        </p:nvCxnSpPr>
        <p:spPr>
          <a:xfrm flipV="1">
            <a:off x="2384854" y="2823300"/>
            <a:ext cx="2837339" cy="943361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109BE32-17F0-10CD-C112-02969EA76B53}"/>
              </a:ext>
            </a:extLst>
          </p:cNvPr>
          <p:cNvCxnSpPr>
            <a:cxnSpLocks/>
          </p:cNvCxnSpPr>
          <p:nvPr/>
        </p:nvCxnSpPr>
        <p:spPr>
          <a:xfrm flipV="1">
            <a:off x="2866768" y="4127590"/>
            <a:ext cx="2355425" cy="390951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B8D9AF9A-FEFB-E4DC-0B29-31B6AF600BB8}"/>
              </a:ext>
            </a:extLst>
          </p:cNvPr>
          <p:cNvCxnSpPr>
            <a:cxnSpLocks/>
          </p:cNvCxnSpPr>
          <p:nvPr/>
        </p:nvCxnSpPr>
        <p:spPr>
          <a:xfrm>
            <a:off x="2384854" y="4988062"/>
            <a:ext cx="2837339" cy="792293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5679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00BA-25C4-E71D-168F-97BB9827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2154813-1D7B-49ED-90E6-A189C825D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715" y="2333526"/>
            <a:ext cx="6506805" cy="386407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6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6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6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Выделяем память под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Выделяем память под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y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Освобождаем память занятую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y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Освобождаем память занятую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16ED5-21D3-F950-0EA4-7CEF30E4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Время жизни (</a:t>
            </a:r>
            <a:r>
              <a:rPr lang="en-US" sz="4000" dirty="0"/>
              <a:t>Storage duration</a:t>
            </a:r>
            <a:r>
              <a:rPr lang="ru-RU" sz="4000" dirty="0"/>
              <a:t>)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708EC614-1707-41B6-AECB-7F31DC655B1E}"/>
              </a:ext>
            </a:extLst>
          </p:cNvPr>
          <p:cNvSpPr txBox="1">
            <a:spLocks/>
          </p:cNvSpPr>
          <p:nvPr/>
        </p:nvSpPr>
        <p:spPr>
          <a:xfrm>
            <a:off x="1260000" y="1800000"/>
            <a:ext cx="986433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/>
              <a:t>Локальные переменные/константы, без доп. квалификаторов, обладают автоматическим временем жизни (</a:t>
            </a:r>
            <a:r>
              <a:rPr lang="en-US" sz="2000" dirty="0"/>
              <a:t>automatic storage duration</a:t>
            </a:r>
            <a:r>
              <a:rPr lang="ru-RU" sz="2000" dirty="0"/>
              <a:t>). Они создаются в точке объявления и уничтожаются при выходе из области видимости. Если идентификатор не вышел из области видимости, а был скрыт (</a:t>
            </a:r>
            <a:r>
              <a:rPr lang="en-US" sz="2000" dirty="0"/>
              <a:t>shadowing</a:t>
            </a:r>
            <a:r>
              <a:rPr lang="ru-RU" sz="2000" dirty="0"/>
              <a:t>) объект не уничтожается.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259122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C307-0DD0-EABC-2D32-70544190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24F36-D7B7-8084-B198-74BBF054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Selection Statements (</a:t>
            </a:r>
            <a:r>
              <a:rPr lang="ru-RU" sz="4000" b="1" dirty="0"/>
              <a:t>Стейтменты выбора)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1559A-E0DE-272A-0BA1-1C4AB271C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99" y="1800000"/>
            <a:ext cx="1020918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В стандарте указано 2 вида:</a:t>
            </a:r>
            <a:endParaRPr lang="en-US" sz="2400" dirty="0"/>
          </a:p>
          <a:p>
            <a:r>
              <a:rPr lang="en-US" sz="2400" dirty="0"/>
              <a:t>if statement</a:t>
            </a:r>
            <a:r>
              <a:rPr lang="ru-RU" sz="2400" dirty="0"/>
              <a:t> – условный оператор </a:t>
            </a:r>
            <a:r>
              <a:rPr lang="en-US" sz="2400" dirty="0"/>
              <a:t>if;</a:t>
            </a:r>
            <a:endParaRPr lang="ru-RU" sz="2400" dirty="0"/>
          </a:p>
          <a:p>
            <a:r>
              <a:rPr lang="en-US" sz="2400" dirty="0"/>
              <a:t>switch statement – </a:t>
            </a:r>
            <a:r>
              <a:rPr lang="ru-RU" sz="2400" dirty="0"/>
              <a:t>оператор множественного выбора </a:t>
            </a:r>
            <a:r>
              <a:rPr lang="en-US" sz="2400" dirty="0"/>
              <a:t>switch.</a:t>
            </a:r>
          </a:p>
          <a:p>
            <a:endParaRPr lang="en-US" sz="2000" dirty="0"/>
          </a:p>
          <a:p>
            <a:endParaRPr lang="ru-RU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ru-RU" sz="2000" b="1" dirty="0">
                <a:solidFill>
                  <a:schemeClr val="bg1">
                    <a:lumMod val="75000"/>
                  </a:schemeClr>
                </a:solidFill>
              </a:rPr>
              <a:t>Внимание! 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На самом деле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if 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и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switch 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– не операторы, а </a:t>
            </a:r>
            <a:r>
              <a:rPr lang="ru-RU" sz="2000" dirty="0" err="1">
                <a:solidFill>
                  <a:schemeClr val="bg1">
                    <a:lumMod val="75000"/>
                  </a:schemeClr>
                </a:solidFill>
              </a:rPr>
              <a:t>стейтменты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. Некорректный перевод на русский настолько закрепился в языке, что стал почти каноном.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000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Условный оператор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51CA0D-BE85-20D4-21F6-87F25116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" y="1452563"/>
            <a:ext cx="97631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01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Тип </a:t>
            </a:r>
            <a:r>
              <a:rPr lang="en-US" sz="4000" dirty="0">
                <a:solidFill>
                  <a:srgbClr val="333333"/>
                </a:solidFill>
              </a:rPr>
              <a:t>bool 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en-US" sz="2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Истина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2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Ложь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1800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Маленькими буквами</a:t>
            </a:r>
          </a:p>
        </p:txBody>
      </p:sp>
    </p:spTree>
    <p:extLst>
      <p:ext uri="{BB962C8B-B14F-4D97-AF65-F5344CB8AC3E}">
        <p14:creationId xmlns:p14="http://schemas.microsoft.com/office/powerpoint/2010/main" val="37097087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>
                <a:solidFill>
                  <a:srgbClr val="333333"/>
                </a:solidFill>
              </a:rPr>
              <a:t>Преобразование</a:t>
            </a:r>
            <a:r>
              <a:rPr lang="ru-RU" dirty="0">
                <a:solidFill>
                  <a:srgbClr val="333333"/>
                </a:solidFill>
              </a:rPr>
              <a:t> типа </a:t>
            </a:r>
            <a:r>
              <a:rPr lang="en-US" dirty="0">
                <a:solidFill>
                  <a:srgbClr val="333333"/>
                </a:solidFill>
              </a:rPr>
              <a:t>bool 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ru-RU" sz="2000" b="1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b="1" dirty="0">
                <a:solidFill>
                  <a:srgbClr val="000000"/>
                </a:solidFill>
                <a:effectLst/>
              </a:rPr>
              <a:t>Преобразование </a:t>
            </a:r>
            <a:r>
              <a:rPr lang="ru-RU" sz="2000" b="1" dirty="0" err="1">
                <a:solidFill>
                  <a:srgbClr val="0000FF"/>
                </a:solidFill>
                <a:effectLst/>
              </a:rPr>
              <a:t>bool</a:t>
            </a:r>
            <a:r>
              <a:rPr lang="ru-RU" sz="2000" b="1" dirty="0">
                <a:solidFill>
                  <a:srgbClr val="000000"/>
                </a:solidFill>
                <a:effectLst/>
              </a:rPr>
              <a:t> в числовые типы:</a:t>
            </a:r>
          </a:p>
          <a:p>
            <a:pPr>
              <a:spcBef>
                <a:spcPts val="600"/>
              </a:spcBef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Значение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true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преобразуется в </a:t>
            </a:r>
            <a:r>
              <a:rPr lang="ru-RU" sz="2000" b="0" dirty="0">
                <a:solidFill>
                  <a:srgbClr val="098658"/>
                </a:solidFill>
                <a:effectLst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для типов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,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float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,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double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и других числовых типов</a:t>
            </a:r>
            <a:r>
              <a:rPr lang="en-US" sz="2000" b="0" dirty="0">
                <a:solidFill>
                  <a:srgbClr val="000000"/>
                </a:solidFill>
                <a:effectLst/>
              </a:rPr>
              <a:t>;</a:t>
            </a:r>
            <a:endParaRPr lang="ru-RU" sz="2000" b="0" dirty="0">
              <a:solidFill>
                <a:srgbClr val="000000"/>
              </a:solidFill>
              <a:effectLst/>
            </a:endParaRPr>
          </a:p>
          <a:p>
            <a:pPr>
              <a:spcBef>
                <a:spcPts val="600"/>
              </a:spcBef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Значение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false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преобразуется в </a:t>
            </a:r>
            <a:r>
              <a:rPr lang="ru-RU" sz="2000" b="0" dirty="0">
                <a:solidFill>
                  <a:srgbClr val="098658"/>
                </a:solidFill>
                <a:effectLst/>
              </a:rPr>
              <a:t>0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для типов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,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float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,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double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и других числовых типов</a:t>
            </a:r>
            <a:r>
              <a:rPr lang="en-US" sz="2000" b="0" dirty="0">
                <a:solidFill>
                  <a:srgbClr val="000000"/>
                </a:solidFill>
                <a:effectLst/>
              </a:rPr>
              <a:t>;</a:t>
            </a: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000" b="1" dirty="0">
                <a:solidFill>
                  <a:srgbClr val="000000"/>
                </a:solidFill>
                <a:effectLst/>
              </a:rPr>
              <a:t>Преобразование числовых типов в </a:t>
            </a:r>
            <a:r>
              <a:rPr lang="ru-RU" sz="2000" b="1" dirty="0" err="1">
                <a:solidFill>
                  <a:srgbClr val="0000FF"/>
                </a:solidFill>
                <a:effectLst/>
              </a:rPr>
              <a:t>bool</a:t>
            </a:r>
            <a:r>
              <a:rPr lang="ru-RU" sz="2000" b="1" dirty="0">
                <a:solidFill>
                  <a:srgbClr val="000000"/>
                </a:solidFill>
                <a:effectLst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Любое </a:t>
            </a:r>
            <a:r>
              <a:rPr lang="ru-RU" sz="2000" b="0" dirty="0" err="1">
                <a:solidFill>
                  <a:srgbClr val="000000"/>
                </a:solidFill>
                <a:effectLst/>
              </a:rPr>
              <a:t>НЕнулевое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значение числового типа преобразуется в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true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  <a:endParaRPr lang="ru-RU" sz="2000" b="0" dirty="0">
              <a:solidFill>
                <a:srgbClr val="000000"/>
              </a:solidFill>
              <a:effectLst/>
            </a:endParaRPr>
          </a:p>
          <a:p>
            <a:pPr>
              <a:spcBef>
                <a:spcPts val="600"/>
              </a:spcBef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Значение </a:t>
            </a:r>
            <a:r>
              <a:rPr lang="ru-RU" sz="2000" b="0" dirty="0">
                <a:solidFill>
                  <a:srgbClr val="098658"/>
                </a:solidFill>
                <a:effectLst/>
              </a:rPr>
              <a:t>0</a:t>
            </a:r>
            <a:r>
              <a:rPr lang="ru-RU" sz="2000" b="0" dirty="0">
                <a:solidFill>
                  <a:srgbClr val="000000"/>
                </a:solidFill>
                <a:effectLst/>
              </a:rPr>
              <a:t> числового типа преобразуется в </a:t>
            </a:r>
            <a:r>
              <a:rPr lang="ru-RU" sz="2000" b="0" dirty="0" err="1">
                <a:solidFill>
                  <a:srgbClr val="0000FF"/>
                </a:solidFill>
                <a:effectLst/>
              </a:rPr>
              <a:t>false</a:t>
            </a:r>
            <a:r>
              <a:rPr lang="en-US" sz="2000" dirty="0">
                <a:solidFill>
                  <a:srgbClr val="000000"/>
                </a:solidFill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chemeClr val="bg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Преобразование происходит автоматически</a:t>
            </a:r>
            <a:endParaRPr lang="ru-RU" sz="2000" b="0" dirty="0">
              <a:solidFill>
                <a:schemeClr val="bg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3016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Преобразование типа </a:t>
            </a:r>
            <a:r>
              <a:rPr lang="en-US" sz="4000" dirty="0">
                <a:solidFill>
                  <a:srgbClr val="333333"/>
                </a:solidFill>
              </a:rPr>
              <a:t>bool 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int,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равно 1</a:t>
            </a:r>
            <a:endParaRPr lang="ru-RU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float,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равно 0</a:t>
            </a:r>
            <a:endParaRPr lang="ru-RU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bool,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b2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равно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6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bool,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b2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равно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b3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num3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bool,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b2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равно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"int: "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"float: "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умолчанию тип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выводится на экран как 1 и 0</a:t>
            </a:r>
            <a:endParaRPr lang="ru-RU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меняет способ вывода на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</a:t>
            </a:r>
            <a:r>
              <a:rPr lang="ru-RU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"bool: "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"bool: "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b3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69868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Откуда берётся </a:t>
            </a:r>
            <a:r>
              <a:rPr lang="en-US" sz="4000" dirty="0">
                <a:solidFill>
                  <a:srgbClr val="333333"/>
                </a:solidFill>
              </a:rPr>
              <a:t>true </a:t>
            </a:r>
            <a:r>
              <a:rPr lang="ru-RU" sz="4000" dirty="0">
                <a:solidFill>
                  <a:srgbClr val="333333"/>
                </a:solidFill>
              </a:rPr>
              <a:t>и </a:t>
            </a:r>
            <a:r>
              <a:rPr lang="en-US" sz="4000" dirty="0">
                <a:solidFill>
                  <a:srgbClr val="333333"/>
                </a:solidFill>
              </a:rPr>
              <a:t>false</a:t>
            </a:r>
            <a:endParaRPr lang="ru-RU" sz="40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616BC6-3430-F68C-BBA9-DF0B86A6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Операторы сравнения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3" name="Таблица 14">
            <a:extLst>
              <a:ext uri="{FF2B5EF4-FFF2-40B4-BE49-F238E27FC236}">
                <a16:creationId xmlns:a16="http://schemas.microsoft.com/office/drawing/2014/main" id="{05F6C3D3-FA8A-26BE-67D7-4E3821574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3885"/>
              </p:ext>
            </p:extLst>
          </p:nvPr>
        </p:nvGraphicFramePr>
        <p:xfrm>
          <a:off x="1600200" y="2703354"/>
          <a:ext cx="7919149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91451">
                  <a:extLst>
                    <a:ext uri="{9D8B030D-6E8A-4147-A177-3AD203B41FA5}">
                      <a16:colId xmlns:a16="http://schemas.microsoft.com/office/drawing/2014/main" val="1481471315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3286879739"/>
                    </a:ext>
                  </a:extLst>
                </a:gridCol>
                <a:gridCol w="2588768">
                  <a:extLst>
                    <a:ext uri="{9D8B030D-6E8A-4147-A177-3AD203B41FA5}">
                      <a16:colId xmlns:a16="http://schemas.microsoft.com/office/drawing/2014/main" val="39124843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3839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Проверяет 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81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Равенство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r>
                        <a:rPr lang="ru-RU" dirty="0">
                          <a:effectLst/>
                        </a:rPr>
                        <a:t> ==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false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6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Неравенство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r>
                        <a:rPr lang="ru-RU" dirty="0">
                          <a:effectLst/>
                        </a:rPr>
                        <a:t> !=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66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Меньше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3 &lt;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98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Больше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r>
                        <a:rPr lang="ru-RU" dirty="0">
                          <a:effectLst/>
                        </a:rPr>
                        <a:t> &gt;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false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8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Меньше или равно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</a:t>
                      </a:r>
                      <a:r>
                        <a:rPr lang="ru-RU" dirty="0">
                          <a:effectLst/>
                        </a:rPr>
                        <a:t> &lt;=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66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Больше или равно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</a:t>
                      </a:r>
                      <a:r>
                        <a:rPr lang="ru-RU" dirty="0">
                          <a:effectLst/>
                        </a:rPr>
                        <a:t> &gt;= </a:t>
                      </a:r>
                      <a:r>
                        <a:rPr lang="en-US" dirty="0">
                          <a:effectLst/>
                        </a:rPr>
                        <a:t>7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true</a:t>
                      </a:r>
                      <a:endParaRPr lang="ru-RU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2272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40A4B6-B46F-40F8-ADE2-B74DF8569F3E}"/>
              </a:ext>
            </a:extLst>
          </p:cNvPr>
          <p:cNvSpPr txBox="1"/>
          <p:nvPr/>
        </p:nvSpPr>
        <p:spPr>
          <a:xfrm>
            <a:off x="1488688" y="5719229"/>
            <a:ext cx="9753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>
                <a:solidFill>
                  <a:schemeClr val="bg1">
                    <a:lumMod val="75000"/>
                  </a:schemeClr>
                </a:solidFill>
              </a:rPr>
              <a:t>Начиная с </a:t>
            </a:r>
            <a:r>
              <a:rPr lang="ru-RU" sz="1700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sz="1700" dirty="0">
                <a:solidFill>
                  <a:schemeClr val="bg1">
                    <a:lumMod val="75000"/>
                  </a:schemeClr>
                </a:solidFill>
              </a:rPr>
              <a:t>++ 20 был добавлен оператор трёхстороннего сравнения </a:t>
            </a:r>
            <a:r>
              <a:rPr lang="en-US" sz="1700" dirty="0">
                <a:solidFill>
                  <a:schemeClr val="bg1">
                    <a:lumMod val="75000"/>
                  </a:schemeClr>
                </a:solidFill>
              </a:rPr>
              <a:t>&lt;=&gt; ("spaceship" </a:t>
            </a:r>
            <a:r>
              <a:rPr lang="ru-RU" sz="1700" dirty="0">
                <a:solidFill>
                  <a:schemeClr val="bg1">
                    <a:lumMod val="75000"/>
                  </a:schemeClr>
                </a:solidFill>
              </a:rPr>
              <a:t>космический корабль). Этот оператор возвращает не тип </a:t>
            </a:r>
            <a:r>
              <a:rPr lang="en-US" sz="1700" dirty="0">
                <a:solidFill>
                  <a:schemeClr val="bg1">
                    <a:lumMod val="75000"/>
                  </a:schemeClr>
                </a:solidFill>
              </a:rPr>
              <a:t>bool</a:t>
            </a:r>
            <a:r>
              <a:rPr lang="ru-RU" sz="1700" dirty="0">
                <a:solidFill>
                  <a:schemeClr val="bg1">
                    <a:lumMod val="75000"/>
                  </a:schemeClr>
                </a:solidFill>
              </a:rPr>
              <a:t>, поэтому здесь не будем его рассматривать.</a:t>
            </a:r>
          </a:p>
        </p:txBody>
      </p:sp>
    </p:spTree>
    <p:extLst>
      <p:ext uri="{BB962C8B-B14F-4D97-AF65-F5344CB8AC3E}">
        <p14:creationId xmlns:p14="http://schemas.microsoft.com/office/powerpoint/2010/main" val="40281431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Логические операторы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r>
              <a:rPr lang="ru-RU" sz="1800" dirty="0"/>
              <a:t>Логические операторы применяются только к операндам типа </a:t>
            </a:r>
            <a:r>
              <a:rPr lang="en-US" sz="1800" dirty="0">
                <a:latin typeface="Consolas" panose="020B0609020204030204" pitchFamily="49" charset="0"/>
              </a:rPr>
              <a:t>bool</a:t>
            </a:r>
            <a:r>
              <a:rPr lang="ru-RU" sz="1800" dirty="0"/>
              <a:t>, поэтому перед их применением будет попытка преобразовать операнды в </a:t>
            </a:r>
            <a:r>
              <a:rPr lang="en-US" sz="1800" dirty="0">
                <a:latin typeface="Consolas" panose="020B0609020204030204" pitchFamily="49" charset="0"/>
              </a:rPr>
              <a:t>bool</a:t>
            </a:r>
            <a:r>
              <a:rPr lang="ru-RU" sz="1800" dirty="0"/>
              <a:t>. Если это не возможно, то получаем ошибку.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800" b="0" dirty="0">
                <a:effectLst/>
              </a:rPr>
              <a:t>Операторы </a:t>
            </a:r>
            <a:r>
              <a:rPr lang="ru-RU" sz="1800" dirty="0"/>
              <a:t>И </a:t>
            </a:r>
            <a:r>
              <a:rPr lang="ru-RU" sz="1800" dirty="0" err="1"/>
              <a:t>и</a:t>
            </a:r>
            <a:r>
              <a:rPr lang="ru-RU" sz="1800" dirty="0"/>
              <a:t> ИЛИ вычисляются по сокращённым правилам: если результат можно получить вычислив первый аргумент, второй не вычисляется: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пусто 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0" dirty="0">
              <a:effectLst/>
            </a:endParaRP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51B323FB-86CA-2F23-AD9D-CE7876924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88189"/>
              </p:ext>
            </p:extLst>
          </p:nvPr>
        </p:nvGraphicFramePr>
        <p:xfrm>
          <a:off x="1188974" y="1886427"/>
          <a:ext cx="4668901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63955">
                  <a:extLst>
                    <a:ext uri="{9D8B030D-6E8A-4147-A177-3AD203B41FA5}">
                      <a16:colId xmlns:a16="http://schemas.microsoft.com/office/drawing/2014/main" val="1214395674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1607375117"/>
                    </a:ext>
                  </a:extLst>
                </a:gridCol>
                <a:gridCol w="746379">
                  <a:extLst>
                    <a:ext uri="{9D8B030D-6E8A-4147-A177-3AD203B41FA5}">
                      <a16:colId xmlns:a16="http://schemas.microsoft.com/office/drawing/2014/main" val="3408613901"/>
                    </a:ext>
                  </a:extLst>
                </a:gridCol>
                <a:gridCol w="943293">
                  <a:extLst>
                    <a:ext uri="{9D8B030D-6E8A-4147-A177-3AD203B41FA5}">
                      <a16:colId xmlns:a16="http://schemas.microsoft.com/office/drawing/2014/main" val="4288831101"/>
                    </a:ext>
                  </a:extLst>
                </a:gridCol>
                <a:gridCol w="1039304">
                  <a:extLst>
                    <a:ext uri="{9D8B030D-6E8A-4147-A177-3AD203B41FA5}">
                      <a16:colId xmlns:a16="http://schemas.microsoft.com/office/drawing/2014/main" val="2006717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Название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Как выглядит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Как использовать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549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&amp;&amp;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&amp;&amp; b;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and b;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3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||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|| b;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or b;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!a;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a;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84318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612D97-C4FA-DD33-EBFD-8A3A73068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089261"/>
              </p:ext>
            </p:extLst>
          </p:nvPr>
        </p:nvGraphicFramePr>
        <p:xfrm>
          <a:off x="6856094" y="1701007"/>
          <a:ext cx="3737612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65798">
                  <a:extLst>
                    <a:ext uri="{9D8B030D-6E8A-4147-A177-3AD203B41FA5}">
                      <a16:colId xmlns:a16="http://schemas.microsoft.com/office/drawing/2014/main" val="1214395674"/>
                    </a:ext>
                  </a:extLst>
                </a:gridCol>
                <a:gridCol w="665798">
                  <a:extLst>
                    <a:ext uri="{9D8B030D-6E8A-4147-A177-3AD203B41FA5}">
                      <a16:colId xmlns:a16="http://schemas.microsoft.com/office/drawing/2014/main" val="1607375117"/>
                    </a:ext>
                  </a:extLst>
                </a:gridCol>
                <a:gridCol w="921068">
                  <a:extLst>
                    <a:ext uri="{9D8B030D-6E8A-4147-A177-3AD203B41FA5}">
                      <a16:colId xmlns:a16="http://schemas.microsoft.com/office/drawing/2014/main" val="3408613901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4288831101"/>
                    </a:ext>
                  </a:extLst>
                </a:gridCol>
                <a:gridCol w="714693">
                  <a:extLst>
                    <a:ext uri="{9D8B030D-6E8A-4147-A177-3AD203B41FA5}">
                      <a16:colId xmlns:a16="http://schemas.microsoft.com/office/drawing/2014/main" val="2006717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and b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or b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not a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3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84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3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37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142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Операторы сравнения. Возможные ошибки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true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/>
              <a:t>Последнее выражение вычисляется последовательно: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/>
              <a:t> </a:t>
            </a:r>
            <a:endParaRPr lang="ru-RU" sz="2000" dirty="0"/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0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true &lt;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2</a:t>
            </a:r>
            <a:endParaRPr lang="ru-RU" sz="2000" b="0" dirty="0">
              <a:solidFill>
                <a:srgbClr val="09865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effectLst/>
                <a:latin typeface="Consolas" panose="020B0609020204030204" pitchFamily="49" charset="0"/>
              </a:rPr>
              <a:t>       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true</a:t>
            </a:r>
            <a:endParaRPr lang="ru-RU" sz="20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/>
              <a:t>Если хотите получить результат по математическим правилам</a:t>
            </a:r>
            <a:r>
              <a:rPr lang="en-US" sz="2000" dirty="0"/>
              <a:t> </a:t>
            </a:r>
            <a:r>
              <a:rPr lang="ru-RU" sz="2000" dirty="0"/>
              <a:t>пишите: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a) and (a &lt;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false</a:t>
            </a:r>
          </a:p>
          <a:p>
            <a:pPr marL="0" indent="0">
              <a:buNone/>
            </a:pP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447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7724F2-6001-4117-A3AF-0EDABBD26B19}"/>
              </a:ext>
            </a:extLst>
          </p:cNvPr>
          <p:cNvSpPr/>
          <p:nvPr/>
        </p:nvSpPr>
        <p:spPr>
          <a:xfrm>
            <a:off x="6742770" y="3205975"/>
            <a:ext cx="1074234" cy="4460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B309B1-C1CF-444A-8CD9-24537811FF83}"/>
              </a:ext>
            </a:extLst>
          </p:cNvPr>
          <p:cNvSpPr/>
          <p:nvPr/>
        </p:nvSpPr>
        <p:spPr>
          <a:xfrm>
            <a:off x="4694663" y="3205976"/>
            <a:ext cx="1795346" cy="4460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f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171" y="2665141"/>
            <a:ext cx="7506629" cy="351182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Выражение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Тело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3C15BA-5A68-4398-82CD-7FC261D762FF}"/>
              </a:ext>
            </a:extLst>
          </p:cNvPr>
          <p:cNvSpPr txBox="1"/>
          <p:nvPr/>
        </p:nvSpPr>
        <p:spPr>
          <a:xfrm>
            <a:off x="6320902" y="1888860"/>
            <a:ext cx="1875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Главная ветвь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ABE35909-958C-484A-871E-1622B0D5DC13}"/>
              </a:ext>
            </a:extLst>
          </p:cNvPr>
          <p:cNvCxnSpPr>
            <a:cxnSpLocks/>
          </p:cNvCxnSpPr>
          <p:nvPr/>
        </p:nvCxnSpPr>
        <p:spPr>
          <a:xfrm>
            <a:off x="7269675" y="2288970"/>
            <a:ext cx="0" cy="813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3CF33B1-E724-43A6-BA22-F9C2FB40822B}"/>
              </a:ext>
            </a:extLst>
          </p:cNvPr>
          <p:cNvSpPr txBox="1"/>
          <p:nvPr/>
        </p:nvSpPr>
        <p:spPr>
          <a:xfrm>
            <a:off x="5909957" y="4626477"/>
            <a:ext cx="27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Один любой </a:t>
            </a:r>
            <a:r>
              <a:rPr lang="ru-RU" sz="2000" dirty="0" err="1"/>
              <a:t>стейтмент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0A5E3A6-AA59-43DF-8EF4-A3F85E396EE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7267925" y="3780263"/>
            <a:ext cx="0" cy="84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7A45C62-F59E-4FAA-AAEB-71C666FE2500}"/>
              </a:ext>
            </a:extLst>
          </p:cNvPr>
          <p:cNvSpPr txBox="1"/>
          <p:nvPr/>
        </p:nvSpPr>
        <p:spPr>
          <a:xfrm>
            <a:off x="1738020" y="4628040"/>
            <a:ext cx="3636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Результат должен быть</a:t>
            </a:r>
          </a:p>
          <a:p>
            <a:r>
              <a:rPr lang="ru-RU" sz="2000" dirty="0" err="1"/>
              <a:t>булевого</a:t>
            </a:r>
            <a:r>
              <a:rPr lang="ru-RU" sz="2000" dirty="0"/>
              <a:t> типа или приводимый к нему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3E602FC4-5809-4B1B-88CF-7041D3F1C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556454" y="3780263"/>
            <a:ext cx="1892776" cy="84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0724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f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741774" y="1690688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если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910303" y="1690688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C3129-8BC2-D066-501B-33664D27A6CD}"/>
              </a:ext>
            </a:extLst>
          </p:cNvPr>
          <p:cNvSpPr txBox="1"/>
          <p:nvPr/>
        </p:nvSpPr>
        <p:spPr>
          <a:xfrm>
            <a:off x="7308256" y="1690688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63FED-A5D8-4AEA-E233-C07A9271E1CC}"/>
              </a:ext>
            </a:extLst>
          </p:cNvPr>
          <p:cNvSpPr txBox="1"/>
          <p:nvPr/>
        </p:nvSpPr>
        <p:spPr>
          <a:xfrm>
            <a:off x="741774" y="3733770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если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6D809-42D1-CBDF-2F83-0A55C6959359}"/>
              </a:ext>
            </a:extLst>
          </p:cNvPr>
          <p:cNvSpPr txBox="1"/>
          <p:nvPr/>
        </p:nvSpPr>
        <p:spPr>
          <a:xfrm>
            <a:off x="3879338" y="3725619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7308256" y="3733770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1B6117-96D5-E33C-2F32-A008F01B096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010711" y="2090798"/>
            <a:ext cx="1268937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608576" y="20907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09E27DF-E576-EE6A-805D-5C71393EF8D5}"/>
              </a:ext>
            </a:extLst>
          </p:cNvPr>
          <p:cNvCxnSpPr>
            <a:stCxn id="9" idx="2"/>
          </p:cNvCxnSpPr>
          <p:nvPr/>
        </p:nvCxnSpPr>
        <p:spPr>
          <a:xfrm flipH="1">
            <a:off x="7644384" y="2090798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4084320" y="2267712"/>
            <a:ext cx="1170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BD15690-68B7-6638-F9FA-9BA32245304A}"/>
              </a:ext>
            </a:extLst>
          </p:cNvPr>
          <p:cNvCxnSpPr>
            <a:cxnSpLocks/>
          </p:cNvCxnSpPr>
          <p:nvPr/>
        </p:nvCxnSpPr>
        <p:spPr>
          <a:xfrm>
            <a:off x="5541264" y="2261616"/>
            <a:ext cx="4044863" cy="6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2DD6BF1-6606-EB61-84F2-FDA1F3AE8C3E}"/>
              </a:ext>
            </a:extLst>
          </p:cNvPr>
          <p:cNvCxnSpPr>
            <a:cxnSpLocks/>
          </p:cNvCxnSpPr>
          <p:nvPr/>
        </p:nvCxnSpPr>
        <p:spPr>
          <a:xfrm>
            <a:off x="2010711" y="4134705"/>
            <a:ext cx="1268937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B61C2E-B9A0-8ABC-1590-653BB407DF98}"/>
              </a:ext>
            </a:extLst>
          </p:cNvPr>
          <p:cNvCxnSpPr/>
          <p:nvPr/>
        </p:nvCxnSpPr>
        <p:spPr>
          <a:xfrm>
            <a:off x="4608576" y="4134705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7644384" y="413470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388F9A2-D873-9278-1621-B104C8BB6A2A}"/>
              </a:ext>
            </a:extLst>
          </p:cNvPr>
          <p:cNvCxnSpPr>
            <a:cxnSpLocks/>
          </p:cNvCxnSpPr>
          <p:nvPr/>
        </p:nvCxnSpPr>
        <p:spPr>
          <a:xfrm>
            <a:off x="4084320" y="4311619"/>
            <a:ext cx="1170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5447170" y="4305523"/>
            <a:ext cx="39406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/>
          <p:nvPr/>
        </p:nvCxnSpPr>
        <p:spPr>
          <a:xfrm>
            <a:off x="9387840" y="4305523"/>
            <a:ext cx="0" cy="151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8266176" y="581558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9911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f(</a:t>
            </a:r>
            <a:r>
              <a:rPr lang="ru-RU" sz="4000" b="0" i="0" dirty="0">
                <a:solidFill>
                  <a:srgbClr val="333333"/>
                </a:solidFill>
                <a:effectLst/>
              </a:rPr>
              <a:t>инициализация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; </a:t>
            </a:r>
            <a:r>
              <a:rPr lang="ru-RU" sz="4000" dirty="0">
                <a:solidFill>
                  <a:srgbClr val="333333"/>
                </a:solidFill>
              </a:rPr>
              <a:t>проверка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)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25625"/>
            <a:ext cx="9753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 res =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&gt; b; res)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283458" y="2262188"/>
            <a:ext cx="1669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init</a:t>
            </a:r>
            <a:r>
              <a:rPr lang="en-US" sz="2000" dirty="0"/>
              <a:t>-statement</a:t>
            </a:r>
            <a:endParaRPr lang="ru-RU" sz="2000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094226" y="26622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2505075" y="2839212"/>
            <a:ext cx="29813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7456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DB3B47-B541-45FC-834F-5D6AF2B0650C}"/>
              </a:ext>
            </a:extLst>
          </p:cNvPr>
          <p:cNvSpPr/>
          <p:nvPr/>
        </p:nvSpPr>
        <p:spPr>
          <a:xfrm>
            <a:off x="4880515" y="3700570"/>
            <a:ext cx="1795344" cy="44604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7724F2-6001-4117-A3AF-0EDABBD26B19}"/>
              </a:ext>
            </a:extLst>
          </p:cNvPr>
          <p:cNvSpPr/>
          <p:nvPr/>
        </p:nvSpPr>
        <p:spPr>
          <a:xfrm>
            <a:off x="6742768" y="3205975"/>
            <a:ext cx="1598343" cy="4460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B309B1-C1CF-444A-8CD9-24537811FF83}"/>
              </a:ext>
            </a:extLst>
          </p:cNvPr>
          <p:cNvSpPr/>
          <p:nvPr/>
        </p:nvSpPr>
        <p:spPr>
          <a:xfrm>
            <a:off x="4694663" y="3205976"/>
            <a:ext cx="1795346" cy="4460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228" y="2677929"/>
            <a:ext cx="7506629" cy="351182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Выражение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Тело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_if</a:t>
            </a: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ru-RU" dirty="0">
                <a:solidFill>
                  <a:srgbClr val="AF00DB"/>
                </a:solidFill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Тело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_else</a:t>
            </a: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f-else</a:t>
            </a:r>
            <a:endParaRPr lang="ru-RU" sz="4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3C15BA-5A68-4398-82CD-7FC261D762FF}"/>
              </a:ext>
            </a:extLst>
          </p:cNvPr>
          <p:cNvSpPr txBox="1"/>
          <p:nvPr/>
        </p:nvSpPr>
        <p:spPr>
          <a:xfrm>
            <a:off x="6666587" y="1888860"/>
            <a:ext cx="189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Главная ветвь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ABE35909-958C-484A-871E-1622B0D5DC13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7613610" y="2288970"/>
            <a:ext cx="0" cy="79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3CF33B1-E724-43A6-BA22-F9C2FB40822B}"/>
              </a:ext>
            </a:extLst>
          </p:cNvPr>
          <p:cNvSpPr txBox="1"/>
          <p:nvPr/>
        </p:nvSpPr>
        <p:spPr>
          <a:xfrm>
            <a:off x="9032299" y="3478213"/>
            <a:ext cx="27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Один любой </a:t>
            </a:r>
            <a:r>
              <a:rPr lang="ru-RU" sz="2000" dirty="0" err="1"/>
              <a:t>стейтмент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0A5E3A6-AA59-43DF-8EF4-A3F85E396EEE}"/>
              </a:ext>
            </a:extLst>
          </p:cNvPr>
          <p:cNvCxnSpPr>
            <a:cxnSpLocks/>
          </p:cNvCxnSpPr>
          <p:nvPr/>
        </p:nvCxnSpPr>
        <p:spPr>
          <a:xfrm flipH="1">
            <a:off x="6824546" y="3944261"/>
            <a:ext cx="1873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1E8FC0-A637-4AFE-A935-26BFAE55C96E}"/>
              </a:ext>
            </a:extLst>
          </p:cNvPr>
          <p:cNvSpPr txBox="1"/>
          <p:nvPr/>
        </p:nvSpPr>
        <p:spPr>
          <a:xfrm>
            <a:off x="4848723" y="5106637"/>
            <a:ext cx="1903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Побочная ветвь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A8C074F-853A-4C0E-A233-5A24F68BADD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800555" y="4314159"/>
            <a:ext cx="0" cy="7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A59CAFFC-8DD1-40D3-A1EC-CFDD88495C2C}"/>
              </a:ext>
            </a:extLst>
          </p:cNvPr>
          <p:cNvCxnSpPr>
            <a:cxnSpLocks/>
          </p:cNvCxnSpPr>
          <p:nvPr/>
        </p:nvCxnSpPr>
        <p:spPr>
          <a:xfrm flipH="1">
            <a:off x="8426606" y="3428999"/>
            <a:ext cx="271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47B94D1-0DC8-4FD3-8FFE-9B869B370DC2}"/>
              </a:ext>
            </a:extLst>
          </p:cNvPr>
          <p:cNvCxnSpPr/>
          <p:nvPr/>
        </p:nvCxnSpPr>
        <p:spPr>
          <a:xfrm>
            <a:off x="8697951" y="3428999"/>
            <a:ext cx="0" cy="515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C3BF99F-1AD4-4D37-9C44-F4D29B47D833}"/>
              </a:ext>
            </a:extLst>
          </p:cNvPr>
          <p:cNvCxnSpPr>
            <a:cxnSpLocks/>
          </p:cNvCxnSpPr>
          <p:nvPr/>
        </p:nvCxnSpPr>
        <p:spPr>
          <a:xfrm>
            <a:off x="8701514" y="3679660"/>
            <a:ext cx="3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6510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f-else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325994" y="1840446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если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893058" y="1252538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C3129-8BC2-D066-501B-33664D27A6CD}"/>
              </a:ext>
            </a:extLst>
          </p:cNvPr>
          <p:cNvSpPr txBox="1"/>
          <p:nvPr/>
        </p:nvSpPr>
        <p:spPr>
          <a:xfrm>
            <a:off x="10192618" y="1832197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 </a:t>
            </a:r>
            <a:r>
              <a:rPr lang="en-US" sz="2000" b="1" dirty="0"/>
              <a:t>if</a:t>
            </a:r>
            <a:endParaRPr lang="ru-R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6D809-42D1-CBDF-2F83-0A55C6959359}"/>
              </a:ext>
            </a:extLst>
          </p:cNvPr>
          <p:cNvSpPr txBox="1"/>
          <p:nvPr/>
        </p:nvSpPr>
        <p:spPr>
          <a:xfrm>
            <a:off x="3893058" y="3286095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608576" y="165264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4084320" y="1829562"/>
            <a:ext cx="10972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B61C2E-B9A0-8ABC-1590-653BB407DF98}"/>
              </a:ext>
            </a:extLst>
          </p:cNvPr>
          <p:cNvCxnSpPr/>
          <p:nvPr/>
        </p:nvCxnSpPr>
        <p:spPr>
          <a:xfrm>
            <a:off x="4608576" y="3687030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388F9A2-D873-9278-1621-B104C8BB6A2A}"/>
              </a:ext>
            </a:extLst>
          </p:cNvPr>
          <p:cNvCxnSpPr>
            <a:cxnSpLocks/>
          </p:cNvCxnSpPr>
          <p:nvPr/>
        </p:nvCxnSpPr>
        <p:spPr>
          <a:xfrm>
            <a:off x="4084320" y="3863944"/>
            <a:ext cx="10972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B8B398-DA59-3DDF-6B86-E9E2E8BE5F2F}"/>
              </a:ext>
            </a:extLst>
          </p:cNvPr>
          <p:cNvSpPr txBox="1"/>
          <p:nvPr/>
        </p:nvSpPr>
        <p:spPr>
          <a:xfrm>
            <a:off x="325994" y="2371264"/>
            <a:ext cx="2686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иначе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12E3D-45FA-E08B-1617-6390EF7D7855}"/>
              </a:ext>
            </a:extLst>
          </p:cNvPr>
          <p:cNvSpPr txBox="1"/>
          <p:nvPr/>
        </p:nvSpPr>
        <p:spPr>
          <a:xfrm>
            <a:off x="10192618" y="2372881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 </a:t>
            </a:r>
            <a:r>
              <a:rPr lang="en-US" sz="2000" b="1" dirty="0"/>
              <a:t>else</a:t>
            </a:r>
            <a:endParaRPr lang="ru-RU" sz="2000" b="1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03FC24E-3FE0-FC9C-B132-6EC0F40A0E4C}"/>
              </a:ext>
            </a:extLst>
          </p:cNvPr>
          <p:cNvCxnSpPr>
            <a:stCxn id="6" idx="3"/>
          </p:cNvCxnSpPr>
          <p:nvPr/>
        </p:nvCxnSpPr>
        <p:spPr>
          <a:xfrm>
            <a:off x="2863868" y="2040501"/>
            <a:ext cx="415780" cy="7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93358A4-7518-F872-C080-B57BDFA2A863}"/>
              </a:ext>
            </a:extLst>
          </p:cNvPr>
          <p:cNvCxnSpPr>
            <a:stCxn id="5" idx="3"/>
          </p:cNvCxnSpPr>
          <p:nvPr/>
        </p:nvCxnSpPr>
        <p:spPr>
          <a:xfrm>
            <a:off x="3012948" y="2571319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C3AECB44-612E-FBEF-5CAE-B1ED0065FB35}"/>
              </a:ext>
            </a:extLst>
          </p:cNvPr>
          <p:cNvCxnSpPr>
            <a:stCxn id="9" idx="1"/>
          </p:cNvCxnSpPr>
          <p:nvPr/>
        </p:nvCxnSpPr>
        <p:spPr>
          <a:xfrm flipH="1">
            <a:off x="9705975" y="2032252"/>
            <a:ext cx="486643" cy="8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11C0162-2E35-D14C-34B3-111A6A5C0AF0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8266176" y="2571319"/>
            <a:ext cx="1926442" cy="1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8C346C0-2706-E1CF-DED9-B3F281B17EAD}"/>
              </a:ext>
            </a:extLst>
          </p:cNvPr>
          <p:cNvSpPr txBox="1"/>
          <p:nvPr/>
        </p:nvSpPr>
        <p:spPr>
          <a:xfrm>
            <a:off x="379210" y="3889627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если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357481-3784-5B57-A878-146B45FB3488}"/>
              </a:ext>
            </a:extLst>
          </p:cNvPr>
          <p:cNvSpPr txBox="1"/>
          <p:nvPr/>
        </p:nvSpPr>
        <p:spPr>
          <a:xfrm>
            <a:off x="379210" y="4915745"/>
            <a:ext cx="2686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 </a:t>
            </a:r>
            <a:r>
              <a:rPr lang="ru-RU" sz="2000" b="1" dirty="0"/>
              <a:t>иначе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B161A08B-9EE4-C005-8F3A-177105D9766F}"/>
              </a:ext>
            </a:extLst>
          </p:cNvPr>
          <p:cNvCxnSpPr>
            <a:stCxn id="36" idx="3"/>
          </p:cNvCxnSpPr>
          <p:nvPr/>
        </p:nvCxnSpPr>
        <p:spPr>
          <a:xfrm>
            <a:off x="2917084" y="4089682"/>
            <a:ext cx="415780" cy="7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7CFAEE2-963E-F599-7E28-C8F786D40B18}"/>
              </a:ext>
            </a:extLst>
          </p:cNvPr>
          <p:cNvCxnSpPr>
            <a:stCxn id="37" idx="3"/>
          </p:cNvCxnSpPr>
          <p:nvPr/>
        </p:nvCxnSpPr>
        <p:spPr>
          <a:xfrm>
            <a:off x="3066164" y="5115800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0558A4D-C1A5-1734-4D20-8E4D72CA9D27}"/>
              </a:ext>
            </a:extLst>
          </p:cNvPr>
          <p:cNvSpPr txBox="1"/>
          <p:nvPr/>
        </p:nvSpPr>
        <p:spPr>
          <a:xfrm>
            <a:off x="10192618" y="4403947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 </a:t>
            </a:r>
            <a:r>
              <a:rPr lang="en-US" sz="2000" b="1" dirty="0"/>
              <a:t>if</a:t>
            </a:r>
            <a:endParaRPr lang="ru-RU" sz="2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687DAC-8074-1BDF-F8C1-B2E6BEDE9B03}"/>
              </a:ext>
            </a:extLst>
          </p:cNvPr>
          <p:cNvSpPr txBox="1"/>
          <p:nvPr/>
        </p:nvSpPr>
        <p:spPr>
          <a:xfrm>
            <a:off x="10192618" y="5487556"/>
            <a:ext cx="1151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 </a:t>
            </a:r>
            <a:r>
              <a:rPr lang="en-US" sz="2000" b="1" dirty="0"/>
              <a:t>else</a:t>
            </a:r>
            <a:endParaRPr lang="ru-RU" sz="2000" b="1" dirty="0"/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217525B5-83B0-CA38-4B29-0648FECB01DE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8324850" y="4604002"/>
            <a:ext cx="1867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3E7A687-C8A0-3454-F105-8AA68D596D53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991475" y="5687611"/>
            <a:ext cx="2201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12F7F914-885C-A760-077E-BF9788F4CC8D}"/>
              </a:ext>
            </a:extLst>
          </p:cNvPr>
          <p:cNvCxnSpPr/>
          <p:nvPr/>
        </p:nvCxnSpPr>
        <p:spPr>
          <a:xfrm>
            <a:off x="8324850" y="3889627"/>
            <a:ext cx="0" cy="12261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E4F68243-1405-3015-9149-D7068DEE6717}"/>
              </a:ext>
            </a:extLst>
          </p:cNvPr>
          <p:cNvCxnSpPr/>
          <p:nvPr/>
        </p:nvCxnSpPr>
        <p:spPr>
          <a:xfrm>
            <a:off x="7991475" y="5115800"/>
            <a:ext cx="0" cy="1227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816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if </a:t>
            </a:r>
            <a:r>
              <a:rPr lang="ru-RU" sz="4000" dirty="0"/>
              <a:t>и область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666" y="2546989"/>
            <a:ext cx="3296579" cy="21356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1888B2F9-170D-4BFA-8596-564E2FE932DD}"/>
              </a:ext>
            </a:extLst>
          </p:cNvPr>
          <p:cNvSpPr txBox="1">
            <a:spLocks/>
          </p:cNvSpPr>
          <p:nvPr/>
        </p:nvSpPr>
        <p:spPr>
          <a:xfrm>
            <a:off x="4657493" y="2546989"/>
            <a:ext cx="3754244" cy="3186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60ED6BC-895B-474E-9923-6D0A483E0197}"/>
              </a:ext>
            </a:extLst>
          </p:cNvPr>
          <p:cNvSpPr txBox="1">
            <a:spLocks/>
          </p:cNvSpPr>
          <p:nvPr/>
        </p:nvSpPr>
        <p:spPr>
          <a:xfrm>
            <a:off x="8623610" y="2546989"/>
            <a:ext cx="3018263" cy="3186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8418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if </a:t>
            </a:r>
            <a:r>
              <a:rPr lang="ru-RU" sz="4000" dirty="0"/>
              <a:t>и область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076" y="2903491"/>
            <a:ext cx="3296579" cy="21356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?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60ED6BC-895B-474E-9923-6D0A483E0197}"/>
              </a:ext>
            </a:extLst>
          </p:cNvPr>
          <p:cNvSpPr txBox="1">
            <a:spLocks/>
          </p:cNvSpPr>
          <p:nvPr/>
        </p:nvSpPr>
        <p:spPr>
          <a:xfrm>
            <a:off x="6783659" y="1802130"/>
            <a:ext cx="3018263" cy="21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8500B05-EDD4-4B2A-B60C-CDEBB76C3511}"/>
              </a:ext>
            </a:extLst>
          </p:cNvPr>
          <p:cNvSpPr txBox="1">
            <a:spLocks/>
          </p:cNvSpPr>
          <p:nvPr/>
        </p:nvSpPr>
        <p:spPr>
          <a:xfrm>
            <a:off x="6783659" y="4116294"/>
            <a:ext cx="3018263" cy="213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2;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2D65DC1-DB6C-44B7-A7C8-A5527C75E434}"/>
              </a:ext>
            </a:extLst>
          </p:cNvPr>
          <p:cNvCxnSpPr>
            <a:stCxn id="3" idx="3"/>
            <a:endCxn id="14" idx="1"/>
          </p:cNvCxnSpPr>
          <p:nvPr/>
        </p:nvCxnSpPr>
        <p:spPr>
          <a:xfrm flipV="1">
            <a:off x="4910655" y="2869935"/>
            <a:ext cx="1873004" cy="1101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CE5B47B0-CB2D-450A-B4A4-9314B7366D2A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4910655" y="3971296"/>
            <a:ext cx="1873004" cy="1212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BF9E8E-136B-4B3C-8F72-AE654E84C8CD}"/>
              </a:ext>
            </a:extLst>
          </p:cNvPr>
          <p:cNvSpPr txBox="1"/>
          <p:nvPr/>
        </p:nvSpPr>
        <p:spPr>
          <a:xfrm rot="19800000">
            <a:off x="5195058" y="3116003"/>
            <a:ext cx="93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главная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2DE3A-5CBE-48ED-9CEB-4EB0478738FB}"/>
              </a:ext>
            </a:extLst>
          </p:cNvPr>
          <p:cNvSpPr txBox="1"/>
          <p:nvPr/>
        </p:nvSpPr>
        <p:spPr>
          <a:xfrm rot="1980000">
            <a:off x="5101539" y="4524053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побочная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B5C4B33-5490-4A81-B62E-5C30876C5D9F}"/>
              </a:ext>
            </a:extLst>
          </p:cNvPr>
          <p:cNvCxnSpPr>
            <a:cxnSpLocks/>
          </p:cNvCxnSpPr>
          <p:nvPr/>
        </p:nvCxnSpPr>
        <p:spPr>
          <a:xfrm>
            <a:off x="6235473" y="4046797"/>
            <a:ext cx="36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6660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if </a:t>
            </a:r>
            <a:r>
              <a:rPr lang="ru-RU" sz="4000" dirty="0"/>
              <a:t>и область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520000"/>
            <a:ext cx="3296579" cy="21356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a) 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1888B2F9-170D-4BFA-8596-564E2FE932DD}"/>
              </a:ext>
            </a:extLst>
          </p:cNvPr>
          <p:cNvSpPr txBox="1">
            <a:spLocks/>
          </p:cNvSpPr>
          <p:nvPr/>
        </p:nvSpPr>
        <p:spPr>
          <a:xfrm>
            <a:off x="4389869" y="2520000"/>
            <a:ext cx="3754244" cy="3186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a) 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60ED6BC-895B-474E-9923-6D0A483E0197}"/>
              </a:ext>
            </a:extLst>
          </p:cNvPr>
          <p:cNvSpPr txBox="1">
            <a:spLocks/>
          </p:cNvSpPr>
          <p:nvPr/>
        </p:nvSpPr>
        <p:spPr>
          <a:xfrm>
            <a:off x="8333684" y="2520000"/>
            <a:ext cx="3754244" cy="3186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 ОК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8916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if </a:t>
            </a:r>
            <a:r>
              <a:rPr lang="ru-RU" sz="4000" dirty="0"/>
              <a:t>и область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519999"/>
            <a:ext cx="3770780" cy="24088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a)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 ОК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60ED6BC-895B-474E-9923-6D0A483E0197}"/>
              </a:ext>
            </a:extLst>
          </p:cNvPr>
          <p:cNvSpPr txBox="1">
            <a:spLocks/>
          </p:cNvSpPr>
          <p:nvPr/>
        </p:nvSpPr>
        <p:spPr>
          <a:xfrm>
            <a:off x="6306291" y="2341581"/>
            <a:ext cx="4343124" cy="3186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a)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{ 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ОК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20969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595E085-F734-E3DC-57A8-DFDE5A9BF248}"/>
              </a:ext>
            </a:extLst>
          </p:cNvPr>
          <p:cNvSpPr/>
          <p:nvPr/>
        </p:nvSpPr>
        <p:spPr>
          <a:xfrm>
            <a:off x="941787" y="1274823"/>
            <a:ext cx="2016253" cy="10338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287F455-9174-6C98-5780-398DB215CE57}"/>
              </a:ext>
            </a:extLst>
          </p:cNvPr>
          <p:cNvSpPr/>
          <p:nvPr/>
        </p:nvSpPr>
        <p:spPr>
          <a:xfrm>
            <a:off x="3238262" y="1274823"/>
            <a:ext cx="2105031" cy="198734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034A5AB-67C8-8FC4-F568-B9649D462BE8}"/>
              </a:ext>
            </a:extLst>
          </p:cNvPr>
          <p:cNvSpPr/>
          <p:nvPr/>
        </p:nvSpPr>
        <p:spPr>
          <a:xfrm>
            <a:off x="5623515" y="1274823"/>
            <a:ext cx="2822452" cy="29625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1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2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092ACDB-C974-ED1B-6AAF-DB88B2624247}"/>
              </a:ext>
            </a:extLst>
          </p:cNvPr>
          <p:cNvSpPr/>
          <p:nvPr/>
        </p:nvSpPr>
        <p:spPr>
          <a:xfrm>
            <a:off x="8725351" y="1274823"/>
            <a:ext cx="2521655" cy="515540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условие */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false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A07F1D-B901-9677-2CDE-705113712730}"/>
              </a:ext>
            </a:extLst>
          </p:cNvPr>
          <p:cNvSpPr txBox="1"/>
          <p:nvPr/>
        </p:nvSpPr>
        <p:spPr>
          <a:xfrm>
            <a:off x="941787" y="747075"/>
            <a:ext cx="201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</a:t>
            </a:r>
            <a:endParaRPr lang="ru-RU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D6AEB-91C4-6132-8E5C-B31F2C682892}"/>
              </a:ext>
            </a:extLst>
          </p:cNvPr>
          <p:cNvSpPr txBox="1"/>
          <p:nvPr/>
        </p:nvSpPr>
        <p:spPr>
          <a:xfrm>
            <a:off x="3238262" y="747075"/>
            <a:ext cx="210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If-else</a:t>
            </a:r>
            <a:endParaRPr lang="ru-RU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C3CFB0-F05E-2F6C-1204-7614F014D4C4}"/>
              </a:ext>
            </a:extLst>
          </p:cNvPr>
          <p:cNvSpPr txBox="1"/>
          <p:nvPr/>
        </p:nvSpPr>
        <p:spPr>
          <a:xfrm>
            <a:off x="5623515" y="747075"/>
            <a:ext cx="282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If-else if</a:t>
            </a:r>
            <a:endParaRPr lang="ru-RU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8D768C-71CB-E231-A8C1-A8CFEAAFF6D0}"/>
              </a:ext>
            </a:extLst>
          </p:cNvPr>
          <p:cNvSpPr txBox="1"/>
          <p:nvPr/>
        </p:nvSpPr>
        <p:spPr>
          <a:xfrm>
            <a:off x="8725352" y="742455"/>
            <a:ext cx="252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Вложенный</a:t>
            </a:r>
            <a:r>
              <a:rPr lang="en-US" b="1" dirty="0"/>
              <a:t> if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313269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If-else</a:t>
            </a:r>
            <a:r>
              <a:rPr lang="ru-RU" sz="4000" dirty="0">
                <a:solidFill>
                  <a:srgbClr val="333333"/>
                </a:solidFill>
              </a:rPr>
              <a:t> (ошибки)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774" y="1825625"/>
            <a:ext cx="820102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b);</a:t>
            </a:r>
          </a:p>
          <a:p>
            <a:pPr marL="0" indent="0">
              <a:buNone/>
            </a:pPr>
            <a:endParaRPr lang="ru-RU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b){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c)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"Bye"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41205394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If</a:t>
            </a:r>
            <a:r>
              <a:rPr lang="ru-RU" sz="4000" dirty="0">
                <a:solidFill>
                  <a:srgbClr val="333333"/>
                </a:solidFill>
              </a:rPr>
              <a:t> (другие формы)</a:t>
            </a:r>
            <a:endParaRPr lang="ru-RU" sz="40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85CD0BA-7B6C-4DDB-99D4-81AAEE8C6180}"/>
              </a:ext>
            </a:extLst>
          </p:cNvPr>
          <p:cNvSpPr txBox="1">
            <a:spLocks/>
          </p:cNvSpPr>
          <p:nvPr/>
        </p:nvSpPr>
        <p:spPr>
          <a:xfrm>
            <a:off x="1259999" y="1800000"/>
            <a:ext cx="10209189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/>
              <a:t>Существуют ещё две формы </a:t>
            </a:r>
            <a:r>
              <a:rPr lang="en-US" sz="2000" dirty="0"/>
              <a:t>if </a:t>
            </a:r>
            <a:r>
              <a:rPr lang="ru-RU" sz="2000" dirty="0"/>
              <a:t>не связанные с потоком </a:t>
            </a:r>
            <a:r>
              <a:rPr lang="ru-RU" sz="2000" b="1" dirty="0"/>
              <a:t>исполнения</a:t>
            </a:r>
            <a:r>
              <a:rPr lang="ru-RU" sz="2000" dirty="0"/>
              <a:t> программы (изучим позже):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r>
              <a:rPr lang="ru-RU" sz="2000" dirty="0" err="1"/>
              <a:t>if</a:t>
            </a:r>
            <a:r>
              <a:rPr lang="ru-RU" sz="2000" dirty="0"/>
              <a:t> </a:t>
            </a:r>
            <a:r>
              <a:rPr lang="ru-RU" sz="2000" dirty="0" err="1"/>
              <a:t>constexpr</a:t>
            </a:r>
            <a:r>
              <a:rPr lang="ru-RU" sz="2000" dirty="0"/>
              <a:t> </a:t>
            </a:r>
            <a:r>
              <a:rPr lang="en-US" sz="2000" dirty="0"/>
              <a:t>(C++17) – </a:t>
            </a:r>
            <a:r>
              <a:rPr lang="ru-RU" sz="2000" dirty="0"/>
              <a:t>это инструкция выбора, которая отбрасывает одну из ветвей на этапе компиляции. Условие должно быть константным выражением типа </a:t>
            </a:r>
            <a:r>
              <a:rPr lang="ru-RU" sz="2000" dirty="0" err="1"/>
              <a:t>bool</a:t>
            </a:r>
            <a:r>
              <a:rPr lang="ru-RU" sz="2000" dirty="0"/>
              <a:t>. Та ветвь, условие которой ложно, не </a:t>
            </a:r>
            <a:r>
              <a:rPr lang="ru-RU" sz="2000" dirty="0" err="1"/>
              <a:t>инстанцируется</a:t>
            </a:r>
            <a:r>
              <a:rPr lang="ru-RU" sz="2000" dirty="0"/>
              <a:t> и не компилируется (в контексте шаблонов).</a:t>
            </a:r>
            <a:endParaRPr lang="en-US" sz="2000" dirty="0"/>
          </a:p>
          <a:p>
            <a:endParaRPr lang="en-US" sz="2000" dirty="0"/>
          </a:p>
          <a:p>
            <a:r>
              <a:rPr lang="ru-RU" sz="2000" dirty="0" err="1"/>
              <a:t>if</a:t>
            </a:r>
            <a:r>
              <a:rPr lang="ru-RU" sz="2000" dirty="0"/>
              <a:t> </a:t>
            </a:r>
            <a:r>
              <a:rPr lang="ru-RU" sz="2000" dirty="0" err="1"/>
              <a:t>consteval</a:t>
            </a:r>
            <a:r>
              <a:rPr lang="en-US" sz="2000" dirty="0"/>
              <a:t> (C++23)</a:t>
            </a:r>
            <a:r>
              <a:rPr lang="ru-RU" sz="2000" dirty="0"/>
              <a:t> </a:t>
            </a:r>
            <a:r>
              <a:rPr lang="en-US" sz="2000" dirty="0"/>
              <a:t>–</a:t>
            </a:r>
            <a:r>
              <a:rPr lang="ru-RU" sz="2000" dirty="0"/>
              <a:t> это инструкция, которая проверяет, вычисляется ли текущий контекст как «явно константный»</a:t>
            </a:r>
            <a:r>
              <a:rPr lang="en-US" sz="2000" dirty="0"/>
              <a:t>. </a:t>
            </a:r>
            <a:r>
              <a:rPr lang="ru-RU" sz="2000" dirty="0"/>
              <a:t>Это позволяет одной и той же </a:t>
            </a:r>
            <a:r>
              <a:rPr lang="ru-RU" sz="2000" dirty="0" err="1"/>
              <a:t>constexpr</a:t>
            </a:r>
            <a:r>
              <a:rPr lang="ru-RU" sz="2000" dirty="0"/>
              <a:t>-функции использовать разные алгоритмы в зависимости от того, вызывается ли она во время компиляции или во время выполнения.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32805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333333"/>
                </a:solidFill>
              </a:rPr>
              <a:t>Тернарный оператор</a:t>
            </a:r>
            <a:r>
              <a:rPr lang="en-US" sz="4000" dirty="0">
                <a:solidFill>
                  <a:srgbClr val="333333"/>
                </a:solidFill>
              </a:rPr>
              <a:t> (?:)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variable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 &gt; b ? a : b;</a:t>
            </a:r>
          </a:p>
          <a:p>
            <a:pPr marL="0" indent="0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1100" dirty="0"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результат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условие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выражение 1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выражение 2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effectLst/>
            </a:endParaRPr>
          </a:p>
          <a:p>
            <a:pPr marL="0" indent="0">
              <a:buNone/>
            </a:pPr>
            <a:endParaRPr lang="ru-RU" sz="2000" b="0" dirty="0">
              <a:effectLst/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1">
                    <a:lumMod val="75000"/>
                  </a:schemeClr>
                </a:solidFill>
              </a:rPr>
              <a:t>* выражение 1 и выражение 2 должны быть одного или приводимого к одному типу</a:t>
            </a:r>
            <a:endParaRPr lang="ru-RU" sz="1600" b="0" dirty="0">
              <a:solidFill>
                <a:schemeClr val="bg1">
                  <a:lumMod val="75000"/>
                </a:schemeClr>
              </a:solidFill>
              <a:effectLst/>
            </a:endParaRPr>
          </a:p>
          <a:p>
            <a:pPr marL="0" indent="0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EFB5D69C-7461-2A8A-8398-6334FAB74280}"/>
              </a:ext>
            </a:extLst>
          </p:cNvPr>
          <p:cNvGrpSpPr/>
          <p:nvPr/>
        </p:nvGrpSpPr>
        <p:grpSpPr>
          <a:xfrm>
            <a:off x="4340888" y="3299468"/>
            <a:ext cx="5336512" cy="1788550"/>
            <a:chOff x="4340888" y="3137543"/>
            <a:chExt cx="5336512" cy="1788550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5E37A6AF-12E5-DB5C-7CA7-1350246341CE}"/>
                </a:ext>
              </a:extLst>
            </p:cNvPr>
            <p:cNvCxnSpPr/>
            <p:nvPr/>
          </p:nvCxnSpPr>
          <p:spPr>
            <a:xfrm flipV="1">
              <a:off x="4340888" y="3506875"/>
              <a:ext cx="0" cy="2813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4A8DB7A0-7AD9-975A-C8B1-9355FD1A8424}"/>
                </a:ext>
              </a:extLst>
            </p:cNvPr>
            <p:cNvCxnSpPr>
              <a:cxnSpLocks/>
            </p:cNvCxnSpPr>
            <p:nvPr/>
          </p:nvCxnSpPr>
          <p:spPr>
            <a:xfrm>
              <a:off x="4340888" y="3506875"/>
              <a:ext cx="240155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CB48A2C9-F761-52D2-D690-99FB1D120F66}"/>
                </a:ext>
              </a:extLst>
            </p:cNvPr>
            <p:cNvCxnSpPr/>
            <p:nvPr/>
          </p:nvCxnSpPr>
          <p:spPr>
            <a:xfrm>
              <a:off x="6747159" y="350687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55AAC0-B804-D9DA-1032-50BA63625E02}"/>
                </a:ext>
              </a:extLst>
            </p:cNvPr>
            <p:cNvSpPr txBox="1"/>
            <p:nvPr/>
          </p:nvSpPr>
          <p:spPr>
            <a:xfrm>
              <a:off x="5252164" y="313754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true</a:t>
              </a:r>
              <a:endParaRPr lang="ru-RU" dirty="0"/>
            </a:p>
          </p:txBody>
        </p: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12EAD4A2-63D0-FBCC-227F-A0ECC15E6025}"/>
                </a:ext>
              </a:extLst>
            </p:cNvPr>
            <p:cNvCxnSpPr/>
            <p:nvPr/>
          </p:nvCxnSpPr>
          <p:spPr>
            <a:xfrm>
              <a:off x="4340888" y="4267200"/>
              <a:ext cx="0" cy="2743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B713BC9F-67A6-38E7-A939-79842666374B}"/>
                </a:ext>
              </a:extLst>
            </p:cNvPr>
            <p:cNvCxnSpPr/>
            <p:nvPr/>
          </p:nvCxnSpPr>
          <p:spPr>
            <a:xfrm>
              <a:off x="4340888" y="4549140"/>
              <a:ext cx="533651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80867570-09F7-B843-6D93-4D75D2A12570}"/>
                </a:ext>
              </a:extLst>
            </p:cNvPr>
            <p:cNvCxnSpPr/>
            <p:nvPr/>
          </p:nvCxnSpPr>
          <p:spPr>
            <a:xfrm flipV="1">
              <a:off x="9677400" y="4183380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8679DD-194A-B900-DE3D-89FB79B20073}"/>
                </a:ext>
              </a:extLst>
            </p:cNvPr>
            <p:cNvSpPr txBox="1"/>
            <p:nvPr/>
          </p:nvSpPr>
          <p:spPr>
            <a:xfrm>
              <a:off x="6699444" y="4556761"/>
              <a:ext cx="6194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false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2717330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7724F2-6001-4117-A3AF-0EDABBD26B19}"/>
              </a:ext>
            </a:extLst>
          </p:cNvPr>
          <p:cNvSpPr/>
          <p:nvPr/>
        </p:nvSpPr>
        <p:spPr>
          <a:xfrm>
            <a:off x="6742770" y="2837986"/>
            <a:ext cx="1074234" cy="4460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B309B1-C1CF-444A-8CD9-24537811FF83}"/>
              </a:ext>
            </a:extLst>
          </p:cNvPr>
          <p:cNvSpPr/>
          <p:nvPr/>
        </p:nvSpPr>
        <p:spPr>
          <a:xfrm>
            <a:off x="4694663" y="2837987"/>
            <a:ext cx="1795346" cy="4460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CF33B1-E724-43A6-BA22-F9C2FB40822B}"/>
              </a:ext>
            </a:extLst>
          </p:cNvPr>
          <p:cNvSpPr txBox="1"/>
          <p:nvPr/>
        </p:nvSpPr>
        <p:spPr>
          <a:xfrm>
            <a:off x="5909957" y="4258488"/>
            <a:ext cx="27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Один любой </a:t>
            </a:r>
            <a:r>
              <a:rPr lang="ru-RU" sz="2000" dirty="0" err="1"/>
              <a:t>стейтмент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0A5E3A6-AA59-43DF-8EF4-A3F85E396EE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7267925" y="3412274"/>
            <a:ext cx="0" cy="84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7A45C62-F59E-4FAA-AAEB-71C666FE2500}"/>
              </a:ext>
            </a:extLst>
          </p:cNvPr>
          <p:cNvSpPr txBox="1"/>
          <p:nvPr/>
        </p:nvSpPr>
        <p:spPr>
          <a:xfrm>
            <a:off x="1738020" y="4260051"/>
            <a:ext cx="3636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Выражение перечислимого типа (целого) или </a:t>
            </a:r>
            <a:r>
              <a:rPr lang="ru-RU" sz="2000" dirty="0" err="1"/>
              <a:t>enum</a:t>
            </a:r>
            <a:r>
              <a:rPr lang="ru-RU" sz="2000" dirty="0"/>
              <a:t>.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3E602FC4-5809-4B1B-88CF-7041D3F1C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556454" y="3412275"/>
            <a:ext cx="1892776" cy="847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4283" y="2319455"/>
            <a:ext cx="8331820" cy="351182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Выражение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Тело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switch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9456079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switch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519999"/>
            <a:ext cx="2376878" cy="24088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60ED6BC-895B-474E-9923-6D0A483E0197}"/>
              </a:ext>
            </a:extLst>
          </p:cNvPr>
          <p:cNvSpPr txBox="1">
            <a:spLocks/>
          </p:cNvSpPr>
          <p:nvPr/>
        </p:nvSpPr>
        <p:spPr>
          <a:xfrm>
            <a:off x="4154062" y="2519999"/>
            <a:ext cx="2376878" cy="1583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934D5C3-1171-4617-8DBD-DB5A5EAED1B2}"/>
              </a:ext>
            </a:extLst>
          </p:cNvPr>
          <p:cNvSpPr txBox="1">
            <a:spLocks/>
          </p:cNvSpPr>
          <p:nvPr/>
        </p:nvSpPr>
        <p:spPr>
          <a:xfrm>
            <a:off x="7228125" y="2520000"/>
            <a:ext cx="3320929" cy="2408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6382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Labeled statement (</a:t>
            </a:r>
            <a:r>
              <a:rPr lang="ru-RU" sz="4000" dirty="0"/>
              <a:t>Метка)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101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Стандартом определены 3 типа меток:</a:t>
            </a:r>
          </a:p>
          <a:p>
            <a:r>
              <a:rPr lang="ru-RU" sz="2000" dirty="0"/>
              <a:t>метка для </a:t>
            </a:r>
            <a:r>
              <a:rPr lang="ru-RU" sz="2000" dirty="0" err="1">
                <a:latin typeface="Consolas" panose="020B0609020204030204" pitchFamily="49" charset="0"/>
              </a:rPr>
              <a:t>goto</a:t>
            </a:r>
            <a:r>
              <a:rPr lang="ru-RU" sz="2000" dirty="0"/>
              <a:t>. Будет рассмотрена далее</a:t>
            </a:r>
            <a:r>
              <a:rPr lang="en-US" sz="2000" dirty="0"/>
              <a:t>;</a:t>
            </a:r>
          </a:p>
          <a:p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en-US" sz="2000" i="1" dirty="0">
                <a:latin typeface="Consolas" panose="020B0609020204030204" pitchFamily="49" charset="0"/>
              </a:rPr>
              <a:t>.</a:t>
            </a:r>
            <a:endParaRPr lang="en-US" sz="2000" i="1" dirty="0">
              <a:effectLst/>
            </a:endParaRPr>
          </a:p>
          <a:p>
            <a:r>
              <a:rPr lang="en-US" sz="2000" i="0" dirty="0">
                <a:effectLst/>
                <a:latin typeface="Consolas" panose="020B0609020204030204" pitchFamily="49" charset="0"/>
              </a:rPr>
              <a:t>default</a:t>
            </a:r>
            <a:r>
              <a:rPr lang="en-US" sz="2000" i="1" dirty="0">
                <a:effectLst/>
                <a:latin typeface="Consolas" panose="020B0609020204030204" pitchFamily="49" charset="0"/>
              </a:rPr>
              <a:t>.</a:t>
            </a:r>
            <a:endParaRPr lang="ru-RU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ru-RU" sz="2000" dirty="0"/>
              <a:t>Метки</a:t>
            </a:r>
            <a:r>
              <a:rPr lang="en-US" sz="2000" dirty="0"/>
              <a:t>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en-US" sz="2000" i="0" dirty="0">
                <a:effectLst/>
              </a:rPr>
              <a:t> </a:t>
            </a:r>
            <a:r>
              <a:rPr lang="ru-RU" sz="2000" i="0" dirty="0">
                <a:effectLst/>
              </a:rPr>
              <a:t>и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default</a:t>
            </a:r>
            <a:r>
              <a:rPr lang="ru-RU" sz="2000" dirty="0"/>
              <a:t> могут быть использованы только внутри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/>
              <a:t>. При совпадении (==) выражения в скобочках у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/>
              <a:t> и значения метки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ru-RU" sz="2000" dirty="0"/>
              <a:t> поток исполнения перепрыгивает на эту метку пропуская весь код до неё и продолжает исполнение команд </a:t>
            </a:r>
            <a:r>
              <a:rPr lang="ru-RU" sz="2000" b="1" dirty="0"/>
              <a:t>до конца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/>
              <a:t> игнорируя все остальные метки.</a:t>
            </a:r>
          </a:p>
          <a:p>
            <a:pPr marL="0" indent="0">
              <a:buNone/>
            </a:pPr>
            <a:r>
              <a:rPr lang="ru-RU" sz="2000" dirty="0"/>
              <a:t>В случае отсутствия совпадения с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ru-RU" sz="2000" i="0" dirty="0">
                <a:effectLst/>
                <a:latin typeface="Consolas" panose="020B0609020204030204" pitchFamily="49" charset="0"/>
              </a:rPr>
              <a:t>,</a:t>
            </a:r>
            <a:r>
              <a:rPr lang="ru-RU" sz="2000" dirty="0"/>
              <a:t> используется метка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default</a:t>
            </a:r>
            <a:r>
              <a:rPr lang="ru-RU" sz="2000" i="0" dirty="0">
                <a:effectLst/>
                <a:latin typeface="Consolas" panose="020B0609020204030204" pitchFamily="49" charset="0"/>
              </a:rPr>
              <a:t>,</a:t>
            </a:r>
            <a:r>
              <a:rPr lang="ru-RU" sz="2000" dirty="0"/>
              <a:t> которая действует аналогично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ru-RU" sz="2000" dirty="0"/>
              <a:t>. Метка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default</a:t>
            </a:r>
            <a:r>
              <a:rPr lang="ru-RU" sz="2000" dirty="0"/>
              <a:t> может быть расположена в любом месте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ru-RU" sz="2000" dirty="0"/>
              <a:t>Если внутри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/>
              <a:t> создаются переменные, то не должно быть метки, которая перепрыгивает создание переменной, иначе компилятор сообщит об ошибке.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61548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2082106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"zero"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32DEF6C-39E4-4B37-B81F-ABA819B6DF6C}"/>
              </a:ext>
            </a:extLst>
          </p:cNvPr>
          <p:cNvGrpSpPr/>
          <p:nvPr/>
        </p:nvGrpSpPr>
        <p:grpSpPr>
          <a:xfrm>
            <a:off x="3965063" y="1509019"/>
            <a:ext cx="5781375" cy="2758174"/>
            <a:chOff x="3965063" y="1252538"/>
            <a:chExt cx="5781375" cy="2758174"/>
          </a:xfrm>
        </p:grpSpPr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C983E73-DA76-4E13-A926-C9C31C160579}"/>
                </a:ext>
              </a:extLst>
            </p:cNvPr>
            <p:cNvGrpSpPr/>
            <p:nvPr/>
          </p:nvGrpSpPr>
          <p:grpSpPr>
            <a:xfrm>
              <a:off x="3965063" y="1252538"/>
              <a:ext cx="1458476" cy="577024"/>
              <a:chOff x="3965063" y="1252538"/>
              <a:chExt cx="1458476" cy="57702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09E041-D53F-04E7-9263-E40BEA1A1716}"/>
                  </a:ext>
                </a:extLst>
              </p:cNvPr>
              <p:cNvSpPr txBox="1"/>
              <p:nvPr/>
            </p:nvSpPr>
            <p:spPr>
              <a:xfrm>
                <a:off x="3965063" y="1252538"/>
                <a:ext cx="14584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dirty="0"/>
                  <a:t>Выражение</a:t>
                </a:r>
              </a:p>
            </p:txBody>
          </p:sp>
          <p:cxnSp>
            <p:nvCxnSpPr>
              <p:cNvPr id="17" name="Прямая со стрелкой 16">
                <a:extLst>
                  <a:ext uri="{FF2B5EF4-FFF2-40B4-BE49-F238E27FC236}">
                    <a16:creationId xmlns:a16="http://schemas.microsoft.com/office/drawing/2014/main" id="{9BDB5749-B201-0677-0560-85D9B021B94E}"/>
                  </a:ext>
                </a:extLst>
              </p:cNvPr>
              <p:cNvCxnSpPr/>
              <p:nvPr/>
            </p:nvCxnSpPr>
            <p:spPr>
              <a:xfrm>
                <a:off x="4656201" y="1652648"/>
                <a:ext cx="0" cy="1769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093688D4-DCEB-AA1D-50B6-986F79192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4350" y="1825625"/>
                <a:ext cx="77152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D77AFED8-F021-4F50-B628-BAF3123149EF}"/>
                </a:ext>
              </a:extLst>
            </p:cNvPr>
            <p:cNvGrpSpPr/>
            <p:nvPr/>
          </p:nvGrpSpPr>
          <p:grpSpPr>
            <a:xfrm>
              <a:off x="5118869" y="2408662"/>
              <a:ext cx="4627569" cy="1602050"/>
              <a:chOff x="5118869" y="2408662"/>
              <a:chExt cx="4627569" cy="1602050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BB6BB8-089C-4CBB-BD2D-FEA48002A28D}"/>
                  </a:ext>
                </a:extLst>
              </p:cNvPr>
              <p:cNvSpPr txBox="1"/>
              <p:nvPr/>
            </p:nvSpPr>
            <p:spPr>
              <a:xfrm>
                <a:off x="8877289" y="2992079"/>
                <a:ext cx="8691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dirty="0"/>
                  <a:t>Метка</a:t>
                </a:r>
                <a:endParaRPr lang="ru-RU" sz="2000" b="1" dirty="0"/>
              </a:p>
            </p:txBody>
          </p:sp>
          <p:cxnSp>
            <p:nvCxnSpPr>
              <p:cNvPr id="13" name="Прямая со стрелкой 12">
                <a:extLst>
                  <a:ext uri="{FF2B5EF4-FFF2-40B4-BE49-F238E27FC236}">
                    <a16:creationId xmlns:a16="http://schemas.microsoft.com/office/drawing/2014/main" id="{04A592A0-B969-401F-B3E5-2E7A6F6E5A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18869" y="2408664"/>
                <a:ext cx="32668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 стрелкой 18">
                <a:extLst>
                  <a:ext uri="{FF2B5EF4-FFF2-40B4-BE49-F238E27FC236}">
                    <a16:creationId xmlns:a16="http://schemas.microsoft.com/office/drawing/2014/main" id="{30DD617D-EE18-4F33-B500-FFCD5E2E5F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18869" y="3211552"/>
                <a:ext cx="32668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 стрелкой 21">
                <a:extLst>
                  <a:ext uri="{FF2B5EF4-FFF2-40B4-BE49-F238E27FC236}">
                    <a16:creationId xmlns:a16="http://schemas.microsoft.com/office/drawing/2014/main" id="{B29898A8-2EAD-42A7-A1BD-D1293E5F51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18869" y="4010712"/>
                <a:ext cx="32668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E45A71C-F1DA-4CB1-A7D9-FECC23071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5717" y="2408662"/>
                <a:ext cx="0" cy="160200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D1E1858B-A5AB-412B-AAF8-9FB330F062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5716" y="3211556"/>
                <a:ext cx="468000" cy="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58914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Jump Statement</a:t>
            </a:r>
            <a:r>
              <a:rPr lang="ru-RU" sz="3600" dirty="0"/>
              <a:t> </a:t>
            </a:r>
            <a:r>
              <a:rPr lang="en-US" sz="3600" dirty="0"/>
              <a:t>break (</a:t>
            </a:r>
            <a:r>
              <a:rPr lang="ru-RU" sz="3600" dirty="0" err="1"/>
              <a:t>Стейтмент</a:t>
            </a:r>
            <a:r>
              <a:rPr lang="ru-RU" sz="3600" dirty="0"/>
              <a:t> перехода</a:t>
            </a:r>
            <a:r>
              <a:rPr lang="en-US" sz="3600" dirty="0"/>
              <a:t> break</a:t>
            </a:r>
            <a:r>
              <a:rPr lang="ru-RU" sz="36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8234"/>
            <a:ext cx="10515600" cy="35787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Т.к. после перехода на метку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en-US" sz="2000" i="0" dirty="0">
                <a:effectLst/>
              </a:rPr>
              <a:t> </a:t>
            </a:r>
            <a:r>
              <a:rPr lang="ru-RU" sz="2000" i="0" dirty="0">
                <a:effectLst/>
              </a:rPr>
              <a:t>или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default</a:t>
            </a:r>
            <a:r>
              <a:rPr lang="ru-RU" sz="2000" dirty="0"/>
              <a:t>  исполнение кода продолжается до конца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>
                <a:latin typeface="Consolas" panose="020B0609020204030204" pitchFamily="49" charset="0"/>
              </a:rPr>
              <a:t>,</a:t>
            </a:r>
            <a:r>
              <a:rPr lang="en-US" sz="2000" dirty="0"/>
              <a:t> </a:t>
            </a:r>
            <a:r>
              <a:rPr lang="ru-RU" sz="2000" dirty="0"/>
              <a:t>иногда есть необходимость прервать исполнение кода и выйти из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en-US" sz="2000" dirty="0"/>
              <a:t> </a:t>
            </a:r>
            <a:r>
              <a:rPr lang="ru-RU" sz="2000" dirty="0"/>
              <a:t>досрочно.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Для этих целей существует </a:t>
            </a:r>
            <a:r>
              <a:rPr lang="ru-RU" sz="2000" dirty="0" err="1"/>
              <a:t>стейтмент</a:t>
            </a:r>
            <a:r>
              <a:rPr lang="ru-RU" sz="2000" dirty="0"/>
              <a:t> перехода </a:t>
            </a:r>
            <a:r>
              <a:rPr lang="en-US" sz="2000" dirty="0">
                <a:latin typeface="Consolas" panose="020B0609020204030204" pitchFamily="49" charset="0"/>
              </a:rPr>
              <a:t>break</a:t>
            </a:r>
            <a:r>
              <a:rPr lang="en-US" sz="2000" dirty="0"/>
              <a:t>; </a:t>
            </a:r>
            <a:r>
              <a:rPr lang="ru-RU" sz="2000" dirty="0"/>
              <a:t>Как только он встречается в коде, поток исполнения выходит за пределы текущего блока.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break</a:t>
            </a:r>
            <a:r>
              <a:rPr lang="en-US" sz="2000" dirty="0"/>
              <a:t> </a:t>
            </a:r>
            <a:r>
              <a:rPr lang="ru-RU" sz="2000" dirty="0"/>
              <a:t>разрешено использовать только в </a:t>
            </a:r>
            <a:r>
              <a:rPr lang="en-US" sz="2000" dirty="0">
                <a:latin typeface="Consolas" panose="020B0609020204030204" pitchFamily="49" charset="0"/>
              </a:rPr>
              <a:t>switch</a:t>
            </a:r>
            <a:r>
              <a:rPr lang="ru-RU" sz="2000" dirty="0"/>
              <a:t> и в циклах.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В С++ есть только </a:t>
            </a:r>
            <a:r>
              <a:rPr lang="en-US" sz="2000" dirty="0">
                <a:latin typeface="Consolas" panose="020B0609020204030204" pitchFamily="49" charset="0"/>
              </a:rPr>
              <a:t>break</a:t>
            </a:r>
            <a:r>
              <a:rPr lang="en-US" sz="2000" dirty="0"/>
              <a:t> </a:t>
            </a:r>
            <a:r>
              <a:rPr lang="ru-RU" sz="2000" dirty="0"/>
              <a:t>без метки.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18040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switch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648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"zero"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965063" y="1252538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656201" y="165264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4324350" y="1825625"/>
            <a:ext cx="771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3D9EDE33-36DF-4D42-A17B-D3F2726FD92A}"/>
              </a:ext>
            </a:extLst>
          </p:cNvPr>
          <p:cNvCxnSpPr>
            <a:cxnSpLocks/>
          </p:cNvCxnSpPr>
          <p:nvPr/>
        </p:nvCxnSpPr>
        <p:spPr>
          <a:xfrm rot="5400000">
            <a:off x="2997176" y="3821400"/>
            <a:ext cx="2430000" cy="1188000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55A445D-9E5C-4760-B96B-6E8A3C7BB172}"/>
              </a:ext>
            </a:extLst>
          </p:cNvPr>
          <p:cNvCxnSpPr/>
          <p:nvPr/>
        </p:nvCxnSpPr>
        <p:spPr>
          <a:xfrm flipH="1">
            <a:off x="3624146" y="4404732"/>
            <a:ext cx="12154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5926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switch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(</a:t>
            </a:r>
            <a:r>
              <a:rPr lang="ru-RU" sz="4000" b="0" i="0" dirty="0">
                <a:solidFill>
                  <a:srgbClr val="333333"/>
                </a:solidFill>
                <a:effectLst/>
              </a:rPr>
              <a:t>инициализация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; </a:t>
            </a:r>
            <a:r>
              <a:rPr lang="ru-RU" sz="4000" dirty="0">
                <a:solidFill>
                  <a:srgbClr val="333333"/>
                </a:solidFill>
              </a:rPr>
              <a:t>выражение</a:t>
            </a:r>
            <a:r>
              <a:rPr lang="en-US" sz="4000" b="0" i="0" dirty="0">
                <a:solidFill>
                  <a:srgbClr val="333333"/>
                </a:solidFill>
                <a:effectLst/>
              </a:rPr>
              <a:t>)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675" y="1825625"/>
            <a:ext cx="900112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int res = 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&gt; b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res 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":)"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":("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4235958" y="2262188"/>
            <a:ext cx="1669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init</a:t>
            </a:r>
            <a:r>
              <a:rPr lang="en-US" sz="2000" dirty="0"/>
              <a:t>-statement</a:t>
            </a:r>
            <a:endParaRPr lang="ru-RU" sz="2000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5046726" y="26622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3762375" y="2839212"/>
            <a:ext cx="25717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005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switch</a:t>
            </a:r>
            <a:r>
              <a:rPr lang="ru-RU" sz="3600" dirty="0"/>
              <a:t> и области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6223"/>
            <a:ext cx="10515600" cy="32107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Всё, что было сказано про области видимости в отношении </a:t>
            </a:r>
            <a:r>
              <a:rPr lang="en-US" sz="2000" dirty="0"/>
              <a:t>if</a:t>
            </a:r>
            <a:r>
              <a:rPr lang="ru-RU" sz="2000" dirty="0"/>
              <a:t>, справедливо и здесь.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Стоит упомянуть, что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case</a:t>
            </a:r>
            <a:r>
              <a:rPr lang="en-US" sz="2000" i="0" dirty="0">
                <a:effectLst/>
              </a:rPr>
              <a:t> </a:t>
            </a:r>
            <a:r>
              <a:rPr lang="ru-RU" sz="2000" i="0" dirty="0">
                <a:effectLst/>
              </a:rPr>
              <a:t>и </a:t>
            </a:r>
            <a:r>
              <a:rPr lang="en-US" sz="2000" i="0" dirty="0">
                <a:effectLst/>
                <a:latin typeface="Consolas" panose="020B0609020204030204" pitchFamily="49" charset="0"/>
              </a:rPr>
              <a:t>default</a:t>
            </a:r>
            <a:r>
              <a:rPr lang="ru-RU" sz="2000" i="0" dirty="0">
                <a:effectLst/>
              </a:rPr>
              <a:t> </a:t>
            </a:r>
            <a:r>
              <a:rPr lang="ru-RU" sz="2000" i="0" dirty="0">
                <a:effectLst/>
                <a:latin typeface="Consolas" panose="020B0609020204030204" pitchFamily="49" charset="0"/>
              </a:rPr>
              <a:t>-</a:t>
            </a:r>
            <a:r>
              <a:rPr lang="ru-RU" sz="2000" dirty="0"/>
              <a:t> это просто метки, поэтому они не создают свои области видимости. Если нужно, используйте Блоки.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07715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C307-0DD0-EABC-2D32-70544190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24F36-D7B7-8084-B198-74BBF054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Iteration</a:t>
            </a:r>
            <a:r>
              <a:rPr lang="ru-RU" sz="4000" b="1" dirty="0"/>
              <a:t> </a:t>
            </a:r>
            <a:r>
              <a:rPr lang="ru-RU" sz="4000" b="1" dirty="0" err="1"/>
              <a:t>Statements</a:t>
            </a:r>
            <a:r>
              <a:rPr lang="ru-RU" sz="4000" b="1" dirty="0"/>
              <a:t> (Циклы)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1559A-E0DE-272A-0BA1-1C4AB271C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99" y="1800000"/>
            <a:ext cx="1020918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В стандарте указано </a:t>
            </a:r>
            <a:r>
              <a:rPr lang="en-US" sz="2400" dirty="0"/>
              <a:t>4</a:t>
            </a:r>
            <a:r>
              <a:rPr lang="ru-RU" sz="2400" dirty="0"/>
              <a:t> вида:</a:t>
            </a:r>
            <a:endParaRPr lang="en-US" sz="2400" dirty="0"/>
          </a:p>
          <a:p>
            <a:r>
              <a:rPr lang="en-US" sz="2400" dirty="0"/>
              <a:t>while. </a:t>
            </a:r>
            <a:r>
              <a:rPr lang="ru-RU" sz="2400" dirty="0"/>
              <a:t>Цикл с предусловием</a:t>
            </a:r>
            <a:r>
              <a:rPr lang="en-US" sz="2400" dirty="0"/>
              <a:t>;</a:t>
            </a:r>
          </a:p>
          <a:p>
            <a:r>
              <a:rPr lang="en-US" sz="2400" dirty="0"/>
              <a:t>do-while. </a:t>
            </a:r>
            <a:r>
              <a:rPr lang="ru-RU" sz="2400" dirty="0"/>
              <a:t>Цикл с постусловием</a:t>
            </a:r>
            <a:r>
              <a:rPr lang="en-US" sz="2400" dirty="0"/>
              <a:t>;</a:t>
            </a:r>
          </a:p>
          <a:p>
            <a:r>
              <a:rPr lang="en-US" sz="2400" dirty="0"/>
              <a:t>for</a:t>
            </a:r>
            <a:r>
              <a:rPr lang="ru-RU" sz="2400" dirty="0"/>
              <a:t>. Цикл со счётчиком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Range-based for (</a:t>
            </a:r>
            <a:r>
              <a:rPr lang="ru-RU" sz="2400" dirty="0"/>
              <a:t>с </a:t>
            </a:r>
            <a:r>
              <a:rPr lang="en-US" sz="2400" dirty="0"/>
              <a:t>C++11). for</a:t>
            </a:r>
            <a:r>
              <a:rPr lang="ru-RU" sz="2400" dirty="0"/>
              <a:t> на основе диапазона.</a:t>
            </a:r>
            <a:endParaRPr lang="en-US" sz="2400" dirty="0"/>
          </a:p>
          <a:p>
            <a:endParaRPr lang="en-US" sz="2000" dirty="0"/>
          </a:p>
          <a:p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r>
              <a:rPr lang="ru-RU" sz="2000" b="1" dirty="0">
                <a:solidFill>
                  <a:schemeClr val="bg1">
                    <a:lumMod val="75000"/>
                  </a:schemeClr>
                </a:solidFill>
              </a:rPr>
              <a:t>Внимание! 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Циклы тоже иногда называют операторами, но это </a:t>
            </a:r>
            <a:r>
              <a:rPr lang="ru-RU" sz="2000" dirty="0" err="1">
                <a:solidFill>
                  <a:schemeClr val="bg1">
                    <a:lumMod val="75000"/>
                  </a:schemeClr>
                </a:solidFill>
              </a:rPr>
              <a:t>стейтменты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. Та же история, что и с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28049249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Оператор цикла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34B1B1-A785-73BD-CC48-E6D3CEC5AD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0" b="1844"/>
          <a:stretch/>
        </p:blipFill>
        <p:spPr>
          <a:xfrm>
            <a:off x="1181100" y="1423988"/>
            <a:ext cx="10515600" cy="4659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5E311D-69C9-1FA2-DE07-F7C4F28ECA53}"/>
              </a:ext>
            </a:extLst>
          </p:cNvPr>
          <p:cNvSpPr txBox="1"/>
          <p:nvPr/>
        </p:nvSpPr>
        <p:spPr>
          <a:xfrm>
            <a:off x="3048000" y="6095762"/>
            <a:ext cx="71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while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E8024-A17E-B16A-1DE5-14DA6950B6FE}"/>
              </a:ext>
            </a:extLst>
          </p:cNvPr>
          <p:cNvSpPr txBox="1"/>
          <p:nvPr/>
        </p:nvSpPr>
        <p:spPr>
          <a:xfrm>
            <a:off x="8734425" y="6083062"/>
            <a:ext cx="1438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do-while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264777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7724F2-6001-4117-A3AF-0EDABBD26B19}"/>
              </a:ext>
            </a:extLst>
          </p:cNvPr>
          <p:cNvSpPr/>
          <p:nvPr/>
        </p:nvSpPr>
        <p:spPr>
          <a:xfrm>
            <a:off x="7289177" y="3061005"/>
            <a:ext cx="1074234" cy="4460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B309B1-C1CF-444A-8CD9-24537811FF83}"/>
              </a:ext>
            </a:extLst>
          </p:cNvPr>
          <p:cNvSpPr/>
          <p:nvPr/>
        </p:nvSpPr>
        <p:spPr>
          <a:xfrm>
            <a:off x="5241070" y="3061006"/>
            <a:ext cx="1795346" cy="4460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while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412" y="2520171"/>
            <a:ext cx="8108795" cy="351182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Выражение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Тело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CF33B1-E724-43A6-BA22-F9C2FB40822B}"/>
              </a:ext>
            </a:extLst>
          </p:cNvPr>
          <p:cNvSpPr txBox="1"/>
          <p:nvPr/>
        </p:nvSpPr>
        <p:spPr>
          <a:xfrm>
            <a:off x="6456364" y="4481507"/>
            <a:ext cx="27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Один любой </a:t>
            </a:r>
            <a:r>
              <a:rPr lang="ru-RU" sz="2000" dirty="0" err="1"/>
              <a:t>стейтмент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0A5E3A6-AA59-43DF-8EF4-A3F85E396EE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7814332" y="3635293"/>
            <a:ext cx="0" cy="84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7A45C62-F59E-4FAA-AAEB-71C666FE2500}"/>
              </a:ext>
            </a:extLst>
          </p:cNvPr>
          <p:cNvSpPr txBox="1"/>
          <p:nvPr/>
        </p:nvSpPr>
        <p:spPr>
          <a:xfrm>
            <a:off x="2284427" y="4483070"/>
            <a:ext cx="3636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Результат должен быть</a:t>
            </a:r>
          </a:p>
          <a:p>
            <a:r>
              <a:rPr lang="ru-RU" sz="2000" dirty="0" err="1"/>
              <a:t>булевого</a:t>
            </a:r>
            <a:r>
              <a:rPr lang="ru-RU" sz="2000" dirty="0"/>
              <a:t> типа или приводимый к нему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3E602FC4-5809-4B1B-88CF-7041D3F1C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4102861" y="3635293"/>
            <a:ext cx="1892776" cy="84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631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while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923" y="182562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1418049" y="1690688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5139028" y="1690688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C3129-8BC2-D066-501B-33664D27A6CD}"/>
              </a:ext>
            </a:extLst>
          </p:cNvPr>
          <p:cNvSpPr txBox="1"/>
          <p:nvPr/>
        </p:nvSpPr>
        <p:spPr>
          <a:xfrm>
            <a:off x="7717831" y="1690688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63FED-A5D8-4AEA-E233-C07A9271E1CC}"/>
              </a:ext>
            </a:extLst>
          </p:cNvPr>
          <p:cNvSpPr txBox="1"/>
          <p:nvPr/>
        </p:nvSpPr>
        <p:spPr>
          <a:xfrm>
            <a:off x="1418049" y="3733770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6D809-42D1-CBDF-2F83-0A55C6959359}"/>
              </a:ext>
            </a:extLst>
          </p:cNvPr>
          <p:cNvSpPr txBox="1"/>
          <p:nvPr/>
        </p:nvSpPr>
        <p:spPr>
          <a:xfrm>
            <a:off x="5117588" y="3725619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7774981" y="3733770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1B6117-96D5-E33C-2F32-A008F01B096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400851" y="2090798"/>
            <a:ext cx="1555072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5837301" y="20907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09E27DF-E576-EE6A-805D-5C71393EF8D5}"/>
              </a:ext>
            </a:extLst>
          </p:cNvPr>
          <p:cNvCxnSpPr>
            <a:stCxn id="9" idx="2"/>
          </p:cNvCxnSpPr>
          <p:nvPr/>
        </p:nvCxnSpPr>
        <p:spPr>
          <a:xfrm flipH="1">
            <a:off x="8053959" y="2090798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5313045" y="2267712"/>
            <a:ext cx="1170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BD15690-68B7-6638-F9FA-9BA32245304A}"/>
              </a:ext>
            </a:extLst>
          </p:cNvPr>
          <p:cNvCxnSpPr>
            <a:cxnSpLocks/>
          </p:cNvCxnSpPr>
          <p:nvPr/>
        </p:nvCxnSpPr>
        <p:spPr>
          <a:xfrm>
            <a:off x="6769989" y="2261616"/>
            <a:ext cx="26597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2DD6BF1-6606-EB61-84F2-FDA1F3AE8C3E}"/>
              </a:ext>
            </a:extLst>
          </p:cNvPr>
          <p:cNvCxnSpPr>
            <a:cxnSpLocks/>
          </p:cNvCxnSpPr>
          <p:nvPr/>
        </p:nvCxnSpPr>
        <p:spPr>
          <a:xfrm>
            <a:off x="2686986" y="4134705"/>
            <a:ext cx="1268937" cy="4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B61C2E-B9A0-8ABC-1590-653BB407DF98}"/>
              </a:ext>
            </a:extLst>
          </p:cNvPr>
          <p:cNvCxnSpPr/>
          <p:nvPr/>
        </p:nvCxnSpPr>
        <p:spPr>
          <a:xfrm>
            <a:off x="5846826" y="4134705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8111109" y="413470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388F9A2-D873-9278-1621-B104C8BB6A2A}"/>
              </a:ext>
            </a:extLst>
          </p:cNvPr>
          <p:cNvCxnSpPr>
            <a:cxnSpLocks/>
          </p:cNvCxnSpPr>
          <p:nvPr/>
        </p:nvCxnSpPr>
        <p:spPr>
          <a:xfrm>
            <a:off x="5322570" y="4311619"/>
            <a:ext cx="1170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6685420" y="4305523"/>
            <a:ext cx="27443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/>
          <p:nvPr/>
        </p:nvCxnSpPr>
        <p:spPr>
          <a:xfrm>
            <a:off x="9435465" y="4305523"/>
            <a:ext cx="0" cy="151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8313801" y="581558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6776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7724F2-6001-4117-A3AF-0EDABBD26B19}"/>
              </a:ext>
            </a:extLst>
          </p:cNvPr>
          <p:cNvSpPr/>
          <p:nvPr/>
        </p:nvSpPr>
        <p:spPr>
          <a:xfrm>
            <a:off x="4286288" y="2978931"/>
            <a:ext cx="976576" cy="4460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B309B1-C1CF-444A-8CD9-24537811FF83}"/>
              </a:ext>
            </a:extLst>
          </p:cNvPr>
          <p:cNvSpPr/>
          <p:nvPr/>
        </p:nvSpPr>
        <p:spPr>
          <a:xfrm>
            <a:off x="5687117" y="3573959"/>
            <a:ext cx="1795346" cy="4460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333333"/>
                </a:solidFill>
              </a:rPr>
              <a:t>do-while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7459" y="2453262"/>
            <a:ext cx="8108795" cy="40916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Тело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Выражение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CF33B1-E724-43A6-BA22-F9C2FB40822B}"/>
              </a:ext>
            </a:extLst>
          </p:cNvPr>
          <p:cNvSpPr txBox="1"/>
          <p:nvPr/>
        </p:nvSpPr>
        <p:spPr>
          <a:xfrm>
            <a:off x="6969319" y="2053152"/>
            <a:ext cx="27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Один любой </a:t>
            </a:r>
            <a:r>
              <a:rPr lang="ru-RU" sz="2000" dirty="0" err="1"/>
              <a:t>стейтмент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0A5E3A6-AA59-43DF-8EF4-A3F85E396EEE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5352581" y="2453262"/>
            <a:ext cx="2974706" cy="735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7A45C62-F59E-4FAA-AAEB-71C666FE2500}"/>
              </a:ext>
            </a:extLst>
          </p:cNvPr>
          <p:cNvSpPr txBox="1"/>
          <p:nvPr/>
        </p:nvSpPr>
        <p:spPr>
          <a:xfrm>
            <a:off x="2730474" y="4996023"/>
            <a:ext cx="3636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Результат должен быть</a:t>
            </a:r>
          </a:p>
          <a:p>
            <a:r>
              <a:rPr lang="ru-RU" sz="2000" dirty="0" err="1"/>
              <a:t>булевого</a:t>
            </a:r>
            <a:r>
              <a:rPr lang="ru-RU" sz="2000" dirty="0"/>
              <a:t> типа или приводимый к нему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3E602FC4-5809-4B1B-88CF-7041D3F1C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4548908" y="4148246"/>
            <a:ext cx="1892776" cy="84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1701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do-while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923" y="2111375"/>
            <a:ext cx="807415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b);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63FED-A5D8-4AEA-E233-C07A9271E1CC}"/>
              </a:ext>
            </a:extLst>
          </p:cNvPr>
          <p:cNvSpPr txBox="1"/>
          <p:nvPr/>
        </p:nvSpPr>
        <p:spPr>
          <a:xfrm>
            <a:off x="1570449" y="3135600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6D809-42D1-CBDF-2F83-0A55C6959359}"/>
              </a:ext>
            </a:extLst>
          </p:cNvPr>
          <p:cNvSpPr txBox="1"/>
          <p:nvPr/>
        </p:nvSpPr>
        <p:spPr>
          <a:xfrm>
            <a:off x="5403338" y="4211394"/>
            <a:ext cx="145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7089181" y="1977360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2DD6BF1-6606-EB61-84F2-FDA1F3AE8C3E}"/>
              </a:ext>
            </a:extLst>
          </p:cNvPr>
          <p:cNvCxnSpPr>
            <a:cxnSpLocks/>
          </p:cNvCxnSpPr>
          <p:nvPr/>
        </p:nvCxnSpPr>
        <p:spPr>
          <a:xfrm>
            <a:off x="3619500" y="3425190"/>
            <a:ext cx="728001" cy="247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B61C2E-B9A0-8ABC-1590-653BB407DF98}"/>
              </a:ext>
            </a:extLst>
          </p:cNvPr>
          <p:cNvCxnSpPr>
            <a:cxnSpLocks/>
          </p:cNvCxnSpPr>
          <p:nvPr/>
        </p:nvCxnSpPr>
        <p:spPr>
          <a:xfrm flipV="1">
            <a:off x="6132576" y="4125669"/>
            <a:ext cx="0" cy="21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7425309" y="237829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388F9A2-D873-9278-1621-B104C8BB6A2A}"/>
              </a:ext>
            </a:extLst>
          </p:cNvPr>
          <p:cNvCxnSpPr>
            <a:cxnSpLocks/>
          </p:cNvCxnSpPr>
          <p:nvPr/>
        </p:nvCxnSpPr>
        <p:spPr>
          <a:xfrm>
            <a:off x="5522595" y="4111594"/>
            <a:ext cx="1170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5999620" y="2549113"/>
            <a:ext cx="27443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/>
          <p:nvPr/>
        </p:nvCxnSpPr>
        <p:spPr>
          <a:xfrm>
            <a:off x="8749665" y="2549113"/>
            <a:ext cx="0" cy="151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7628001" y="405917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0AB34ED-D937-BF10-B23A-257F633ED090}"/>
              </a:ext>
            </a:extLst>
          </p:cNvPr>
          <p:cNvCxnSpPr>
            <a:cxnSpLocks/>
          </p:cNvCxnSpPr>
          <p:nvPr/>
        </p:nvCxnSpPr>
        <p:spPr>
          <a:xfrm flipV="1">
            <a:off x="3591922" y="2929890"/>
            <a:ext cx="391578" cy="315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82476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2A75-5FCF-3692-2D1E-BD24F59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12FA-CCB2-F107-BAD3-C33C277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do-while </a:t>
            </a:r>
            <a:r>
              <a:rPr lang="ru-RU" sz="4000" dirty="0"/>
              <a:t>и область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C5A5A-DE26-BBBF-E995-28B0F540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662" y="2628825"/>
            <a:ext cx="4961860" cy="21356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dirty="0"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существует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27416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</a:rPr>
              <a:t>Оператор цикла</a:t>
            </a:r>
            <a:r>
              <a:rPr lang="en-US" dirty="0">
                <a:solidFill>
                  <a:srgbClr val="333333"/>
                </a:solidFill>
              </a:rPr>
              <a:t> for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A15E2-6E61-595D-FB56-234B2D42A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18" y="1476375"/>
            <a:ext cx="8232206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22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32" y="3261727"/>
            <a:ext cx="9268519" cy="29709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2800" dirty="0"/>
              <a:t>выражение</a:t>
            </a:r>
            <a:r>
              <a:rPr lang="en-US" sz="2800" dirty="0"/>
              <a:t>1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2800" dirty="0"/>
              <a:t>выражение</a:t>
            </a:r>
            <a:r>
              <a:rPr lang="ru-RU" dirty="0"/>
              <a:t>2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2800" dirty="0"/>
              <a:t>выражение</a:t>
            </a:r>
            <a:r>
              <a:rPr lang="ru-RU" dirty="0"/>
              <a:t>3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Тело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626C1C-1BA2-478F-9F54-F2E3AE31DC49}"/>
              </a:ext>
            </a:extLst>
          </p:cNvPr>
          <p:cNvSpPr/>
          <p:nvPr/>
        </p:nvSpPr>
        <p:spPr>
          <a:xfrm>
            <a:off x="2542495" y="3261727"/>
            <a:ext cx="1984900" cy="44604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75F7FB-9BD6-4E71-85AB-002F0159D51D}"/>
              </a:ext>
            </a:extLst>
          </p:cNvPr>
          <p:cNvSpPr/>
          <p:nvPr/>
        </p:nvSpPr>
        <p:spPr>
          <a:xfrm>
            <a:off x="7181386" y="3258013"/>
            <a:ext cx="1973767" cy="44604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67724F2-6001-4117-A3AF-0EDABBD26B19}"/>
              </a:ext>
            </a:extLst>
          </p:cNvPr>
          <p:cNvSpPr/>
          <p:nvPr/>
        </p:nvSpPr>
        <p:spPr>
          <a:xfrm>
            <a:off x="9374450" y="3261727"/>
            <a:ext cx="1074234" cy="44604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B309B1-C1CF-444A-8CD9-24537811FF83}"/>
              </a:ext>
            </a:extLst>
          </p:cNvPr>
          <p:cNvSpPr/>
          <p:nvPr/>
        </p:nvSpPr>
        <p:spPr>
          <a:xfrm>
            <a:off x="4848137" y="3261728"/>
            <a:ext cx="1979046" cy="4460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333333"/>
                </a:solidFill>
              </a:rPr>
              <a:t>for</a:t>
            </a:r>
            <a:endParaRPr lang="ru-RU" sz="4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CF33B1-E724-43A6-BA22-F9C2FB40822B}"/>
              </a:ext>
            </a:extLst>
          </p:cNvPr>
          <p:cNvSpPr txBox="1"/>
          <p:nvPr/>
        </p:nvSpPr>
        <p:spPr>
          <a:xfrm>
            <a:off x="8541637" y="4682229"/>
            <a:ext cx="271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Один любой </a:t>
            </a:r>
            <a:r>
              <a:rPr lang="ru-RU" sz="2000" dirty="0" err="1"/>
              <a:t>стейтмент</a:t>
            </a:r>
            <a:endParaRPr lang="ru-RU" sz="2000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0A5E3A6-AA59-43DF-8EF4-A3F85E396EE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9899605" y="3836015"/>
            <a:ext cx="0" cy="84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7A45C62-F59E-4FAA-AAEB-71C666FE2500}"/>
              </a:ext>
            </a:extLst>
          </p:cNvPr>
          <p:cNvSpPr txBox="1"/>
          <p:nvPr/>
        </p:nvSpPr>
        <p:spPr>
          <a:xfrm>
            <a:off x="3954187" y="4682229"/>
            <a:ext cx="3636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Результат должен быть</a:t>
            </a:r>
          </a:p>
          <a:p>
            <a:r>
              <a:rPr lang="ru-RU" sz="2000" dirty="0" err="1"/>
              <a:t>булевого</a:t>
            </a:r>
            <a:r>
              <a:rPr lang="ru-RU" sz="2000" dirty="0"/>
              <a:t> типа или приводимый к нему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3E602FC4-5809-4B1B-88CF-7041D3F1C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5772621" y="3711268"/>
            <a:ext cx="0" cy="97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E17B78-6274-4B9F-84BE-64BBB141156F}"/>
              </a:ext>
            </a:extLst>
          </p:cNvPr>
          <p:cNvSpPr txBox="1"/>
          <p:nvPr/>
        </p:nvSpPr>
        <p:spPr>
          <a:xfrm>
            <a:off x="2018942" y="2002920"/>
            <a:ext cx="285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Одно любое выражение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35EF2-A02B-45F0-BBD6-F7AE8BDDE7BC}"/>
              </a:ext>
            </a:extLst>
          </p:cNvPr>
          <p:cNvSpPr txBox="1"/>
          <p:nvPr/>
        </p:nvSpPr>
        <p:spPr>
          <a:xfrm>
            <a:off x="6707754" y="2002920"/>
            <a:ext cx="2851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Одно любое выражение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8521428-5404-4F3B-9418-AEEFEDE230FA}"/>
              </a:ext>
            </a:extLst>
          </p:cNvPr>
          <p:cNvCxnSpPr>
            <a:stCxn id="10" idx="2"/>
          </p:cNvCxnSpPr>
          <p:nvPr/>
        </p:nvCxnSpPr>
        <p:spPr>
          <a:xfrm flipH="1">
            <a:off x="3444941" y="2403030"/>
            <a:ext cx="1" cy="85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81993B2-B153-4206-8CB3-C6E28C23E428}"/>
              </a:ext>
            </a:extLst>
          </p:cNvPr>
          <p:cNvCxnSpPr>
            <a:stCxn id="12" idx="2"/>
          </p:cNvCxnSpPr>
          <p:nvPr/>
        </p:nvCxnSpPr>
        <p:spPr>
          <a:xfrm flipH="1">
            <a:off x="8133753" y="2403030"/>
            <a:ext cx="1" cy="84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2121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for (</a:t>
            </a:r>
            <a:r>
              <a:rPr lang="ru-RU" sz="4000" dirty="0"/>
              <a:t>выражение</a:t>
            </a:r>
            <a:r>
              <a:rPr lang="en-US" sz="4000" dirty="0"/>
              <a:t>1; </a:t>
            </a:r>
            <a:r>
              <a:rPr lang="ru-RU" sz="4000" dirty="0"/>
              <a:t>выражение</a:t>
            </a:r>
            <a:r>
              <a:rPr lang="en-US" sz="4000" dirty="0"/>
              <a:t>2; </a:t>
            </a:r>
            <a:r>
              <a:rPr lang="ru-RU" sz="4000" dirty="0"/>
              <a:t>выражение</a:t>
            </a:r>
            <a:r>
              <a:rPr lang="en-US" sz="4000" dirty="0"/>
              <a:t>3)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Выражение</a:t>
            </a:r>
            <a:r>
              <a:rPr lang="en-US" sz="2000" dirty="0"/>
              <a:t>1</a:t>
            </a:r>
            <a:r>
              <a:rPr lang="ru-RU" sz="2000" dirty="0"/>
              <a:t> – любое выражение или инициализация переменной</a:t>
            </a:r>
            <a:r>
              <a:rPr lang="en-US" sz="2000" dirty="0"/>
              <a:t>. </a:t>
            </a:r>
            <a:r>
              <a:rPr lang="ru-RU" sz="2000" dirty="0"/>
              <a:t>Обычно - инициализация</a:t>
            </a:r>
            <a:r>
              <a:rPr lang="en-US" sz="2000" dirty="0"/>
              <a:t> </a:t>
            </a:r>
            <a:r>
              <a:rPr lang="ru-RU" sz="2000" dirty="0"/>
              <a:t>переменной счётчика или нескольких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Выражение</a:t>
            </a:r>
            <a:r>
              <a:rPr lang="en-US" sz="2000" dirty="0"/>
              <a:t>2</a:t>
            </a:r>
            <a:r>
              <a:rPr lang="ru-RU" sz="2000" dirty="0"/>
              <a:t> – любое выражение или инициализация переменной. Обычно - выражение проверяющее условие работы цикла. Если выражение не указано, то считается, что оно равно </a:t>
            </a:r>
            <a:r>
              <a:rPr lang="en-US" sz="2000" dirty="0">
                <a:latin typeface="Consolas" panose="020B0609020204030204" pitchFamily="49" charset="0"/>
              </a:rPr>
              <a:t>true</a:t>
            </a:r>
            <a:r>
              <a:rPr lang="ru-RU" sz="2000" dirty="0"/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2000" dirty="0"/>
              <a:t>Выражение</a:t>
            </a:r>
            <a:r>
              <a:rPr lang="en-US" sz="2000" dirty="0"/>
              <a:t>3</a:t>
            </a:r>
            <a:r>
              <a:rPr lang="ru-RU" sz="2000" dirty="0"/>
              <a:t> – выражение. Обычно инкремент/декремент счётчика(</a:t>
            </a:r>
            <a:r>
              <a:rPr lang="ru-RU" sz="2000" dirty="0" err="1"/>
              <a:t>ов</a:t>
            </a:r>
            <a:r>
              <a:rPr lang="ru-RU" sz="2000" dirty="0"/>
              <a:t>).</a:t>
            </a: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75000"/>
              <a:buNone/>
              <a:tabLst>
                <a:tab pos="457200" algn="l"/>
              </a:tabLst>
            </a:pPr>
            <a:r>
              <a:rPr lang="ru-RU" sz="1700" dirty="0"/>
              <a:t>* каждое из выражение не обязательное (можно не писать), но точки с запятой писать нужно.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2000" dirty="0"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6625273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703" y="1825625"/>
            <a:ext cx="949137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nn-NO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 &lt; count; i++) </a:t>
            </a:r>
            <a:r>
              <a:rPr lang="nn-NO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i;</a:t>
            </a: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nn-NO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 &lt; count; i++)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446499" y="1690688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300703" y="1690688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1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C3129-8BC2-D066-501B-33664D27A6CD}"/>
              </a:ext>
            </a:extLst>
          </p:cNvPr>
          <p:cNvSpPr txBox="1"/>
          <p:nvPr/>
        </p:nvSpPr>
        <p:spPr>
          <a:xfrm>
            <a:off x="9318031" y="1690688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9279931" y="3733770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1B6117-96D5-E33C-2F32-A008F01B096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429301" y="2090798"/>
            <a:ext cx="1107136" cy="40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046601" y="20907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09E27DF-E576-EE6A-805D-5C71393EF8D5}"/>
              </a:ext>
            </a:extLst>
          </p:cNvPr>
          <p:cNvCxnSpPr>
            <a:cxnSpLocks/>
          </p:cNvCxnSpPr>
          <p:nvPr/>
        </p:nvCxnSpPr>
        <p:spPr>
          <a:xfrm flipH="1">
            <a:off x="9654159" y="2081273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3434053" y="2267712"/>
            <a:ext cx="13444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BD15690-68B7-6638-F9FA-9BA32245304A}"/>
              </a:ext>
            </a:extLst>
          </p:cNvPr>
          <p:cNvCxnSpPr>
            <a:cxnSpLocks/>
          </p:cNvCxnSpPr>
          <p:nvPr/>
        </p:nvCxnSpPr>
        <p:spPr>
          <a:xfrm>
            <a:off x="8255888" y="2271141"/>
            <a:ext cx="28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9616059" y="413470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8190370" y="4305523"/>
            <a:ext cx="27443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C93D4B3-0F48-5590-56E3-D1849AD7ED2B}"/>
              </a:ext>
            </a:extLst>
          </p:cNvPr>
          <p:cNvCxnSpPr/>
          <p:nvPr/>
        </p:nvCxnSpPr>
        <p:spPr>
          <a:xfrm>
            <a:off x="10940415" y="4305523"/>
            <a:ext cx="0" cy="151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2D188ED-F38B-B1B6-168D-96C1E88E2605}"/>
              </a:ext>
            </a:extLst>
          </p:cNvPr>
          <p:cNvCxnSpPr/>
          <p:nvPr/>
        </p:nvCxnSpPr>
        <p:spPr>
          <a:xfrm flipH="1">
            <a:off x="9818751" y="5815584"/>
            <a:ext cx="11216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D01C81-E365-2B32-F96F-F270D3D546DA}"/>
              </a:ext>
            </a:extLst>
          </p:cNvPr>
          <p:cNvSpPr txBox="1"/>
          <p:nvPr/>
        </p:nvSpPr>
        <p:spPr>
          <a:xfrm>
            <a:off x="5225151" y="1681163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2</a:t>
            </a:r>
            <a:endParaRPr lang="ru-RU" sz="20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97ABB43-DC2F-C38D-1F7F-7FCD83EBFB43}"/>
              </a:ext>
            </a:extLst>
          </p:cNvPr>
          <p:cNvCxnSpPr/>
          <p:nvPr/>
        </p:nvCxnSpPr>
        <p:spPr>
          <a:xfrm>
            <a:off x="5999624" y="208127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3153B78-FBF2-F8CE-3FF0-A54494E747A9}"/>
              </a:ext>
            </a:extLst>
          </p:cNvPr>
          <p:cNvCxnSpPr>
            <a:cxnSpLocks/>
          </p:cNvCxnSpPr>
          <p:nvPr/>
        </p:nvCxnSpPr>
        <p:spPr>
          <a:xfrm>
            <a:off x="5168000" y="2267712"/>
            <a:ext cx="18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639C41-214B-9A16-357D-8C1DF418493D}"/>
              </a:ext>
            </a:extLst>
          </p:cNvPr>
          <p:cNvSpPr txBox="1"/>
          <p:nvPr/>
        </p:nvSpPr>
        <p:spPr>
          <a:xfrm>
            <a:off x="6853729" y="1681163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3</a:t>
            </a:r>
            <a:endParaRPr lang="ru-RU" sz="2000" dirty="0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2ED1E236-A386-9659-318E-496F749CC0C2}"/>
              </a:ext>
            </a:extLst>
          </p:cNvPr>
          <p:cNvCxnSpPr/>
          <p:nvPr/>
        </p:nvCxnSpPr>
        <p:spPr>
          <a:xfrm>
            <a:off x="7628202" y="208127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A8242CA7-CC3F-91A8-6902-0805FEE1A89C}"/>
              </a:ext>
            </a:extLst>
          </p:cNvPr>
          <p:cNvCxnSpPr>
            <a:cxnSpLocks/>
          </p:cNvCxnSpPr>
          <p:nvPr/>
        </p:nvCxnSpPr>
        <p:spPr>
          <a:xfrm>
            <a:off x="7301403" y="2267712"/>
            <a:ext cx="6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85C2E90-73F4-230C-6880-8ABA43551948}"/>
              </a:ext>
            </a:extLst>
          </p:cNvPr>
          <p:cNvSpPr txBox="1"/>
          <p:nvPr/>
        </p:nvSpPr>
        <p:spPr>
          <a:xfrm>
            <a:off x="446499" y="3736654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D5F87B-B8D2-7056-8DD2-38DD1249CBD7}"/>
              </a:ext>
            </a:extLst>
          </p:cNvPr>
          <p:cNvSpPr txBox="1"/>
          <p:nvPr/>
        </p:nvSpPr>
        <p:spPr>
          <a:xfrm>
            <a:off x="3300703" y="3736654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1</a:t>
            </a:r>
            <a:endParaRPr lang="ru-RU" sz="2000" dirty="0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A02B7B30-5016-38CF-9CC3-A3C82FA85634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1429301" y="4136764"/>
            <a:ext cx="1107136" cy="40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635E3FA-9E61-6E08-57E7-A84D8AD482AD}"/>
              </a:ext>
            </a:extLst>
          </p:cNvPr>
          <p:cNvCxnSpPr/>
          <p:nvPr/>
        </p:nvCxnSpPr>
        <p:spPr>
          <a:xfrm>
            <a:off x="4046601" y="4136764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D9D712C-749C-B04A-6A58-FA2CFD105E55}"/>
              </a:ext>
            </a:extLst>
          </p:cNvPr>
          <p:cNvCxnSpPr>
            <a:cxnSpLocks/>
          </p:cNvCxnSpPr>
          <p:nvPr/>
        </p:nvCxnSpPr>
        <p:spPr>
          <a:xfrm>
            <a:off x="3434053" y="4313678"/>
            <a:ext cx="13444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A245DC-C27A-89B0-0AF0-9833ED7CCFCC}"/>
              </a:ext>
            </a:extLst>
          </p:cNvPr>
          <p:cNvSpPr txBox="1"/>
          <p:nvPr/>
        </p:nvSpPr>
        <p:spPr>
          <a:xfrm>
            <a:off x="5225151" y="3727129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2</a:t>
            </a:r>
            <a:endParaRPr lang="ru-RU" sz="2000" dirty="0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9C0C9D-6C28-E018-F2E3-D98D84A089BA}"/>
              </a:ext>
            </a:extLst>
          </p:cNvPr>
          <p:cNvCxnSpPr/>
          <p:nvPr/>
        </p:nvCxnSpPr>
        <p:spPr>
          <a:xfrm>
            <a:off x="5999624" y="4127239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05C27A1A-DEC5-FD99-652C-3C1BDA366F0C}"/>
              </a:ext>
            </a:extLst>
          </p:cNvPr>
          <p:cNvCxnSpPr>
            <a:cxnSpLocks/>
          </p:cNvCxnSpPr>
          <p:nvPr/>
        </p:nvCxnSpPr>
        <p:spPr>
          <a:xfrm>
            <a:off x="5168000" y="4313678"/>
            <a:ext cx="180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12B32A4-5D36-1474-AE84-3E5BF76D2825}"/>
              </a:ext>
            </a:extLst>
          </p:cNvPr>
          <p:cNvSpPr txBox="1"/>
          <p:nvPr/>
        </p:nvSpPr>
        <p:spPr>
          <a:xfrm>
            <a:off x="6853729" y="3727129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3</a:t>
            </a:r>
            <a:endParaRPr lang="ru-RU" sz="2000" dirty="0"/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BAB2900-69BB-ED1C-5422-1FD764D6865B}"/>
              </a:ext>
            </a:extLst>
          </p:cNvPr>
          <p:cNvCxnSpPr/>
          <p:nvPr/>
        </p:nvCxnSpPr>
        <p:spPr>
          <a:xfrm>
            <a:off x="7628202" y="4127239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30B33713-B17A-3BEF-AC4A-FD58C30CAEC7}"/>
              </a:ext>
            </a:extLst>
          </p:cNvPr>
          <p:cNvCxnSpPr>
            <a:cxnSpLocks/>
          </p:cNvCxnSpPr>
          <p:nvPr/>
        </p:nvCxnSpPr>
        <p:spPr>
          <a:xfrm>
            <a:off x="7301403" y="4313678"/>
            <a:ext cx="6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9281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range-based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703" y="1825625"/>
            <a:ext cx="949137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 : array) </a:t>
            </a:r>
            <a:r>
              <a:rPr lang="nn-NO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i;</a:t>
            </a: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[key, value] :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mymap)</a:t>
            </a:r>
            <a:r>
              <a:rPr lang="nn-NO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std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i;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96DA2-6074-FE9F-1A40-12C9EE953A28}"/>
              </a:ext>
            </a:extLst>
          </p:cNvPr>
          <p:cNvSpPr txBox="1"/>
          <p:nvPr/>
        </p:nvSpPr>
        <p:spPr>
          <a:xfrm>
            <a:off x="446499" y="1690688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E041-D53F-04E7-9263-E40BEA1A1716}"/>
              </a:ext>
            </a:extLst>
          </p:cNvPr>
          <p:cNvSpPr txBox="1"/>
          <p:nvPr/>
        </p:nvSpPr>
        <p:spPr>
          <a:xfrm>
            <a:off x="3300703" y="1690688"/>
            <a:ext cx="1555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Переменная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C3129-8BC2-D066-501B-33664D27A6CD}"/>
              </a:ext>
            </a:extLst>
          </p:cNvPr>
          <p:cNvSpPr txBox="1"/>
          <p:nvPr/>
        </p:nvSpPr>
        <p:spPr>
          <a:xfrm>
            <a:off x="7574956" y="1690688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3340F-EF61-097B-D986-E8F2ED5A94BB}"/>
              </a:ext>
            </a:extLst>
          </p:cNvPr>
          <p:cNvSpPr txBox="1"/>
          <p:nvPr/>
        </p:nvSpPr>
        <p:spPr>
          <a:xfrm>
            <a:off x="9765706" y="3733770"/>
            <a:ext cx="67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Тело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E1B6117-96D5-E33C-2F32-A008F01B096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429301" y="2090798"/>
            <a:ext cx="1107136" cy="40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BDB5749-B201-0677-0560-85D9B021B94E}"/>
              </a:ext>
            </a:extLst>
          </p:cNvPr>
          <p:cNvCxnSpPr/>
          <p:nvPr/>
        </p:nvCxnSpPr>
        <p:spPr>
          <a:xfrm>
            <a:off x="4046601" y="2090798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09E27DF-E576-EE6A-805D-5C71393EF8D5}"/>
              </a:ext>
            </a:extLst>
          </p:cNvPr>
          <p:cNvCxnSpPr>
            <a:cxnSpLocks/>
          </p:cNvCxnSpPr>
          <p:nvPr/>
        </p:nvCxnSpPr>
        <p:spPr>
          <a:xfrm flipH="1">
            <a:off x="7911084" y="2081273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93688D4-DCEB-AA1D-50B6-986F79192732}"/>
              </a:ext>
            </a:extLst>
          </p:cNvPr>
          <p:cNvCxnSpPr>
            <a:cxnSpLocks/>
          </p:cNvCxnSpPr>
          <p:nvPr/>
        </p:nvCxnSpPr>
        <p:spPr>
          <a:xfrm>
            <a:off x="3434053" y="2267712"/>
            <a:ext cx="13444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BD15690-68B7-6638-F9FA-9BA32245304A}"/>
              </a:ext>
            </a:extLst>
          </p:cNvPr>
          <p:cNvCxnSpPr>
            <a:cxnSpLocks/>
          </p:cNvCxnSpPr>
          <p:nvPr/>
        </p:nvCxnSpPr>
        <p:spPr>
          <a:xfrm>
            <a:off x="6512813" y="2271141"/>
            <a:ext cx="28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FD27CF1-15C1-90B9-8E5E-CEC50B13F2C2}"/>
              </a:ext>
            </a:extLst>
          </p:cNvPr>
          <p:cNvCxnSpPr/>
          <p:nvPr/>
        </p:nvCxnSpPr>
        <p:spPr>
          <a:xfrm flipH="1">
            <a:off x="10101834" y="4134705"/>
            <a:ext cx="2266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10EE7DC-1128-2A3D-6B68-FFA49372EA6D}"/>
              </a:ext>
            </a:extLst>
          </p:cNvPr>
          <p:cNvCxnSpPr>
            <a:cxnSpLocks/>
          </p:cNvCxnSpPr>
          <p:nvPr/>
        </p:nvCxnSpPr>
        <p:spPr>
          <a:xfrm>
            <a:off x="8676145" y="4305523"/>
            <a:ext cx="2791955" cy="6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D01C81-E365-2B32-F96F-F270D3D546DA}"/>
              </a:ext>
            </a:extLst>
          </p:cNvPr>
          <p:cNvSpPr txBox="1"/>
          <p:nvPr/>
        </p:nvSpPr>
        <p:spPr>
          <a:xfrm>
            <a:off x="4996551" y="1681163"/>
            <a:ext cx="1356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Контейнер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97ABB43-DC2F-C38D-1F7F-7FCD83EBFB43}"/>
              </a:ext>
            </a:extLst>
          </p:cNvPr>
          <p:cNvCxnSpPr/>
          <p:nvPr/>
        </p:nvCxnSpPr>
        <p:spPr>
          <a:xfrm>
            <a:off x="5656724" y="2081273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3153B78-FBF2-F8CE-3FF0-A54494E747A9}"/>
              </a:ext>
            </a:extLst>
          </p:cNvPr>
          <p:cNvCxnSpPr>
            <a:cxnSpLocks/>
          </p:cNvCxnSpPr>
          <p:nvPr/>
        </p:nvCxnSpPr>
        <p:spPr>
          <a:xfrm>
            <a:off x="5168000" y="2267712"/>
            <a:ext cx="10137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85C2E90-73F4-230C-6880-8ABA43551948}"/>
              </a:ext>
            </a:extLst>
          </p:cNvPr>
          <p:cNvSpPr txBox="1"/>
          <p:nvPr/>
        </p:nvSpPr>
        <p:spPr>
          <a:xfrm>
            <a:off x="446499" y="3736654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Ключевое слово</a:t>
            </a:r>
            <a:endParaRPr lang="ru-RU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D5F87B-B8D2-7056-8DD2-38DD1249CBD7}"/>
              </a:ext>
            </a:extLst>
          </p:cNvPr>
          <p:cNvSpPr txBox="1"/>
          <p:nvPr/>
        </p:nvSpPr>
        <p:spPr>
          <a:xfrm>
            <a:off x="4319878" y="3736654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Переменный</a:t>
            </a: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A02B7B30-5016-38CF-9CC3-A3C82FA85634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1429301" y="4136764"/>
            <a:ext cx="1107136" cy="40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635E3FA-9E61-6E08-57E7-A84D8AD482AD}"/>
              </a:ext>
            </a:extLst>
          </p:cNvPr>
          <p:cNvCxnSpPr/>
          <p:nvPr/>
        </p:nvCxnSpPr>
        <p:spPr>
          <a:xfrm>
            <a:off x="5122926" y="4136764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D9D712C-749C-B04A-6A58-FA2CFD105E55}"/>
              </a:ext>
            </a:extLst>
          </p:cNvPr>
          <p:cNvCxnSpPr>
            <a:cxnSpLocks/>
          </p:cNvCxnSpPr>
          <p:nvPr/>
        </p:nvCxnSpPr>
        <p:spPr>
          <a:xfrm>
            <a:off x="3434053" y="4313678"/>
            <a:ext cx="32429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A245DC-C27A-89B0-0AF0-9833ED7CCFCC}"/>
              </a:ext>
            </a:extLst>
          </p:cNvPr>
          <p:cNvSpPr txBox="1"/>
          <p:nvPr/>
        </p:nvSpPr>
        <p:spPr>
          <a:xfrm>
            <a:off x="6987276" y="3727129"/>
            <a:ext cx="1588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Выражение</a:t>
            </a:r>
            <a:r>
              <a:rPr lang="en-US" sz="2000" dirty="0"/>
              <a:t>2</a:t>
            </a:r>
            <a:endParaRPr lang="ru-RU" sz="2000" dirty="0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9C0C9D-6C28-E018-F2E3-D98D84A089BA}"/>
              </a:ext>
            </a:extLst>
          </p:cNvPr>
          <p:cNvCxnSpPr/>
          <p:nvPr/>
        </p:nvCxnSpPr>
        <p:spPr>
          <a:xfrm>
            <a:off x="7761749" y="4127239"/>
            <a:ext cx="0" cy="17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05C27A1A-DEC5-FD99-652C-3C1BDA366F0C}"/>
              </a:ext>
            </a:extLst>
          </p:cNvPr>
          <p:cNvCxnSpPr>
            <a:cxnSpLocks/>
          </p:cNvCxnSpPr>
          <p:nvPr/>
        </p:nvCxnSpPr>
        <p:spPr>
          <a:xfrm>
            <a:off x="7296150" y="4304153"/>
            <a:ext cx="9555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5614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for (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range-declaration</a:t>
            </a:r>
            <a:r>
              <a:rPr lang="ru-RU" sz="4000" dirty="0"/>
              <a:t> </a:t>
            </a:r>
            <a:r>
              <a:rPr lang="en-US" sz="4000" dirty="0"/>
              <a:t>: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range-expression</a:t>
            </a:r>
            <a:r>
              <a:rPr lang="en-US" sz="4000" dirty="0"/>
              <a:t>)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range-expression</a:t>
            </a:r>
            <a:r>
              <a:rPr lang="en-US" sz="2000" dirty="0"/>
              <a:t>	 –</a:t>
            </a:r>
            <a:r>
              <a:rPr lang="ru-RU" sz="2000" dirty="0"/>
              <a:t> любое выражение, представляющее последовательность элементов (либо массив, либо объект, для которого определены методы или функции </a:t>
            </a:r>
            <a:r>
              <a:rPr lang="ru-RU" sz="2000" dirty="0" err="1">
                <a:latin typeface="Consolas" panose="020B0609020204030204" pitchFamily="49" charset="0"/>
              </a:rPr>
              <a:t>begin</a:t>
            </a:r>
            <a:r>
              <a:rPr lang="ru-RU" sz="2000" dirty="0"/>
              <a:t> и </a:t>
            </a:r>
            <a:r>
              <a:rPr lang="ru-RU" sz="2000" dirty="0" err="1">
                <a:latin typeface="Consolas" panose="020B0609020204030204" pitchFamily="49" charset="0"/>
              </a:rPr>
              <a:t>end</a:t>
            </a:r>
            <a:r>
              <a:rPr lang="ru-RU" sz="2000" dirty="0"/>
              <a:t>) или список инициализации.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range-declaration</a:t>
            </a:r>
            <a:r>
              <a:rPr lang="en-US" sz="2000" dirty="0"/>
              <a:t> – </a:t>
            </a:r>
            <a:r>
              <a:rPr lang="ru-RU" sz="2000" dirty="0"/>
              <a:t>объявление именованной переменной, тип которой является типом элемента последовательности, представленного </a:t>
            </a:r>
            <a:r>
              <a:rPr lang="ru-RU" sz="2000" dirty="0" err="1">
                <a:solidFill>
                  <a:schemeClr val="accent2">
                    <a:lumMod val="75000"/>
                  </a:schemeClr>
                </a:solidFill>
              </a:rPr>
              <a:t>range-expression</a:t>
            </a:r>
            <a:r>
              <a:rPr lang="ru-RU" sz="2000" dirty="0"/>
              <a:t>, или ссылкой на этот тип. Часто использует</a:t>
            </a:r>
            <a:r>
              <a:rPr lang="en-US" sz="2000" dirty="0"/>
              <a:t> </a:t>
            </a:r>
            <a:r>
              <a:rPr lang="ru-RU" sz="2000" dirty="0"/>
              <a:t>спецификатор </a:t>
            </a:r>
            <a:r>
              <a:rPr lang="en-US" sz="2000" dirty="0">
                <a:latin typeface="Consolas" panose="020B0609020204030204" pitchFamily="49" charset="0"/>
              </a:rPr>
              <a:t>auto</a:t>
            </a:r>
            <a:r>
              <a:rPr lang="ru-RU" sz="2000" dirty="0"/>
              <a:t> для автоматического определения типа. </a:t>
            </a:r>
          </a:p>
        </p:txBody>
      </p:sp>
    </p:spTree>
    <p:extLst>
      <p:ext uri="{BB962C8B-B14F-4D97-AF65-F5344CB8AC3E}">
        <p14:creationId xmlns:p14="http://schemas.microsoft.com/office/powerpoint/2010/main" val="89912388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5"/>
            <a:ext cx="1111685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for(</a:t>
            </a:r>
            <a:r>
              <a:rPr lang="ru-RU" sz="3600" dirty="0"/>
              <a:t>инициализация</a:t>
            </a:r>
            <a:r>
              <a:rPr lang="en-US" sz="3600" dirty="0"/>
              <a:t>; 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range-declaration</a:t>
            </a:r>
            <a:r>
              <a:rPr lang="ru-RU" sz="3600" dirty="0"/>
              <a:t> </a:t>
            </a:r>
            <a:r>
              <a:rPr lang="en-US" sz="3600" dirty="0"/>
              <a:t>: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range-expression</a:t>
            </a:r>
            <a:r>
              <a:rPr lang="en-US" sz="3600" dirty="0"/>
              <a:t>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199" y="1825625"/>
            <a:ext cx="966787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nn-NO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 = {1,2,3}; </a:t>
            </a:r>
            <a:r>
              <a:rPr lang="nn-NO" b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auto i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nn-NO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i;</a:t>
            </a: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93810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for </a:t>
            </a:r>
            <a:r>
              <a:rPr lang="ru-RU" sz="4000" dirty="0"/>
              <a:t>и области видимости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sz="2000" dirty="0"/>
              <a:t>Также, как и </a:t>
            </a:r>
            <a:r>
              <a:rPr lang="en-US" sz="2000" dirty="0">
                <a:latin typeface="Consolas" panose="020B0609020204030204" pitchFamily="49" charset="0"/>
              </a:rPr>
              <a:t>if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>
                <a:latin typeface="Consolas" panose="020B0609020204030204" pitchFamily="49" charset="0"/>
              </a:rPr>
              <a:t>while</a:t>
            </a:r>
            <a:r>
              <a:rPr lang="ru-RU" sz="2000" dirty="0"/>
              <a:t>, так и </a:t>
            </a:r>
            <a:r>
              <a:rPr lang="en-US" sz="2000" dirty="0">
                <a:latin typeface="Consolas" panose="020B0609020204030204" pitchFamily="49" charset="0"/>
              </a:rPr>
              <a:t>for</a:t>
            </a:r>
            <a:r>
              <a:rPr lang="en-US" sz="2000" dirty="0"/>
              <a:t> </a:t>
            </a:r>
            <a:r>
              <a:rPr lang="ru-RU" sz="2000" dirty="0"/>
              <a:t>создаёт свою область видимости.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48CA563-CA11-40F4-BC61-4B883A23BEC7}"/>
              </a:ext>
            </a:extLst>
          </p:cNvPr>
          <p:cNvSpPr txBox="1">
            <a:spLocks/>
          </p:cNvSpPr>
          <p:nvPr/>
        </p:nvSpPr>
        <p:spPr>
          <a:xfrm>
            <a:off x="882808" y="3038574"/>
            <a:ext cx="5588429" cy="2408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ОК, нарушаем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ODR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B9A4908-F1A9-4657-8C07-DD3B70270A3E}"/>
              </a:ext>
            </a:extLst>
          </p:cNvPr>
          <p:cNvSpPr txBox="1">
            <a:spLocks/>
          </p:cNvSpPr>
          <p:nvPr/>
        </p:nvSpPr>
        <p:spPr>
          <a:xfrm>
            <a:off x="6801866" y="3061011"/>
            <a:ext cx="5588429" cy="2408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nn-NO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nn-NO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i++){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n-NO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 = -</a:t>
            </a:r>
            <a:r>
              <a:rPr lang="nn-NO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nn-NO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ОК</a:t>
            </a:r>
            <a:endParaRPr lang="nn-NO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cout &lt;&lt; i;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n-NO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91270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C307-0DD0-EABC-2D32-70544190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24F36-D7B7-8084-B198-74BBF054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Jump Statements (</a:t>
            </a:r>
            <a:r>
              <a:rPr lang="ru-RU" sz="4000" b="1" dirty="0" err="1"/>
              <a:t>Стейтменты</a:t>
            </a:r>
            <a:r>
              <a:rPr lang="ru-RU" sz="4000" b="1" dirty="0"/>
              <a:t> перехода)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1559A-E0DE-272A-0BA1-1C4AB271C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999" y="2000719"/>
            <a:ext cx="1020918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В стандарте указано </a:t>
            </a:r>
            <a:r>
              <a:rPr lang="en-US" sz="2400" dirty="0"/>
              <a:t>5</a:t>
            </a:r>
            <a:r>
              <a:rPr lang="ru-RU" sz="2400" dirty="0"/>
              <a:t> видов:</a:t>
            </a:r>
            <a:endParaRPr lang="en-US" sz="2400" dirty="0"/>
          </a:p>
          <a:p>
            <a:r>
              <a:rPr lang="en-US" sz="2400" dirty="0"/>
              <a:t>break;</a:t>
            </a:r>
          </a:p>
          <a:p>
            <a:r>
              <a:rPr lang="en-US" sz="2400" dirty="0"/>
              <a:t>continue;</a:t>
            </a:r>
          </a:p>
          <a:p>
            <a:r>
              <a:rPr lang="en-US" sz="2400" dirty="0"/>
              <a:t>return</a:t>
            </a:r>
            <a:r>
              <a:rPr lang="ru-RU" sz="2400" dirty="0"/>
              <a:t>. Прерывание и выход из функции (будет рассмотрен позже)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co_­return</a:t>
            </a:r>
            <a:r>
              <a:rPr lang="ru-RU" sz="2400" dirty="0"/>
              <a:t>. Приостановка и выход из </a:t>
            </a:r>
            <a:r>
              <a:rPr lang="ru-RU" sz="2400" dirty="0" err="1"/>
              <a:t>корутины</a:t>
            </a:r>
            <a:r>
              <a:rPr lang="ru-RU" sz="2400" dirty="0"/>
              <a:t> (будет рассмотрен позже)</a:t>
            </a:r>
            <a:r>
              <a:rPr lang="en-US" sz="2400" dirty="0"/>
              <a:t>;</a:t>
            </a:r>
          </a:p>
          <a:p>
            <a:r>
              <a:rPr lang="ru-RU" sz="2400" dirty="0" err="1"/>
              <a:t>got</a:t>
            </a:r>
            <a:r>
              <a:rPr lang="en-US" sz="2400" dirty="0"/>
              <a:t>o.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331803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break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sz="2000" dirty="0"/>
              <a:t>Разрешено использовать только в </a:t>
            </a:r>
            <a:r>
              <a:rPr lang="en-US" sz="2000" dirty="0"/>
              <a:t>switch </a:t>
            </a:r>
            <a:r>
              <a:rPr lang="ru-RU" sz="2000" dirty="0"/>
              <a:t>и циклах. Приводит к немедленному выходу за пределы </a:t>
            </a:r>
            <a:r>
              <a:rPr lang="en-US" sz="2000" dirty="0"/>
              <a:t>switch </a:t>
            </a:r>
            <a:r>
              <a:rPr lang="ru-RU" sz="2000" dirty="0"/>
              <a:t>или цикла соответственно.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48CA563-CA11-40F4-BC61-4B883A23BEC7}"/>
              </a:ext>
            </a:extLst>
          </p:cNvPr>
          <p:cNvSpPr txBox="1">
            <a:spLocks/>
          </p:cNvSpPr>
          <p:nvPr/>
        </p:nvSpPr>
        <p:spPr>
          <a:xfrm>
            <a:off x="715544" y="3562678"/>
            <a:ext cx="2975514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CD72187-39CF-4129-B3E4-90145D583459}"/>
              </a:ext>
            </a:extLst>
          </p:cNvPr>
          <p:cNvSpPr txBox="1">
            <a:spLocks/>
          </p:cNvSpPr>
          <p:nvPr/>
        </p:nvSpPr>
        <p:spPr>
          <a:xfrm>
            <a:off x="3936387" y="3562675"/>
            <a:ext cx="1908714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02C0E92-57BB-44F9-A9E6-6F947DE70EA8}"/>
              </a:ext>
            </a:extLst>
          </p:cNvPr>
          <p:cNvSpPr txBox="1">
            <a:spLocks/>
          </p:cNvSpPr>
          <p:nvPr/>
        </p:nvSpPr>
        <p:spPr>
          <a:xfrm>
            <a:off x="6090430" y="3562672"/>
            <a:ext cx="2142890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2D966940-3264-4120-9456-B17729AE6A22}"/>
              </a:ext>
            </a:extLst>
          </p:cNvPr>
          <p:cNvSpPr txBox="1">
            <a:spLocks/>
          </p:cNvSpPr>
          <p:nvPr/>
        </p:nvSpPr>
        <p:spPr>
          <a:xfrm>
            <a:off x="8478649" y="3562672"/>
            <a:ext cx="3412270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EC920DBD-E113-4085-AC5F-32903615BD59}"/>
              </a:ext>
            </a:extLst>
          </p:cNvPr>
          <p:cNvCxnSpPr/>
          <p:nvPr/>
        </p:nvCxnSpPr>
        <p:spPr>
          <a:xfrm rot="10800000" flipV="1">
            <a:off x="1103971" y="4379565"/>
            <a:ext cx="947854" cy="649632"/>
          </a:xfrm>
          <a:prstGeom prst="bentConnector3">
            <a:avLst>
              <a:gd name="adj1" fmla="val -1358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E811ACA1-06EE-4F4D-A6B3-783FE5745B7C}"/>
              </a:ext>
            </a:extLst>
          </p:cNvPr>
          <p:cNvCxnSpPr/>
          <p:nvPr/>
        </p:nvCxnSpPr>
        <p:spPr>
          <a:xfrm rot="10800000" flipV="1">
            <a:off x="4257673" y="4379559"/>
            <a:ext cx="947854" cy="649632"/>
          </a:xfrm>
          <a:prstGeom prst="bentConnector3">
            <a:avLst>
              <a:gd name="adj1" fmla="val -629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94631DDD-3346-4636-AD61-6FCA1D917C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21088" y="4468222"/>
            <a:ext cx="649632" cy="472306"/>
          </a:xfrm>
          <a:prstGeom prst="bentConnector3">
            <a:avLst>
              <a:gd name="adj1" fmla="val 2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789E435C-E5B1-4CA8-9860-5FBF2BBEBC79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8814805" y="4379566"/>
            <a:ext cx="3076114" cy="649625"/>
          </a:xfrm>
          <a:prstGeom prst="bentConnector3">
            <a:avLst>
              <a:gd name="adj1" fmla="val -30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2012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continue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ru-RU" sz="2000" dirty="0"/>
              <a:t>Разрешено использовать только в циклах. Приводит к пропуску кода, расположенного после </a:t>
            </a:r>
            <a:r>
              <a:rPr lang="en-US" sz="2000" dirty="0"/>
              <a:t>continue</a:t>
            </a:r>
            <a:r>
              <a:rPr lang="ru-RU" sz="2000" dirty="0"/>
              <a:t> и до конца тела цикла. Цикл не прерывается.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48CA563-CA11-40F4-BC61-4B883A23BEC7}"/>
              </a:ext>
            </a:extLst>
          </p:cNvPr>
          <p:cNvSpPr txBox="1">
            <a:spLocks/>
          </p:cNvSpPr>
          <p:nvPr/>
        </p:nvSpPr>
        <p:spPr>
          <a:xfrm>
            <a:off x="1819511" y="3562678"/>
            <a:ext cx="2975514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CD72187-39CF-4129-B3E4-90145D583459}"/>
              </a:ext>
            </a:extLst>
          </p:cNvPr>
          <p:cNvSpPr txBox="1">
            <a:spLocks/>
          </p:cNvSpPr>
          <p:nvPr/>
        </p:nvSpPr>
        <p:spPr>
          <a:xfrm>
            <a:off x="5374886" y="3562675"/>
            <a:ext cx="1908714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02C0E92-57BB-44F9-A9E6-6F947DE70EA8}"/>
              </a:ext>
            </a:extLst>
          </p:cNvPr>
          <p:cNvSpPr txBox="1">
            <a:spLocks/>
          </p:cNvSpPr>
          <p:nvPr/>
        </p:nvSpPr>
        <p:spPr>
          <a:xfrm>
            <a:off x="8131094" y="3562672"/>
            <a:ext cx="2142890" cy="1633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EC920DBD-E113-4085-AC5F-32903615BD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15692" y="4609588"/>
            <a:ext cx="649633" cy="189571"/>
          </a:xfrm>
          <a:prstGeom prst="bentConnector3">
            <a:avLst>
              <a:gd name="adj1" fmla="val 2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66638732-3803-4100-AB5D-C113AB4CA3A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43196" y="4609588"/>
            <a:ext cx="649633" cy="189571"/>
          </a:xfrm>
          <a:prstGeom prst="bentConnector3">
            <a:avLst>
              <a:gd name="adj1" fmla="val 2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E8C2D737-26A7-4B6F-8CAF-F42F16DCFA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99404" y="4609588"/>
            <a:ext cx="649633" cy="189571"/>
          </a:xfrm>
          <a:prstGeom prst="bentConnector3">
            <a:avLst>
              <a:gd name="adj1" fmla="val 2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2897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Jump Statement</a:t>
            </a:r>
            <a:r>
              <a:rPr lang="ru-RU" sz="3600" dirty="0"/>
              <a:t> </a:t>
            </a:r>
            <a:r>
              <a:rPr lang="en-US" sz="3600" dirty="0" err="1"/>
              <a:t>goto</a:t>
            </a:r>
            <a:r>
              <a:rPr lang="en-US" sz="3600" dirty="0"/>
              <a:t> (</a:t>
            </a:r>
            <a:r>
              <a:rPr lang="ru-RU" sz="3600" dirty="0" err="1"/>
              <a:t>Стейтмент</a:t>
            </a:r>
            <a:r>
              <a:rPr lang="ru-RU" sz="3600" dirty="0"/>
              <a:t> перехода</a:t>
            </a:r>
            <a:r>
              <a:rPr lang="en-US" sz="3600" dirty="0"/>
              <a:t> </a:t>
            </a:r>
            <a:r>
              <a:rPr lang="en-US" sz="3600" dirty="0" err="1"/>
              <a:t>goto</a:t>
            </a:r>
            <a:r>
              <a:rPr lang="ru-RU" sz="36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1825625"/>
            <a:ext cx="702944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 метка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 */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label;</a:t>
            </a:r>
          </a:p>
          <a:p>
            <a:pPr marL="0" lvl="0" indent="0" algn="l"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EC5DF8F-BAE8-1285-8F99-66E50064106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4486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ru-RU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*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label –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обычный идентификатор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53329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Свойства метки </a:t>
            </a:r>
            <a:r>
              <a:rPr lang="en-US" sz="3600" dirty="0" err="1"/>
              <a:t>goto</a:t>
            </a:r>
            <a:endParaRPr lang="ru-RU" sz="36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5AF49BE-53A9-4B37-90F6-8B09952D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Метка – это идентификатор, подчиняющийся тем же правилам именования, что и переменные.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Метки имеют собственное пространство имён – они не конфликтуют с именами переменных, функций и типов.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 marL="263525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263525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63525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start: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// OK: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метка и переменная — разные сущности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3525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start;</a:t>
            </a:r>
          </a:p>
          <a:p>
            <a:pPr marL="263525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Метки не могут быть вложены в другие метки с тем же именем в одной функции – повторение имени метки в одной функции ошибка.</a:t>
            </a:r>
          </a:p>
        </p:txBody>
      </p:sp>
    </p:spTree>
    <p:extLst>
      <p:ext uri="{BB962C8B-B14F-4D97-AF65-F5344CB8AC3E}">
        <p14:creationId xmlns:p14="http://schemas.microsoft.com/office/powerpoint/2010/main" val="214287399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Свойства метки </a:t>
            </a:r>
            <a:r>
              <a:rPr lang="en-US" sz="3600" dirty="0" err="1"/>
              <a:t>goto</a:t>
            </a:r>
            <a:endParaRPr lang="ru-RU" sz="36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5AF49BE-53A9-4B37-90F6-8B09952D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Метка видима во всей функции, а не только в блоке, где она объявлена. Это единственное исключение из правила «область видимости = блок».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endParaRPr lang="ru-RU" sz="1400" dirty="0"/>
          </a:p>
          <a:p>
            <a:pPr marL="263525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263525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end;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 // OK: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метка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видна отсюда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end: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метка внутри вложенного блока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;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ru-RU" sz="2000" dirty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Метка не обязана использоваться. Неиспользуемая метка – не ошибка.</a:t>
            </a:r>
          </a:p>
        </p:txBody>
      </p:sp>
    </p:spTree>
    <p:extLst>
      <p:ext uri="{BB962C8B-B14F-4D97-AF65-F5344CB8AC3E}">
        <p14:creationId xmlns:p14="http://schemas.microsoft.com/office/powerpoint/2010/main" val="28658759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Свойства метки </a:t>
            </a:r>
            <a:r>
              <a:rPr lang="en-US" sz="3600" dirty="0" err="1"/>
              <a:t>goto</a:t>
            </a:r>
            <a:r>
              <a:rPr lang="ru-RU" sz="3600" dirty="0"/>
              <a:t> - ограничения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5AF49BE-53A9-4B37-90F6-8B09952D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085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Нельзя прыгать из функции в другую функцию</a:t>
            </a:r>
            <a:r>
              <a:rPr lang="en-US" sz="20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Прыгать в обработчик исключения (</a:t>
            </a:r>
            <a:r>
              <a:rPr lang="ru-RU" sz="2000" dirty="0" err="1"/>
              <a:t>catch</a:t>
            </a:r>
            <a:r>
              <a:rPr lang="ru-RU" sz="2000" dirty="0"/>
              <a:t>) или из него</a:t>
            </a:r>
            <a:r>
              <a:rPr lang="en-US" sz="2000" dirty="0"/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r>
              <a:rPr lang="ru-RU" sz="2000" dirty="0"/>
              <a:t>Прыгать внутрь блока в обход объявлений с нетривиальной инициализацией</a:t>
            </a:r>
            <a:r>
              <a:rPr lang="en-US" sz="2000" dirty="0"/>
              <a:t>:</a:t>
            </a:r>
            <a:endParaRPr lang="ru-RU" sz="2000" dirty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endParaRPr lang="ru-RU" sz="2000" dirty="0"/>
          </a:p>
          <a:p>
            <a:pPr marL="263525" indent="0"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skip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скалярный тип, но есть инициализатор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3525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x;    // OK: скалярный тип, без инициализации</a:t>
            </a:r>
          </a:p>
          <a:p>
            <a:pPr marL="263525" indent="0">
              <a:buNone/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s; // ОШИБКА: класс с нетривиальным конструктором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skip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;</a:t>
            </a:r>
          </a:p>
          <a:p>
            <a:pPr marL="263525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tabLst>
                <a:tab pos="457200" algn="l"/>
              </a:tabLs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8107340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CDCF-932F-EDAC-C9C1-A32C5D3F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48-F456-D5FB-EAF1-DDC414BCE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Базовый ввод вывод</a:t>
            </a:r>
          </a:p>
        </p:txBody>
      </p:sp>
    </p:spTree>
    <p:extLst>
      <p:ext uri="{BB962C8B-B14F-4D97-AF65-F5344CB8AC3E}">
        <p14:creationId xmlns:p14="http://schemas.microsoft.com/office/powerpoint/2010/main" val="28444456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Потоки и стандартные устройства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9" y="1867570"/>
            <a:ext cx="10179341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000" dirty="0"/>
              <a:t>Стандартные потоки: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dirty="0" err="1"/>
              <a:t>std</a:t>
            </a:r>
            <a:r>
              <a:rPr lang="ru-RU" sz="2000" dirty="0"/>
              <a:t>::</a:t>
            </a:r>
            <a:r>
              <a:rPr lang="ru-RU" sz="2000" dirty="0" err="1"/>
              <a:t>cin</a:t>
            </a:r>
            <a:r>
              <a:rPr lang="ru-RU" sz="2000" dirty="0"/>
              <a:t> / </a:t>
            </a:r>
            <a:r>
              <a:rPr lang="ru-RU" sz="2000" dirty="0" err="1"/>
              <a:t>stdin</a:t>
            </a:r>
            <a:r>
              <a:rPr lang="ru-RU" sz="2000" dirty="0"/>
              <a:t> — стандартный ввод</a:t>
            </a:r>
            <a:r>
              <a:rPr lang="en-US" sz="2000" dirty="0"/>
              <a:t>;</a:t>
            </a:r>
            <a:endParaRPr lang="ru-RU" sz="20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dirty="0" err="1"/>
              <a:t>std</a:t>
            </a:r>
            <a:r>
              <a:rPr lang="ru-RU" sz="2000" dirty="0"/>
              <a:t>::</a:t>
            </a:r>
            <a:r>
              <a:rPr lang="ru-RU" sz="2000" dirty="0" err="1"/>
              <a:t>cout</a:t>
            </a:r>
            <a:r>
              <a:rPr lang="ru-RU" sz="2000" dirty="0"/>
              <a:t> / </a:t>
            </a:r>
            <a:r>
              <a:rPr lang="ru-RU" sz="2000" dirty="0" err="1"/>
              <a:t>stdout</a:t>
            </a:r>
            <a:r>
              <a:rPr lang="ru-RU" sz="2000" dirty="0"/>
              <a:t> — стандартный вывод</a:t>
            </a:r>
            <a:r>
              <a:rPr lang="en-US" sz="2000" dirty="0"/>
              <a:t>;</a:t>
            </a:r>
            <a:endParaRPr lang="ru-RU" sz="20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dirty="0" err="1"/>
              <a:t>std</a:t>
            </a:r>
            <a:r>
              <a:rPr lang="ru-RU" sz="2000" dirty="0"/>
              <a:t>::</a:t>
            </a:r>
            <a:r>
              <a:rPr lang="ru-RU" sz="2000" dirty="0" err="1"/>
              <a:t>cerr</a:t>
            </a:r>
            <a:r>
              <a:rPr lang="ru-RU" sz="2000" dirty="0"/>
              <a:t> / </a:t>
            </a:r>
            <a:r>
              <a:rPr lang="ru-RU" sz="2000" dirty="0" err="1"/>
              <a:t>stderr</a:t>
            </a:r>
            <a:r>
              <a:rPr lang="ru-RU" sz="2000" dirty="0"/>
              <a:t> — поток ошибок</a:t>
            </a:r>
            <a:r>
              <a:rPr lang="en-US" sz="2000" dirty="0"/>
              <a:t>;</a:t>
            </a:r>
            <a:endParaRPr lang="ru-RU" sz="20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000" dirty="0" err="1"/>
              <a:t>std</a:t>
            </a:r>
            <a:r>
              <a:rPr lang="ru-RU" sz="2000" dirty="0"/>
              <a:t>::</a:t>
            </a:r>
            <a:r>
              <a:rPr lang="ru-RU" sz="2000" dirty="0" err="1"/>
              <a:t>clog</a:t>
            </a:r>
            <a:r>
              <a:rPr lang="ru-RU" sz="2000" dirty="0"/>
              <a:t> — буферизованный поток ошибок в C++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635037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Буферизация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9" y="1867570"/>
            <a:ext cx="10179341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/>
              <a:t>Буферизация – данные накапливаются в промежуточном хранилище и выводятся/вводиться позже, при заполнении буфера или принудительно, командой </a:t>
            </a:r>
            <a:r>
              <a:rPr lang="ru-RU" sz="2000" dirty="0" err="1"/>
              <a:t>flush</a:t>
            </a:r>
            <a:r>
              <a:rPr lang="ru-RU" sz="2000" dirty="0"/>
              <a:t>. Поток ошибок, по умолчанию не буферизируется, т.е. после каждой команды вывода, выполняется автоматический </a:t>
            </a:r>
            <a:r>
              <a:rPr lang="ru-RU" sz="2000" dirty="0" err="1"/>
              <a:t>flush</a:t>
            </a:r>
            <a:r>
              <a:rPr lang="ru-RU" sz="2000" dirty="0"/>
              <a:t>.</a:t>
            </a: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CA36DB-C696-4513-8BAA-D7C89E3E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50" y="3279965"/>
            <a:ext cx="7065757" cy="300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7982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std::</a:t>
            </a:r>
            <a:r>
              <a:rPr lang="en-US" sz="2800" b="1" dirty="0" err="1"/>
              <a:t>cout</a:t>
            </a:r>
            <a:r>
              <a:rPr lang="en-US" sz="2800" b="1" dirty="0"/>
              <a:t> </a:t>
            </a:r>
            <a:r>
              <a:rPr lang="ru-RU" sz="2800" b="1" dirty="0"/>
              <a:t>–</a:t>
            </a:r>
            <a:r>
              <a:rPr lang="en-US" sz="2800" b="1" dirty="0"/>
              <a:t> </a:t>
            </a:r>
            <a:r>
              <a:rPr lang="ru-RU" sz="2800" b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9" y="1867570"/>
            <a:ext cx="10179341" cy="4351338"/>
          </a:xfrm>
        </p:spPr>
        <p:txBody>
          <a:bodyPr>
            <a:noAutofit/>
          </a:bodyPr>
          <a:lstStyle/>
          <a:p>
            <a:pPr marL="5381625" indent="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5381625" indent="0"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5381625" indent="0"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World!"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5381625" indent="0"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5381625" indent="0"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5381625" indent="0"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5381625" indent="0">
              <a:buNone/>
            </a:pPr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5381625" indent="0"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age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5381625" indent="0"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age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5381625" indent="0">
              <a:buNone/>
            </a:pP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9F1C7-21CF-4C35-A9F4-CDBA324B875A}"/>
              </a:ext>
            </a:extLst>
          </p:cNvPr>
          <p:cNvSpPr txBox="1"/>
          <p:nvPr/>
        </p:nvSpPr>
        <p:spPr>
          <a:xfrm>
            <a:off x="1174459" y="1867570"/>
            <a:ext cx="4423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iostream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 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для ввода-вывода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&lt;&lt; — оператор вставки в поток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Возвращает поток, поэтому можно строить цепочки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28829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std::</a:t>
            </a:r>
            <a:r>
              <a:rPr lang="en-US" sz="2800" b="1" dirty="0" err="1"/>
              <a:t>endl</a:t>
            </a:r>
            <a:r>
              <a:rPr lang="en-US" sz="2800" b="1" dirty="0"/>
              <a:t> </a:t>
            </a:r>
            <a:r>
              <a:rPr lang="ru-RU" sz="2800" b="1" dirty="0"/>
              <a:t>или</a:t>
            </a:r>
            <a:r>
              <a:rPr lang="en-US" sz="2800" b="1" dirty="0"/>
              <a:t> '\n'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459" y="1867570"/>
            <a:ext cx="10179341" cy="4351338"/>
          </a:xfrm>
        </p:spPr>
        <p:txBody>
          <a:bodyPr>
            <a:noAutofit/>
          </a:bodyPr>
          <a:lstStyle/>
          <a:p>
            <a:pPr marL="4929188" indent="0"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'\n' + flush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929188" indent="0"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 '\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n'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929188" indent="0"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 newline"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::flush;</a:t>
            </a:r>
          </a:p>
          <a:p>
            <a:pPr marL="5240338" indent="0">
              <a:buNone/>
            </a:pP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5240338" indent="0">
              <a:buNone/>
            </a:pP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5240338" indent="0">
              <a:buNone/>
            </a:pP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Вывод данных на экран – долгая операция (т.к. нужно «дёрнуть» ОС). Чаще дёргаешь – больше времени тратишь. Вывод: реже используйте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чаще обычный 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Буфер ускоряет работу программы, т.к. уменьшает количество обращений к ОС, но при неожиданном завершении работы программы, данные из буфера не попадут на экран.</a:t>
            </a:r>
            <a:endParaRPr lang="en-US" sz="16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9F1C7-21CF-4C35-A9F4-CDBA324B875A}"/>
              </a:ext>
            </a:extLst>
          </p:cNvPr>
          <p:cNvSpPr txBox="1"/>
          <p:nvPr/>
        </p:nvSpPr>
        <p:spPr>
          <a:xfrm>
            <a:off x="1174459" y="1867570"/>
            <a:ext cx="46951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"" – 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строки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'' – 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одиночные символы и </a:t>
            </a:r>
            <a:r>
              <a:rPr lang="ru-RU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эскейп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последовательности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'\n' – 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перевод вывода на новую строку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::flush – 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принудительный сброс буфера.</a:t>
            </a:r>
          </a:p>
        </p:txBody>
      </p:sp>
    </p:spTree>
    <p:extLst>
      <p:ext uri="{BB962C8B-B14F-4D97-AF65-F5344CB8AC3E}">
        <p14:creationId xmlns:p14="http://schemas.microsoft.com/office/powerpoint/2010/main" val="400664646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std::</a:t>
            </a:r>
            <a:r>
              <a:rPr lang="en-US" sz="2800" b="1" dirty="0" err="1"/>
              <a:t>cin</a:t>
            </a:r>
            <a:r>
              <a:rPr lang="en-US" sz="2800" b="1" dirty="0"/>
              <a:t> </a:t>
            </a:r>
            <a:r>
              <a:rPr lang="ru-RU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</a:t>
            </a:r>
            <a:r>
              <a:rPr lang="en-US" sz="2800" b="1" dirty="0"/>
              <a:t> </a:t>
            </a:r>
            <a:r>
              <a:rPr lang="ru-RU" sz="2800" b="1" dirty="0"/>
              <a:t>ввод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57" y="4537166"/>
            <a:ext cx="10179341" cy="2230386"/>
          </a:xfrm>
        </p:spPr>
        <p:txBody>
          <a:bodyPr>
            <a:noAutofit/>
          </a:bodyPr>
          <a:lstStyle/>
          <a:p>
            <a:pPr marL="3587750" indent="0">
              <a:buNone/>
              <a:tabLst>
                <a:tab pos="3587750" algn="l"/>
              </a:tabLst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 marL="3587750" indent="0">
              <a:buNone/>
              <a:tabLst>
                <a:tab pos="3587750" algn="l"/>
              </a:tabLst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 marL="3587750" indent="0">
              <a:buNone/>
              <a:tabLst>
                <a:tab pos="3587750" algn="l"/>
              </a:tabLst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 str;</a:t>
            </a:r>
          </a:p>
          <a:p>
            <a:pPr marL="3587750" indent="0">
              <a:buNone/>
              <a:tabLst>
                <a:tab pos="3587750" algn="l"/>
              </a:tabLst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str;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9F1C7-21CF-4C35-A9F4-CDBA324B875A}"/>
              </a:ext>
            </a:extLst>
          </p:cNvPr>
          <p:cNvSpPr txBox="1"/>
          <p:nvPr/>
        </p:nvSpPr>
        <p:spPr>
          <a:xfrm>
            <a:off x="1174458" y="1867570"/>
            <a:ext cx="101793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iostream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 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для ввода-вывода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&gt;&gt;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— оператор извлечения из потока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Возвращает поток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ввода, поэтому можно строить цепочки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Пропускает ведущие пробельные символы (пробелы, табуляции, переносы строк)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удаляя их из потока ввода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Разделение данных происходит по пробельным символам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Автоматически </a:t>
            </a:r>
            <a:r>
              <a:rPr lang="ru-RU" dirty="0" err="1">
                <a:solidFill>
                  <a:srgbClr val="3B3B3B"/>
                </a:solidFill>
                <a:latin typeface="Consolas" panose="020B0609020204030204" pitchFamily="49" charset="0"/>
              </a:rPr>
              <a:t>парсит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данные в зависимости от типа переменной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Считанные данные удаляются из потока, не считанные остаются в потоке и ждут следующего чтения.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05357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&gt;&gt; </a:t>
            </a:r>
            <a:r>
              <a:rPr lang="ru-RU" sz="2800" b="1" dirty="0"/>
              <a:t>или</a:t>
            </a:r>
            <a:r>
              <a:rPr lang="en-US" sz="2800" b="1" dirty="0"/>
              <a:t> std::</a:t>
            </a:r>
            <a:r>
              <a:rPr lang="en-US" sz="2800" b="1" dirty="0" err="1"/>
              <a:t>getline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57" y="4267195"/>
            <a:ext cx="10179341" cy="2230386"/>
          </a:xfrm>
        </p:spPr>
        <p:txBody>
          <a:bodyPr>
            <a:noAutofit/>
          </a:bodyPr>
          <a:lstStyle/>
          <a:p>
            <a:pPr marL="2690813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::string word, line, part;</a:t>
            </a:r>
          </a:p>
          <a:p>
            <a:pPr marL="2690813" indent="0"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word;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 пробельного символа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690813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line);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 '\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n'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690813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part,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 ','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9F1C7-21CF-4C35-A9F4-CDBA324B875A}"/>
              </a:ext>
            </a:extLst>
          </p:cNvPr>
          <p:cNvSpPr txBox="1"/>
          <p:nvPr/>
        </p:nvSpPr>
        <p:spPr>
          <a:xfrm>
            <a:off x="1174458" y="1867570"/>
            <a:ext cx="101793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 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для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::string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и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&gt;&gt;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игнорирует пробельные символы перед и читает до ближайшего пробельного символа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ru-RU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 читает до ближайшего символа разделителя, по умолчанию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'\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удаляет символ разделитель из потока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&gt;&gt; </a:t>
            </a:r>
            <a:r>
              <a:rPr lang="ru-RU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—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удаляет пробельные символы в начале, но в конце (если есть) оставляет в потоке. Может быть проблемой при смешивании разных вариантов ввода.</a:t>
            </a:r>
            <a:endParaRPr lang="en-US" sz="1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8134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std::</a:t>
            </a:r>
            <a:r>
              <a:rPr lang="en-US" sz="2800" b="1" dirty="0" err="1"/>
              <a:t>cin.ignore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57" y="1863634"/>
            <a:ext cx="10179341" cy="4633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Удаляем из потока один символ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из потока всё пока не достигнем '\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n' (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тоже удаляется) или конца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streamsize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из потока до 10 символов, пока не достигнем '.' (тоже удаляется) или конца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088298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4FA3-C093-9286-B6E8-0E385E36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08CB0-6A46-BEFC-4606-A2585283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Манипуляторы &lt;</a:t>
            </a:r>
            <a:r>
              <a:rPr lang="en-US" sz="2800" b="1" dirty="0" err="1"/>
              <a:t>iomanip</a:t>
            </a:r>
            <a:r>
              <a:rPr lang="en-US" sz="2800" b="1" dirty="0"/>
              <a:t>&gt;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8085BF-E62D-4BE2-0663-2DB0B316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57" y="1863634"/>
            <a:ext cx="10179341" cy="463394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iomanip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Пример 1: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setfill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задаём ширину поля и символ заполнения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действует только на следующий выводимый элемент,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setfill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сохраняется до смены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setfill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********7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  // ******Hi  (fill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остаётся '*')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Пример 2: выравнивание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left/right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внутри поля заданной ширины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::right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"|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|       123|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setw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::left  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"|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|123       |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Пример 3: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fixed, scientific,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setprecision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формат и точность чисел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1234.5678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::fixed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setprecision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1234.57 (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фиксированный, 2 знака после запятой)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::scientific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setprecision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1.23e+03 (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экспоненциальный, 2 знака в мантиссе)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Пример 4: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hex, dec, oct —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системы счисления для целых чисел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::dec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255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::hex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ff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::oct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377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Пример 5: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 булевых значений как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true/false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// 1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true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noboolalpha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снова 1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Пример 6: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showpos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showpoint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отображение знака и десятичной точки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// 5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showpos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+5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z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z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// 10</a:t>
            </a:r>
            <a:endParaRPr lang="en-US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::fixed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setprecision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showpoint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z 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10.000 (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всегда с точкой)</a:t>
            </a: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ru-RU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ru-RU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512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5587</TotalTime>
  <Words>8393</Words>
  <Application>Microsoft Office PowerPoint</Application>
  <PresentationFormat>Широкоэкранный</PresentationFormat>
  <Paragraphs>1480</Paragraphs>
  <Slides>117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117</vt:i4>
      </vt:variant>
    </vt:vector>
  </HeadingPairs>
  <TitlesOfParts>
    <vt:vector size="124" baseType="lpstr">
      <vt:lpstr>Arial</vt:lpstr>
      <vt:lpstr>Calibri</vt:lpstr>
      <vt:lpstr>Calibri Light</vt:lpstr>
      <vt:lpstr>Consolas</vt:lpstr>
      <vt:lpstr>Yandex Sans Text</vt:lpstr>
      <vt:lpstr>YS Text</vt:lpstr>
      <vt:lpstr>Тема Office</vt:lpstr>
      <vt:lpstr>Алгоритмизация и программирование</vt:lpstr>
      <vt:lpstr>Базовые сведения</vt:lpstr>
      <vt:lpstr>Характеристика языка</vt:lpstr>
      <vt:lpstr>Презентация PowerPoint</vt:lpstr>
      <vt:lpstr>Презентация PowerPoint</vt:lpstr>
      <vt:lpstr>Первая модель программы на С++</vt:lpstr>
      <vt:lpstr>Модели</vt:lpstr>
      <vt:lpstr>Только один файл</vt:lpstr>
      <vt:lpstr>Структура программы</vt:lpstr>
      <vt:lpstr>Минимальная программа</vt:lpstr>
      <vt:lpstr>Подключение нескольких библиотек</vt:lpstr>
      <vt:lpstr>Комментарии</vt:lpstr>
      <vt:lpstr>Программа просто запускается</vt:lpstr>
      <vt:lpstr>Нет ручного управления памятью</vt:lpstr>
      <vt:lpstr>Структура кода в main</vt:lpstr>
      <vt:lpstr>Стейтмент (statement)</vt:lpstr>
      <vt:lpstr>Стейтмент (statement)</vt:lpstr>
      <vt:lpstr>Виды стейтментов</vt:lpstr>
      <vt:lpstr>Виды стейтментов</vt:lpstr>
      <vt:lpstr>Expression Statement (Стейтмент-выражение)</vt:lpstr>
      <vt:lpstr>Empty Statement (Пустой стейтмент)</vt:lpstr>
      <vt:lpstr>Empty Statement (Пустой стейтмент)</vt:lpstr>
      <vt:lpstr>Выражение (expression)</vt:lpstr>
      <vt:lpstr>Литерал</vt:lpstr>
      <vt:lpstr>Операторы</vt:lpstr>
      <vt:lpstr>Приоритет операторов</vt:lpstr>
      <vt:lpstr>Ассоциативность операторов</vt:lpstr>
      <vt:lpstr>Ассоциативность операторов</vt:lpstr>
      <vt:lpstr>Комплексный пример</vt:lpstr>
      <vt:lpstr>Таблица приоритетов</vt:lpstr>
      <vt:lpstr>Expression Statement</vt:lpstr>
      <vt:lpstr>Expression Statement</vt:lpstr>
      <vt:lpstr>Compound Statement (Составной стейтмент / Блок)</vt:lpstr>
      <vt:lpstr>Compound Statement (Составной стейтмент / Блок)</vt:lpstr>
      <vt:lpstr>Compound Statement (Составной стейтмент / Блок)</vt:lpstr>
      <vt:lpstr>Compound Statement</vt:lpstr>
      <vt:lpstr>Declaration Statement (Стейтмент-объявление)</vt:lpstr>
      <vt:lpstr>Declaration Statement (Стейтмент-объявление)</vt:lpstr>
      <vt:lpstr>using-directive</vt:lpstr>
      <vt:lpstr>using-directive</vt:lpstr>
      <vt:lpstr>simple-declaration</vt:lpstr>
      <vt:lpstr>Объявление переменной</vt:lpstr>
      <vt:lpstr>Объявление переменной - инициализация</vt:lpstr>
      <vt:lpstr>Объявление переменной</vt:lpstr>
      <vt:lpstr>Объявление константы</vt:lpstr>
      <vt:lpstr>Объявление константы</vt:lpstr>
      <vt:lpstr>Идентификатор (Identifier)</vt:lpstr>
      <vt:lpstr>Идентификатор</vt:lpstr>
      <vt:lpstr>Поиск имени (Name lookup)</vt:lpstr>
      <vt:lpstr>Scope (Область видимости)</vt:lpstr>
      <vt:lpstr>Scope (Область видимости)</vt:lpstr>
      <vt:lpstr>Scope</vt:lpstr>
      <vt:lpstr>Повторное определение имени в одной области видимости</vt:lpstr>
      <vt:lpstr>Вложенные блоки</vt:lpstr>
      <vt:lpstr>Вложенные блоки</vt:lpstr>
      <vt:lpstr>Вложенные блоки</vt:lpstr>
      <vt:lpstr>Время жизни (Storage duration)</vt:lpstr>
      <vt:lpstr>Selection Statements (Стейтменты выбора)</vt:lpstr>
      <vt:lpstr>Условный оператор</vt:lpstr>
      <vt:lpstr>Тип bool </vt:lpstr>
      <vt:lpstr>Преобразование типа bool </vt:lpstr>
      <vt:lpstr>Преобразование типа bool </vt:lpstr>
      <vt:lpstr>Откуда берётся true и false</vt:lpstr>
      <vt:lpstr>Логические операторы</vt:lpstr>
      <vt:lpstr>Операторы сравнения. Возможные ошибки</vt:lpstr>
      <vt:lpstr>if</vt:lpstr>
      <vt:lpstr>if</vt:lpstr>
      <vt:lpstr>if(инициализация; проверка)</vt:lpstr>
      <vt:lpstr>if-else</vt:lpstr>
      <vt:lpstr>if-else</vt:lpstr>
      <vt:lpstr>if и область видимости</vt:lpstr>
      <vt:lpstr>if и область видимости</vt:lpstr>
      <vt:lpstr>if и область видимости</vt:lpstr>
      <vt:lpstr>if и область видимости</vt:lpstr>
      <vt:lpstr>Презентация PowerPoint</vt:lpstr>
      <vt:lpstr>If-else (ошибки)</vt:lpstr>
      <vt:lpstr>If (другие формы)</vt:lpstr>
      <vt:lpstr>Тернарный оператор (?:)</vt:lpstr>
      <vt:lpstr>switch</vt:lpstr>
      <vt:lpstr>switch</vt:lpstr>
      <vt:lpstr>Labeled statement (Метка)</vt:lpstr>
      <vt:lpstr>switch</vt:lpstr>
      <vt:lpstr>Jump Statement break (Стейтмент перехода break)</vt:lpstr>
      <vt:lpstr>switch</vt:lpstr>
      <vt:lpstr>switch(инициализация; выражение)</vt:lpstr>
      <vt:lpstr>switch и области видимости</vt:lpstr>
      <vt:lpstr>Iteration Statements (Циклы)</vt:lpstr>
      <vt:lpstr>Оператор цикла</vt:lpstr>
      <vt:lpstr>while</vt:lpstr>
      <vt:lpstr>while</vt:lpstr>
      <vt:lpstr>do-while</vt:lpstr>
      <vt:lpstr>do-while</vt:lpstr>
      <vt:lpstr>do-while и область видимости</vt:lpstr>
      <vt:lpstr>Оператор цикла for</vt:lpstr>
      <vt:lpstr>for</vt:lpstr>
      <vt:lpstr>for (выражение1; выражение2; выражение3)</vt:lpstr>
      <vt:lpstr>for</vt:lpstr>
      <vt:lpstr>range-based for</vt:lpstr>
      <vt:lpstr>for (range-declaration : range-expression)</vt:lpstr>
      <vt:lpstr>for(инициализация; range-declaration : range-expression)</vt:lpstr>
      <vt:lpstr>for и области видимости</vt:lpstr>
      <vt:lpstr>Jump Statements (Стейтменты перехода)</vt:lpstr>
      <vt:lpstr>break</vt:lpstr>
      <vt:lpstr>continue</vt:lpstr>
      <vt:lpstr>Jump Statement goto (Стейтмент перехода goto)</vt:lpstr>
      <vt:lpstr>Свойства метки goto</vt:lpstr>
      <vt:lpstr>Свойства метки goto</vt:lpstr>
      <vt:lpstr>Свойства метки goto - ограничения</vt:lpstr>
      <vt:lpstr>Базовый ввод вывод</vt:lpstr>
      <vt:lpstr>Потоки и стандартные устройства</vt:lpstr>
      <vt:lpstr>Буферизация</vt:lpstr>
      <vt:lpstr>std::cout – вывод</vt:lpstr>
      <vt:lpstr>std::endl или '\n'</vt:lpstr>
      <vt:lpstr>std::cin — ввод</vt:lpstr>
      <vt:lpstr>&gt;&gt; или std::getline</vt:lpstr>
      <vt:lpstr>std::cin.ignore</vt:lpstr>
      <vt:lpstr>Манипуляторы &lt;iomanip&gt;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548</cp:revision>
  <dcterms:created xsi:type="dcterms:W3CDTF">2022-09-17T16:00:43Z</dcterms:created>
  <dcterms:modified xsi:type="dcterms:W3CDTF">2026-10-02T00:41:55Z</dcterms:modified>
</cp:coreProperties>
</file>