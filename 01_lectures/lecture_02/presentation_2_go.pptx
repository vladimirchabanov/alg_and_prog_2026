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389" r:id="rId4"/>
    <p:sldId id="259" r:id="rId5"/>
    <p:sldId id="390" r:id="rId6"/>
    <p:sldId id="261" r:id="rId7"/>
    <p:sldId id="408" r:id="rId8"/>
    <p:sldId id="263" r:id="rId9"/>
    <p:sldId id="264" r:id="rId10"/>
    <p:sldId id="265" r:id="rId11"/>
    <p:sldId id="469" r:id="rId12"/>
    <p:sldId id="401" r:id="rId13"/>
    <p:sldId id="269" r:id="rId14"/>
    <p:sldId id="270" r:id="rId15"/>
    <p:sldId id="414" r:id="rId16"/>
    <p:sldId id="271" r:id="rId17"/>
    <p:sldId id="273" r:id="rId18"/>
    <p:sldId id="272" r:id="rId19"/>
    <p:sldId id="470" r:id="rId20"/>
    <p:sldId id="471" r:id="rId21"/>
    <p:sldId id="472" r:id="rId22"/>
    <p:sldId id="473" r:id="rId23"/>
    <p:sldId id="474" r:id="rId24"/>
    <p:sldId id="475" r:id="rId25"/>
    <p:sldId id="275" r:id="rId26"/>
    <p:sldId id="276" r:id="rId27"/>
    <p:sldId id="277" r:id="rId28"/>
    <p:sldId id="416" r:id="rId29"/>
    <p:sldId id="279" r:id="rId30"/>
    <p:sldId id="345" r:id="rId31"/>
    <p:sldId id="348" r:id="rId32"/>
    <p:sldId id="357" r:id="rId33"/>
    <p:sldId id="347" r:id="rId34"/>
    <p:sldId id="343" r:id="rId35"/>
    <p:sldId id="344" r:id="rId36"/>
    <p:sldId id="302" r:id="rId37"/>
    <p:sldId id="323" r:id="rId38"/>
    <p:sldId id="324" r:id="rId39"/>
    <p:sldId id="303" r:id="rId40"/>
    <p:sldId id="304" r:id="rId41"/>
    <p:sldId id="305" r:id="rId42"/>
    <p:sldId id="476" r:id="rId43"/>
    <p:sldId id="309" r:id="rId44"/>
    <p:sldId id="325" r:id="rId45"/>
    <p:sldId id="358" r:id="rId46"/>
    <p:sldId id="326" r:id="rId47"/>
    <p:sldId id="477" r:id="rId48"/>
    <p:sldId id="311" r:id="rId49"/>
    <p:sldId id="359" r:id="rId50"/>
    <p:sldId id="312" r:id="rId51"/>
    <p:sldId id="327" r:id="rId52"/>
    <p:sldId id="328" r:id="rId53"/>
    <p:sldId id="360" r:id="rId54"/>
    <p:sldId id="315" r:id="rId55"/>
    <p:sldId id="330" r:id="rId56"/>
    <p:sldId id="332" r:id="rId57"/>
    <p:sldId id="339" r:id="rId58"/>
    <p:sldId id="478" r:id="rId59"/>
    <p:sldId id="361" r:id="rId60"/>
    <p:sldId id="479" r:id="rId61"/>
    <p:sldId id="480" r:id="rId62"/>
    <p:sldId id="481" r:id="rId63"/>
    <p:sldId id="482" r:id="rId64"/>
    <p:sldId id="483" r:id="rId65"/>
    <p:sldId id="484" r:id="rId66"/>
    <p:sldId id="485" r:id="rId67"/>
    <p:sldId id="486" r:id="rId68"/>
    <p:sldId id="334" r:id="rId69"/>
    <p:sldId id="335" r:id="rId70"/>
    <p:sldId id="336" r:id="rId71"/>
    <p:sldId id="337" r:id="rId72"/>
    <p:sldId id="338" r:id="rId73"/>
    <p:sldId id="391" r:id="rId74"/>
    <p:sldId id="340" r:id="rId75"/>
    <p:sldId id="341" r:id="rId76"/>
    <p:sldId id="364" r:id="rId77"/>
    <p:sldId id="365" r:id="rId78"/>
    <p:sldId id="366" r:id="rId79"/>
    <p:sldId id="367" r:id="rId80"/>
    <p:sldId id="368" r:id="rId81"/>
    <p:sldId id="369" r:id="rId82"/>
    <p:sldId id="370" r:id="rId83"/>
    <p:sldId id="371" r:id="rId84"/>
    <p:sldId id="372" r:id="rId85"/>
    <p:sldId id="380" r:id="rId86"/>
    <p:sldId id="322" r:id="rId87"/>
    <p:sldId id="373" r:id="rId88"/>
    <p:sldId id="374" r:id="rId89"/>
    <p:sldId id="375" r:id="rId90"/>
    <p:sldId id="376" r:id="rId91"/>
    <p:sldId id="377" r:id="rId92"/>
    <p:sldId id="378" r:id="rId93"/>
    <p:sldId id="379" r:id="rId94"/>
    <p:sldId id="381" r:id="rId95"/>
    <p:sldId id="382" r:id="rId96"/>
    <p:sldId id="383" r:id="rId97"/>
    <p:sldId id="384" r:id="rId98"/>
    <p:sldId id="385" r:id="rId99"/>
    <p:sldId id="386" r:id="rId100"/>
    <p:sldId id="387" r:id="rId101"/>
    <p:sldId id="388" r:id="rId10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8DA07-F16D-B69B-14A0-7418829B7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B3408F-C035-7F86-E532-B954222B0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C57AC3-650B-F8BF-09C8-C2B4DCF5D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5080A7-D173-D34E-D987-E2C0D226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9F0AEA-F271-E44D-94AC-243C2E0D3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5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891F9-3476-AFE5-6F5E-3F6F3495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018E34-1152-017B-392E-EC5AF886F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E6B264-13E2-2D5F-75D0-68AB7CE59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F410B0-1B06-0F94-EF8F-6FA03AC97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2BC443-9DF8-7811-4F50-DA0939A2C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09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BB0E42-F26B-36E2-773A-5304DE8E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0D50AC-8755-6F61-DE6D-718C5790F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19F538-368E-46C8-6A0B-73E27118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3814CB-16AC-34F1-BD55-C50011C4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2C7843-79DC-CD5D-6D5F-64D2C2E8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25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42D8AA-77C9-6CF3-B23C-060CF9A5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AA2B99-F80E-BA07-D1F9-3C064028A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2856C9-4F89-DF11-6470-C21185733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DFBB0F-B9D7-A90B-517E-16E12B22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C37F6E-1F4C-532F-0447-20BD32FC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EC7790-8BEB-A53E-96DA-59A20A267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06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9CB15-C3CC-FC8F-4267-77F81CB56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EB9DDC-5705-3392-3A7F-B93CB61E5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E84CF1-DE2E-70BA-ACCD-77EF4A52F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C525FDA-E12E-5810-A164-BD0B3009F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155AC6-2DE0-9644-8874-5C573FD63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030CBA1-E9C4-65D8-3F54-9C4327D31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F279D99-E15E-B520-A991-2EC66A292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2153C6-95A4-8AB3-96F5-7545958C5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26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13BC6-745F-95A9-F0A9-5D3F0117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D8FD2A-5A7C-06F8-BA11-FEEC2B2AE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2B2300-90F1-8EE1-7A1B-9E065770B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84C6DD-ED50-4B35-179E-27063A1D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81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EB7D92-DC5A-0240-10C9-26EA015DC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C8479B-E009-4084-DC5E-8C0C58FD0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1C52AC-6679-DDE2-EAB6-B90CA53E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43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D1796-E9D7-5349-C5F0-0F621903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4F04D9-CF54-2F53-1E1D-513D11518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66DECA-58B4-D9CA-A32D-E551C2950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3B75B1-5F06-22C7-2744-E67592E6A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59913B-8E29-FDEA-AD42-E6C129E28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6341C7-ACF3-27A9-D41E-A81E34A26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692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12B9E6-90A4-8F78-CEE1-18AC161EB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634F4B9-4857-D367-1A7E-378A1261D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5942A2-88A4-A456-BA8F-817EB03F4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534529-81F3-E5CC-F7D5-302D2CBE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B7EC93-E8EE-A4C6-C2D9-F5514772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1F8081-862B-8E61-8D8F-DB05F660C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343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43101-E793-1814-4501-14D47ED3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BDF28E-053E-8207-289B-815750ED3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10BEA8-5DA4-8A74-2DB9-E89C620D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44EB9A-EC5F-78B3-1922-55441952E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BA7CAC-00E8-85DE-A274-DF1FD1A60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14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3CE06E1-A559-DC12-8662-7F99C8E103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8BA418-DCB5-B785-79A6-5998ED0DE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71EC3E-DBBD-CD2F-8DC1-BB7902D3C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BBC658-E40F-8E05-ABE2-042431F36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F6B605-74F8-AA8D-86C6-78196C1EE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12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BF59-2F6E-7D92-8A20-0252AACE2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722C2E-80F7-9376-442A-D3077DAF0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4D304D-BEEF-15F0-D934-036B46455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DAF6ED-B9AA-6C8C-C90F-3CCDC274B8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593123-3CF9-7A37-5654-90498C046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35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lang/go" TargetMode="External"/><Relationship Id="rId2" Type="http://schemas.openxmlformats.org/officeDocument/2006/relationships/hyperlink" Target="https://go.dev/ref/spec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o.dev/ref/spec#SimpleStmt" TargetMode="External"/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o.dev/ref/spec#SimpleStmt" TargetMode="External"/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s://go.dev/ref/spec#SimpleStmt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hyperlink" Target="https://pkg.go.dev/slices" TargetMode="Externa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BC063-3831-522D-21D8-6B1239819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8774" y="944237"/>
            <a:ext cx="10434452" cy="2387600"/>
          </a:xfrm>
        </p:spPr>
        <p:txBody>
          <a:bodyPr>
            <a:normAutofit/>
          </a:bodyPr>
          <a:lstStyle/>
          <a:p>
            <a:r>
              <a:rPr lang="ru-RU" sz="4800" b="1" dirty="0"/>
              <a:t>Алгоритмизация и программирование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5FC3D9-C83F-5AC8-94FD-3ED461655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30788"/>
            <a:ext cx="9144000" cy="1655762"/>
          </a:xfrm>
        </p:spPr>
        <p:txBody>
          <a:bodyPr>
            <a:normAutofit/>
          </a:bodyPr>
          <a:lstStyle/>
          <a:p>
            <a:r>
              <a:rPr lang="ru-RU" sz="3200" dirty="0"/>
              <a:t>Лекция 2 (</a:t>
            </a:r>
            <a:r>
              <a:rPr lang="en-US" sz="3200" dirty="0"/>
              <a:t>Go</a:t>
            </a:r>
            <a:r>
              <a:rPr lang="ru-RU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5375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1280160"/>
            <a:ext cx="755033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spcAft>
                <a:spcPts val="600"/>
              </a:spcAft>
              <a:defRPr sz="2100" b="0">
                <a:solidFill>
                  <a:srgbClr val="1A1A1A"/>
                </a:solidFill>
              </a:defRPr>
            </a:pPr>
            <a:r>
              <a:rPr lang="ru-RU" sz="2000" dirty="0"/>
              <a:t>Go создан в Google в 2007 году тремя инженерами:</a:t>
            </a:r>
          </a:p>
          <a:p>
            <a:pPr marL="355600" lvl="1" indent="-342900">
              <a:spcAft>
                <a:spcPts val="600"/>
              </a:spcAft>
              <a:buFont typeface="Arial" panose="020B0604020202020204" pitchFamily="34" charset="0"/>
              <a:buChar char="•"/>
              <a:defRPr sz="2100" b="0">
                <a:solidFill>
                  <a:srgbClr val="1A1A1A"/>
                </a:solidFill>
              </a:defRPr>
            </a:pPr>
            <a:r>
              <a:rPr sz="2000" dirty="0" err="1"/>
              <a:t>Роб</a:t>
            </a:r>
            <a:r>
              <a:rPr sz="2000" dirty="0"/>
              <a:t> </a:t>
            </a:r>
            <a:r>
              <a:rPr sz="2000" dirty="0" err="1"/>
              <a:t>Пайк</a:t>
            </a:r>
            <a:r>
              <a:rPr sz="2000" dirty="0"/>
              <a:t> (Rob Pike) </a:t>
            </a:r>
            <a:r>
              <a:rPr lang="ru-RU" sz="2000" dirty="0"/>
              <a:t>–</a:t>
            </a:r>
            <a:r>
              <a:rPr sz="2000" dirty="0"/>
              <a:t> </a:t>
            </a:r>
            <a:r>
              <a:rPr sz="2000" dirty="0" err="1"/>
              <a:t>соавтор</a:t>
            </a:r>
            <a:r>
              <a:rPr sz="2000" dirty="0"/>
              <a:t> ОС Plan 9, </a:t>
            </a:r>
            <a:r>
              <a:rPr sz="2000" dirty="0" err="1"/>
              <a:t>языка</a:t>
            </a:r>
            <a:r>
              <a:rPr sz="2000" dirty="0"/>
              <a:t> Limbo, </a:t>
            </a:r>
            <a:r>
              <a:rPr sz="2000" dirty="0" err="1"/>
              <a:t>один</a:t>
            </a:r>
            <a:r>
              <a:rPr sz="2000" dirty="0"/>
              <a:t> </a:t>
            </a:r>
            <a:r>
              <a:rPr sz="2000" dirty="0" err="1"/>
              <a:t>из</a:t>
            </a:r>
            <a:r>
              <a:rPr sz="2000" dirty="0"/>
              <a:t> </a:t>
            </a:r>
            <a:r>
              <a:rPr sz="2000" dirty="0" err="1"/>
              <a:t>создателей</a:t>
            </a:r>
            <a:r>
              <a:rPr sz="2000" dirty="0"/>
              <a:t> UTF-8.</a:t>
            </a:r>
          </a:p>
          <a:p>
            <a:pPr marL="355600" lvl="1" indent="-342900">
              <a:spcAft>
                <a:spcPts val="600"/>
              </a:spcAft>
              <a:buFont typeface="Arial" panose="020B0604020202020204" pitchFamily="34" charset="0"/>
              <a:buChar char="•"/>
              <a:defRPr sz="2100" b="0">
                <a:solidFill>
                  <a:srgbClr val="1A1A1A"/>
                </a:solidFill>
              </a:defRPr>
            </a:pPr>
            <a:r>
              <a:rPr sz="2000" dirty="0" err="1"/>
              <a:t>Кен</a:t>
            </a:r>
            <a:r>
              <a:rPr sz="2000" dirty="0"/>
              <a:t> </a:t>
            </a:r>
            <a:r>
              <a:rPr sz="2000" dirty="0" err="1"/>
              <a:t>Томпсон</a:t>
            </a:r>
            <a:r>
              <a:rPr sz="2000" dirty="0"/>
              <a:t> (Ken Thompson) </a:t>
            </a:r>
            <a:r>
              <a:rPr lang="ru-RU" sz="2000" dirty="0"/>
              <a:t>–</a:t>
            </a:r>
            <a:r>
              <a:rPr sz="2000" dirty="0"/>
              <a:t> </a:t>
            </a:r>
            <a:r>
              <a:rPr sz="2000" dirty="0" err="1"/>
              <a:t>создатель</a:t>
            </a:r>
            <a:r>
              <a:rPr sz="2000" dirty="0"/>
              <a:t> </a:t>
            </a:r>
            <a:r>
              <a:rPr sz="2000" dirty="0" err="1"/>
              <a:t>языка</a:t>
            </a:r>
            <a:r>
              <a:rPr sz="2000" dirty="0"/>
              <a:t> B, </a:t>
            </a:r>
            <a:r>
              <a:rPr sz="2000" dirty="0" err="1"/>
              <a:t>соавтор</a:t>
            </a:r>
            <a:r>
              <a:rPr sz="2000" dirty="0"/>
              <a:t> ОС UNIX, </a:t>
            </a:r>
            <a:r>
              <a:rPr sz="2000" dirty="0" err="1"/>
              <a:t>лауреат</a:t>
            </a:r>
            <a:r>
              <a:rPr sz="2000" dirty="0"/>
              <a:t> </a:t>
            </a:r>
            <a:r>
              <a:rPr sz="2000" dirty="0" err="1"/>
              <a:t>премии</a:t>
            </a:r>
            <a:r>
              <a:rPr sz="2000" dirty="0"/>
              <a:t> </a:t>
            </a:r>
            <a:r>
              <a:rPr sz="2000" dirty="0" err="1"/>
              <a:t>Тьюринга</a:t>
            </a:r>
            <a:r>
              <a:rPr sz="2000" dirty="0"/>
              <a:t> (1983).</a:t>
            </a:r>
          </a:p>
          <a:p>
            <a:pPr marL="355600" lvl="1" indent="-342900">
              <a:spcAft>
                <a:spcPts val="600"/>
              </a:spcAft>
              <a:buFont typeface="Arial" panose="020B0604020202020204" pitchFamily="34" charset="0"/>
              <a:buChar char="•"/>
              <a:defRPr sz="2100" b="0">
                <a:solidFill>
                  <a:srgbClr val="1A1A1A"/>
                </a:solidFill>
              </a:defRPr>
            </a:pPr>
            <a:r>
              <a:rPr sz="2000" dirty="0" err="1"/>
              <a:t>Роберт</a:t>
            </a:r>
            <a:r>
              <a:rPr sz="2000" dirty="0"/>
              <a:t> </a:t>
            </a:r>
            <a:r>
              <a:rPr sz="2000" dirty="0" err="1"/>
              <a:t>Гриземер</a:t>
            </a:r>
            <a:r>
              <a:rPr sz="2000" dirty="0"/>
              <a:t> (Robert </a:t>
            </a:r>
            <a:r>
              <a:rPr sz="2000" dirty="0" err="1"/>
              <a:t>Griesemer</a:t>
            </a:r>
            <a:r>
              <a:rPr sz="2000" dirty="0"/>
              <a:t>) </a:t>
            </a:r>
            <a:r>
              <a:rPr lang="ru-RU" sz="2000" dirty="0"/>
              <a:t>–</a:t>
            </a:r>
            <a:r>
              <a:rPr sz="2000" dirty="0"/>
              <a:t> </a:t>
            </a:r>
            <a:r>
              <a:rPr sz="2000" dirty="0" err="1"/>
              <a:t>работал</a:t>
            </a:r>
            <a:r>
              <a:rPr sz="2000" dirty="0"/>
              <a:t> </a:t>
            </a:r>
            <a:r>
              <a:rPr sz="2000" dirty="0" err="1"/>
              <a:t>над</a:t>
            </a:r>
            <a:r>
              <a:rPr sz="2000" dirty="0"/>
              <a:t> V8 (JavaScript-</a:t>
            </a:r>
            <a:r>
              <a:rPr sz="2000" dirty="0" err="1"/>
              <a:t>движок</a:t>
            </a:r>
            <a:r>
              <a:rPr sz="2000" dirty="0"/>
              <a:t> Chrome) и </a:t>
            </a:r>
            <a:r>
              <a:rPr sz="2000" dirty="0" err="1"/>
              <a:t>HotSpot</a:t>
            </a:r>
            <a:r>
              <a:rPr sz="2000" dirty="0"/>
              <a:t> (JVM).</a:t>
            </a:r>
          </a:p>
          <a:p>
            <a:pPr>
              <a:spcAft>
                <a:spcPts val="600"/>
              </a:spcAft>
              <a:defRPr sz="2000" b="0">
                <a:solidFill>
                  <a:srgbClr val="1A1A1A"/>
                </a:solidFill>
              </a:defRPr>
            </a:pPr>
            <a:r>
              <a:rPr sz="2000" dirty="0"/>
              <a:t>21 </a:t>
            </a:r>
            <a:r>
              <a:rPr sz="2000" dirty="0" err="1"/>
              <a:t>сентября</a:t>
            </a:r>
            <a:r>
              <a:rPr sz="2000" dirty="0"/>
              <a:t> 2007 </a:t>
            </a:r>
            <a:r>
              <a:rPr sz="2000" dirty="0" err="1"/>
              <a:t>года</a:t>
            </a:r>
            <a:r>
              <a:rPr sz="2000" dirty="0"/>
              <a:t> </a:t>
            </a:r>
            <a:r>
              <a:rPr sz="2000" dirty="0" err="1"/>
              <a:t>авторы</a:t>
            </a:r>
            <a:r>
              <a:rPr sz="2000" dirty="0"/>
              <a:t> </a:t>
            </a:r>
            <a:r>
              <a:rPr sz="2000" dirty="0" err="1"/>
              <a:t>начали</a:t>
            </a:r>
            <a:r>
              <a:rPr sz="2000" dirty="0"/>
              <a:t> </a:t>
            </a:r>
            <a:r>
              <a:rPr sz="2000" dirty="0" err="1"/>
              <a:t>обсуждать</a:t>
            </a:r>
            <a:r>
              <a:rPr sz="2000" dirty="0"/>
              <a:t> </a:t>
            </a:r>
            <a:r>
              <a:rPr sz="2000" dirty="0" err="1"/>
              <a:t>новый</a:t>
            </a:r>
            <a:r>
              <a:rPr sz="2000" dirty="0"/>
              <a:t> </a:t>
            </a:r>
            <a:r>
              <a:rPr sz="2000" dirty="0" err="1"/>
              <a:t>язык</a:t>
            </a:r>
            <a:r>
              <a:rPr sz="2000" dirty="0"/>
              <a:t> </a:t>
            </a:r>
            <a:r>
              <a:rPr sz="2000" dirty="0" err="1"/>
              <a:t>на</a:t>
            </a:r>
            <a:r>
              <a:rPr sz="2000" dirty="0"/>
              <a:t> </a:t>
            </a:r>
            <a:r>
              <a:rPr sz="2000" dirty="0" err="1"/>
              <a:t>доске</a:t>
            </a:r>
            <a:r>
              <a:rPr sz="2000" dirty="0"/>
              <a:t>; 25 </a:t>
            </a:r>
            <a:r>
              <a:rPr sz="2000" dirty="0" err="1"/>
              <a:t>сентября</a:t>
            </a:r>
            <a:r>
              <a:rPr sz="2000" dirty="0"/>
              <a:t> </a:t>
            </a:r>
            <a:r>
              <a:rPr sz="2000" dirty="0" err="1"/>
              <a:t>Роб</a:t>
            </a:r>
            <a:r>
              <a:rPr sz="2000" dirty="0"/>
              <a:t> </a:t>
            </a:r>
            <a:r>
              <a:rPr sz="2000" dirty="0" err="1"/>
              <a:t>Пайк</a:t>
            </a:r>
            <a:r>
              <a:rPr sz="2000" dirty="0"/>
              <a:t> </a:t>
            </a:r>
            <a:r>
              <a:rPr sz="2000" dirty="0" err="1"/>
              <a:t>предложил</a:t>
            </a:r>
            <a:r>
              <a:rPr sz="2000" dirty="0"/>
              <a:t> </a:t>
            </a:r>
            <a:r>
              <a:rPr sz="2000" dirty="0" err="1"/>
              <a:t>имя</a:t>
            </a:r>
            <a:r>
              <a:rPr sz="2000" dirty="0"/>
              <a:t> «Go».</a:t>
            </a:r>
            <a:endParaRPr lang="ru-RU" sz="2000" dirty="0"/>
          </a:p>
          <a:p>
            <a:pPr>
              <a:spcAft>
                <a:spcPts val="600"/>
              </a:spcAft>
              <a:defRPr sz="2000" b="0">
                <a:solidFill>
                  <a:srgbClr val="1A1A1A"/>
                </a:solidFill>
              </a:defRPr>
            </a:pPr>
            <a:r>
              <a:rPr sz="2000" dirty="0" err="1"/>
              <a:t>Публичный</a:t>
            </a:r>
            <a:r>
              <a:rPr sz="2000" dirty="0"/>
              <a:t> </a:t>
            </a:r>
            <a:r>
              <a:rPr sz="2000" dirty="0" err="1"/>
              <a:t>релиз</a:t>
            </a:r>
            <a:r>
              <a:rPr sz="2000" dirty="0"/>
              <a:t> с </a:t>
            </a:r>
            <a:r>
              <a:rPr sz="2000" dirty="0" err="1"/>
              <a:t>открытым</a:t>
            </a:r>
            <a:r>
              <a:rPr sz="2000" dirty="0"/>
              <a:t> </a:t>
            </a:r>
            <a:r>
              <a:rPr sz="2000" dirty="0" err="1"/>
              <a:t>исходным</a:t>
            </a:r>
            <a:r>
              <a:rPr sz="2000" dirty="0"/>
              <a:t> </a:t>
            </a:r>
            <a:r>
              <a:rPr sz="2000" dirty="0" err="1"/>
              <a:t>кодом</a:t>
            </a:r>
            <a:r>
              <a:rPr sz="2000" dirty="0"/>
              <a:t> </a:t>
            </a:r>
            <a:r>
              <a:rPr lang="ru-RU" sz="2000" dirty="0"/>
              <a:t>–</a:t>
            </a:r>
            <a:r>
              <a:rPr sz="2000" dirty="0"/>
              <a:t> 10 </a:t>
            </a:r>
            <a:r>
              <a:rPr sz="2000" dirty="0" err="1"/>
              <a:t>ноября</a:t>
            </a:r>
            <a:r>
              <a:rPr sz="2000" dirty="0"/>
              <a:t> 2009 </a:t>
            </a:r>
            <a:r>
              <a:rPr sz="2000" dirty="0" err="1"/>
              <a:t>года</a:t>
            </a:r>
            <a:r>
              <a:rPr lang="ru-RU" sz="2000" dirty="0"/>
              <a:t>.</a:t>
            </a:r>
            <a:endParaRPr sz="2000" dirty="0"/>
          </a:p>
          <a:p>
            <a:pPr>
              <a:spcAft>
                <a:spcPts val="600"/>
              </a:spcAft>
              <a:defRPr sz="2000" b="0">
                <a:solidFill>
                  <a:srgbClr val="1A1A1A"/>
                </a:solidFill>
              </a:defRPr>
            </a:pPr>
            <a:r>
              <a:rPr sz="2000" dirty="0" err="1"/>
              <a:t>Стабильная</a:t>
            </a:r>
            <a:r>
              <a:rPr sz="2000" dirty="0"/>
              <a:t> </a:t>
            </a:r>
            <a:r>
              <a:rPr sz="2000" dirty="0" err="1"/>
              <a:t>версия</a:t>
            </a:r>
            <a:r>
              <a:rPr sz="2000" dirty="0"/>
              <a:t> Go 1.0 </a:t>
            </a:r>
            <a:r>
              <a:rPr lang="ru-RU" sz="2000" dirty="0"/>
              <a:t>–</a:t>
            </a:r>
            <a:r>
              <a:rPr sz="2000" dirty="0"/>
              <a:t> 28 </a:t>
            </a:r>
            <a:r>
              <a:rPr sz="2000" dirty="0" err="1"/>
              <a:t>марта</a:t>
            </a:r>
            <a:r>
              <a:rPr sz="2000" dirty="0"/>
              <a:t> 2012 </a:t>
            </a:r>
            <a:r>
              <a:rPr sz="2000" dirty="0" err="1"/>
              <a:t>года</a:t>
            </a:r>
            <a:r>
              <a:rPr sz="2000" dirty="0"/>
              <a:t>.</a:t>
            </a:r>
            <a:endParaRPr lang="en-US" sz="2000" dirty="0"/>
          </a:p>
          <a:p>
            <a:pPr>
              <a:spcAft>
                <a:spcPts val="600"/>
              </a:spcAft>
              <a:defRPr sz="2000" b="0">
                <a:solidFill>
                  <a:srgbClr val="1A1A1A"/>
                </a:solidFill>
              </a:defRPr>
            </a:pPr>
            <a:endParaRPr lang="en-US" sz="2000" dirty="0"/>
          </a:p>
          <a:p>
            <a:pPr>
              <a:spcAft>
                <a:spcPts val="600"/>
              </a:spcAft>
              <a:defRPr sz="2000" b="0">
                <a:solidFill>
                  <a:srgbClr val="1A1A1A"/>
                </a:solidFill>
              </a:defRPr>
            </a:pPr>
            <a:r>
              <a:rPr lang="ru-RU" sz="2000" dirty="0"/>
              <a:t>Талисман языка – суслик </a:t>
            </a:r>
            <a:r>
              <a:rPr lang="en-US" sz="2000" dirty="0"/>
              <a:t>Gopher.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5C7D94F-5C8F-4D97-BC52-B196A05B29C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333333"/>
                </a:solidFill>
              </a:rPr>
              <a:t>Базовые сведения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2DC9CE-6641-483C-B7F8-675ECCF47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891" y="1497874"/>
            <a:ext cx="3048417" cy="41518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8822DA2-7D0B-4A8D-BAAE-7F9E8DF4E43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333333"/>
                </a:solidFill>
              </a:rPr>
              <a:t>Характеристика языка </a:t>
            </a:r>
            <a:r>
              <a:rPr lang="en-US" dirty="0">
                <a:solidFill>
                  <a:srgbClr val="333333"/>
                </a:solidFill>
              </a:rPr>
              <a:t>Go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53D732-149A-43FC-878E-D936840B960C}"/>
              </a:ext>
            </a:extLst>
          </p:cNvPr>
          <p:cNvSpPr txBox="1"/>
          <p:nvPr/>
        </p:nvSpPr>
        <p:spPr>
          <a:xfrm>
            <a:off x="731520" y="1280160"/>
            <a:ext cx="10698480" cy="59093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lvl="1">
              <a:defRPr sz="2100" b="0">
                <a:solidFill>
                  <a:srgbClr val="1A1A1A"/>
                </a:solidFill>
              </a:defRPr>
            </a:pPr>
            <a:r>
              <a:rPr lang="ru-RU" sz="1700" dirty="0" err="1"/>
              <a:t>Мультипарадигменный</a:t>
            </a:r>
            <a:r>
              <a:rPr lang="ru-RU" sz="1700" dirty="0"/>
              <a:t> язык:  процедурное, объектного-ориентированное (но без классов), некоторые аспекты функционально программирования.</a:t>
            </a:r>
            <a:endParaRPr lang="en-US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endParaRPr lang="ru-RU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r>
              <a:rPr lang="ru-RU" sz="1700" dirty="0"/>
              <a:t>Типизация: статическая; сильная (строгая) + интерфейсы</a:t>
            </a:r>
            <a:r>
              <a:rPr lang="en-US" sz="1700" dirty="0"/>
              <a:t>.</a:t>
            </a:r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endParaRPr lang="ru-RU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r>
              <a:rPr lang="ru-RU" sz="1700" dirty="0"/>
              <a:t>Язык компилируемый - компилируется в машинный код.</a:t>
            </a:r>
            <a:endParaRPr lang="en-US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endParaRPr lang="ru-RU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r>
              <a:rPr lang="ru-RU" sz="1700" dirty="0"/>
              <a:t>Управление памятью через сборку мусора (</a:t>
            </a:r>
            <a:r>
              <a:rPr lang="ru-RU" sz="1700" dirty="0" err="1"/>
              <a:t>garbage</a:t>
            </a:r>
            <a:r>
              <a:rPr lang="ru-RU" sz="1700" dirty="0"/>
              <a:t> </a:t>
            </a:r>
            <a:r>
              <a:rPr lang="ru-RU" sz="1700" dirty="0" err="1"/>
              <a:t>collection</a:t>
            </a:r>
            <a:r>
              <a:rPr lang="ru-RU" sz="1700" dirty="0"/>
              <a:t>), встроена в </a:t>
            </a:r>
            <a:r>
              <a:rPr lang="ru-RU" sz="1700" dirty="0" err="1"/>
              <a:t>рантайм</a:t>
            </a:r>
            <a:r>
              <a:rPr lang="en-US" sz="1700" dirty="0"/>
              <a:t>.</a:t>
            </a:r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endParaRPr lang="ru-RU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r>
              <a:rPr lang="ru-RU" sz="1700" dirty="0"/>
              <a:t>Минималистичный синтаксис: всего 25 ключевых слов;</a:t>
            </a:r>
            <a:endParaRPr lang="en-US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endParaRPr lang="ru-RU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r>
              <a:rPr lang="ru-RU" sz="1700" dirty="0"/>
              <a:t>Встроенная конкурентность: </a:t>
            </a:r>
            <a:r>
              <a:rPr lang="ru-RU" sz="1700" dirty="0" err="1"/>
              <a:t>горутины</a:t>
            </a:r>
            <a:r>
              <a:rPr lang="ru-RU" sz="1700" dirty="0"/>
              <a:t> (</a:t>
            </a:r>
            <a:r>
              <a:rPr lang="ru-RU" sz="1700" dirty="0" err="1"/>
              <a:t>goroutines</a:t>
            </a:r>
            <a:r>
              <a:rPr lang="ru-RU" sz="1700" dirty="0"/>
              <a:t>) и каналы (</a:t>
            </a:r>
            <a:r>
              <a:rPr lang="ru-RU" sz="1700" dirty="0" err="1"/>
              <a:t>channels</a:t>
            </a:r>
            <a:r>
              <a:rPr lang="ru-RU" sz="1700" dirty="0"/>
              <a:t>) как языковые примитивы, а не библиотечная надстройка.</a:t>
            </a:r>
            <a:endParaRPr lang="en-US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endParaRPr lang="ru-RU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r>
              <a:rPr lang="ru-RU" sz="1700" dirty="0"/>
              <a:t>Нет классов и наследования; вместо этого — композиция, структуры и интерфейсы.</a:t>
            </a:r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r>
              <a:rPr lang="ru-RU" sz="1700" dirty="0"/>
              <a:t>Нет исключений: ошибки обрабатываются явно через возврат значения </a:t>
            </a:r>
            <a:r>
              <a:rPr lang="ru-RU" sz="1700" dirty="0" err="1"/>
              <a:t>error</a:t>
            </a:r>
            <a:r>
              <a:rPr lang="ru-RU" sz="1700" dirty="0"/>
              <a:t>.</a:t>
            </a:r>
            <a:endParaRPr lang="en-US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endParaRPr lang="ru-RU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r>
              <a:rPr lang="ru-RU" sz="1700" dirty="0"/>
              <a:t>Кроссплатформенность: Linux, </a:t>
            </a:r>
            <a:r>
              <a:rPr lang="ru-RU" sz="1700" dirty="0" err="1"/>
              <a:t>macOS</a:t>
            </a:r>
            <a:r>
              <a:rPr lang="ru-RU" sz="1700" dirty="0"/>
              <a:t>, Windows, </a:t>
            </a:r>
            <a:r>
              <a:rPr lang="ru-RU" sz="1700" dirty="0" err="1"/>
              <a:t>embedded</a:t>
            </a:r>
            <a:r>
              <a:rPr lang="ru-RU" sz="1700" dirty="0"/>
              <a:t>, </a:t>
            </a:r>
            <a:r>
              <a:rPr lang="ru-RU" sz="1700" dirty="0" err="1"/>
              <a:t>WebAssembly</a:t>
            </a:r>
            <a:r>
              <a:rPr lang="ru-RU" sz="1700" dirty="0"/>
              <a:t>.</a:t>
            </a:r>
            <a:endParaRPr lang="en-US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endParaRPr lang="en-US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r>
              <a:rPr lang="ru-RU" sz="1700" dirty="0"/>
              <a:t>Активно развивается командой Go Team (Google) и сообществом; выходит 2 релиза в год.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955587"/>
              </p:ext>
            </p:extLst>
          </p:nvPr>
        </p:nvGraphicFramePr>
        <p:xfrm>
          <a:off x="548640" y="1280160"/>
          <a:ext cx="11064239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Дата</a:t>
                      </a:r>
                    </a:p>
                  </a:txBody>
                  <a:tcPr>
                    <a:solidFill>
                      <a:srgbClr val="007D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Версия</a:t>
                      </a:r>
                    </a:p>
                  </a:txBody>
                  <a:tcPr>
                    <a:solidFill>
                      <a:srgbClr val="007D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Ключевые события</a:t>
                      </a:r>
                    </a:p>
                  </a:txBody>
                  <a:tcPr>
                    <a:solidFill>
                      <a:srgbClr val="007D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21.09.2007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Начало обсуждения нового языка в Google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25.09.2007</a:t>
                      </a:r>
                    </a:p>
                  </a:txBody>
                  <a:tcPr>
                    <a:solidFill>
                      <a:srgbClr val="F0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 err="1"/>
                        <a:t>Предложено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имя</a:t>
                      </a:r>
                      <a:r>
                        <a:rPr dirty="0"/>
                        <a:t> «Go»</a:t>
                      </a:r>
                    </a:p>
                  </a:txBody>
                  <a:tcPr>
                    <a:solidFill>
                      <a:srgbClr val="F0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10.11.2009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 err="1"/>
                        <a:t>Публичный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релиз</a:t>
                      </a:r>
                      <a:r>
                        <a:rPr dirty="0"/>
                        <a:t> с </a:t>
                      </a:r>
                      <a:r>
                        <a:rPr dirty="0" err="1"/>
                        <a:t>открытым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исходным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кодом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28.03.2012</a:t>
                      </a:r>
                    </a:p>
                  </a:txBody>
                  <a:tcPr>
                    <a:solidFill>
                      <a:srgbClr val="F0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Go 1.0</a:t>
                      </a:r>
                    </a:p>
                  </a:txBody>
                  <a:tcPr>
                    <a:solidFill>
                      <a:srgbClr val="F0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 err="1"/>
                        <a:t>Первый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стабильный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релиз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обещание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совместимости</a:t>
                      </a:r>
                      <a:endParaRPr dirty="0"/>
                    </a:p>
                  </a:txBody>
                  <a:tcPr>
                    <a:solidFill>
                      <a:srgbClr val="F0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Go 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Компилятор и рантайм переписаны на 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F0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Go 1.11</a:t>
                      </a:r>
                    </a:p>
                  </a:txBody>
                  <a:tcPr>
                    <a:solidFill>
                      <a:srgbClr val="F0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Модули (go modules) — новый механизм зависимостей</a:t>
                      </a:r>
                    </a:p>
                  </a:txBody>
                  <a:tcPr>
                    <a:solidFill>
                      <a:srgbClr val="F0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Go 1.18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Дженерики (обобщённое программирование)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0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Go 1.22</a:t>
                      </a:r>
                    </a:p>
                  </a:txBody>
                  <a:tcPr>
                    <a:solidFill>
                      <a:srgbClr val="F0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Улучшения в рантайме и стандартной библиотеке</a:t>
                      </a:r>
                    </a:p>
                  </a:txBody>
                  <a:tcPr>
                    <a:solidFill>
                      <a:srgbClr val="F0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Go 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 err="1"/>
                        <a:t>Актуальный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релиз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на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момент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лекции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31A4B4C-F803-4E4C-839C-71793C01756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333333"/>
                </a:solidFill>
              </a:rPr>
              <a:t>История и релизы</a:t>
            </a:r>
            <a:endParaRPr lang="en-US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8822DA2-7D0B-4A8D-BAAE-7F9E8DF4E43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333333"/>
                </a:solidFill>
              </a:rPr>
              <a:t>Спецификация и документация </a:t>
            </a:r>
            <a:r>
              <a:rPr lang="en-US" dirty="0">
                <a:solidFill>
                  <a:srgbClr val="333333"/>
                </a:solidFill>
              </a:rPr>
              <a:t>Go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53D732-149A-43FC-878E-D936840B960C}"/>
              </a:ext>
            </a:extLst>
          </p:cNvPr>
          <p:cNvSpPr txBox="1"/>
          <p:nvPr/>
        </p:nvSpPr>
        <p:spPr>
          <a:xfrm>
            <a:off x="746760" y="1262743"/>
            <a:ext cx="10698480" cy="503355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lvl="1">
              <a:defRPr sz="2100" b="0">
                <a:solidFill>
                  <a:srgbClr val="1A1A1A"/>
                </a:solidFill>
              </a:defRPr>
            </a:pPr>
            <a:endParaRPr lang="ru-RU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endParaRPr lang="ru-RU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r>
              <a:rPr lang="ru-RU" sz="1700" dirty="0"/>
              <a:t>Go не стандартизирован ISO/IEC или IEEE. Стандарт де-факто задаётся официальной спецификацией языка (The Go </a:t>
            </a:r>
            <a:r>
              <a:rPr lang="ru-RU" sz="1700" dirty="0" err="1"/>
              <a:t>Programming</a:t>
            </a:r>
            <a:r>
              <a:rPr lang="ru-RU" sz="1700" dirty="0"/>
              <a:t> Language </a:t>
            </a:r>
            <a:r>
              <a:rPr lang="ru-RU" sz="1700" dirty="0" err="1"/>
              <a:t>Specification</a:t>
            </a:r>
            <a:r>
              <a:rPr lang="ru-RU" sz="1700" dirty="0"/>
              <a:t>).</a:t>
            </a:r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r>
              <a:rPr lang="ru-RU" sz="1700" dirty="0"/>
              <a:t>Спецификация доступна онлайн и обновляется с каждой версией языка: </a:t>
            </a:r>
            <a:r>
              <a:rPr lang="ru-RU" sz="1700" dirty="0">
                <a:hlinkClick r:id="rId2"/>
              </a:rPr>
              <a:t>https://go.dev/ref/spec</a:t>
            </a:r>
            <a:endParaRPr lang="ru-RU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endParaRPr lang="ru-RU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r>
              <a:rPr lang="ru-RU" sz="1700" dirty="0"/>
              <a:t>Исходный код компилятора, </a:t>
            </a:r>
            <a:r>
              <a:rPr lang="ru-RU" sz="1700" dirty="0" err="1"/>
              <a:t>рантайма</a:t>
            </a:r>
            <a:r>
              <a:rPr lang="ru-RU" sz="1700" dirty="0"/>
              <a:t> и стандартной библиотеки: </a:t>
            </a:r>
            <a:r>
              <a:rPr lang="ru-RU" sz="1700" dirty="0">
                <a:hlinkClick r:id="rId3"/>
              </a:rPr>
              <a:t>https://github.com/golang/go</a:t>
            </a:r>
            <a:endParaRPr lang="ru-RU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endParaRPr lang="ru-RU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r>
              <a:rPr lang="ru-RU" sz="1700" dirty="0"/>
              <a:t>Ключевой принцип эволюции — обратная совместимость (Go </a:t>
            </a:r>
            <a:r>
              <a:rPr lang="ru-RU" sz="1700" dirty="0" err="1"/>
              <a:t>Compatibility</a:t>
            </a:r>
            <a:r>
              <a:rPr lang="ru-RU" sz="1700" dirty="0"/>
              <a:t> </a:t>
            </a:r>
            <a:r>
              <a:rPr lang="ru-RU" sz="1700" dirty="0" err="1"/>
              <a:t>Promise</a:t>
            </a:r>
            <a:r>
              <a:rPr lang="ru-RU" sz="1700" dirty="0"/>
              <a:t>): программы, написанные для Go 1, продолжают собираться в новых версиях.</a:t>
            </a:r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endParaRPr lang="ru-RU" sz="1700" dirty="0"/>
          </a:p>
          <a:p>
            <a:pPr marL="0" lvl="1">
              <a:defRPr sz="2100" b="0">
                <a:solidFill>
                  <a:srgbClr val="1A1A1A"/>
                </a:solidFill>
              </a:defRPr>
            </a:pPr>
            <a:r>
              <a:rPr lang="ru-RU" sz="1700" dirty="0"/>
              <a:t>Дополнительные документы:</a:t>
            </a:r>
          </a:p>
          <a:p>
            <a:pPr marL="285750" lvl="1" indent="-285750">
              <a:buFont typeface="Arial" panose="020B0604020202020204" pitchFamily="34" charset="0"/>
              <a:buChar char="•"/>
              <a:defRPr sz="2100" b="0">
                <a:solidFill>
                  <a:srgbClr val="1A1A1A"/>
                </a:solidFill>
              </a:defRPr>
            </a:pPr>
            <a:r>
              <a:rPr lang="ru-RU" sz="1700" dirty="0"/>
              <a:t>Go Memory Model — правила видимости данных между </a:t>
            </a:r>
            <a:r>
              <a:rPr lang="ru-RU" sz="1700" dirty="0" err="1"/>
              <a:t>горутинами</a:t>
            </a:r>
            <a:r>
              <a:rPr lang="ru-RU" sz="1700" dirty="0"/>
              <a:t>.</a:t>
            </a:r>
          </a:p>
          <a:p>
            <a:pPr marL="285750" lvl="1" indent="-285750">
              <a:buFont typeface="Arial" panose="020B0604020202020204" pitchFamily="34" charset="0"/>
              <a:buChar char="•"/>
              <a:defRPr sz="2100" b="0">
                <a:solidFill>
                  <a:srgbClr val="1A1A1A"/>
                </a:solidFill>
              </a:defRPr>
            </a:pPr>
            <a:r>
              <a:rPr lang="ru-RU" sz="1700" dirty="0" err="1"/>
              <a:t>Effective</a:t>
            </a:r>
            <a:r>
              <a:rPr lang="ru-RU" sz="1700" dirty="0"/>
              <a:t> Go — идиоматическое написание кода на Go.</a:t>
            </a:r>
          </a:p>
          <a:p>
            <a:pPr marL="285750" lvl="1" indent="-285750">
              <a:buFont typeface="Arial" panose="020B0604020202020204" pitchFamily="34" charset="0"/>
              <a:buChar char="•"/>
              <a:defRPr sz="2100" b="0">
                <a:solidFill>
                  <a:srgbClr val="1A1A1A"/>
                </a:solidFill>
              </a:defRPr>
            </a:pPr>
            <a:r>
              <a:rPr lang="ru-RU" sz="1700" dirty="0"/>
              <a:t>Go FAQ — ответы на частые вопросы о дизайне языка.</a:t>
            </a:r>
          </a:p>
        </p:txBody>
      </p:sp>
    </p:spTree>
    <p:extLst>
      <p:ext uri="{BB962C8B-B14F-4D97-AF65-F5344CB8AC3E}">
        <p14:creationId xmlns:p14="http://schemas.microsoft.com/office/powerpoint/2010/main" val="2745522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BD976B2-66A4-4516-BB50-CD6AADA75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ru-RU" sz="4400" dirty="0"/>
              <a:t>Первая модель программы на </a:t>
            </a:r>
            <a:r>
              <a:rPr lang="en-US" sz="4400" dirty="0"/>
              <a:t>Go</a:t>
            </a:r>
            <a:endParaRPr lang="ru-RU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8A6BF-6361-81E1-F9B6-AF494EBD3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E2C232-EA8A-817C-BF94-258DB555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Только один файл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83F62A-2590-4EDD-B226-0D442F38B431}"/>
              </a:ext>
            </a:extLst>
          </p:cNvPr>
          <p:cNvSpPr txBox="1"/>
          <p:nvPr/>
        </p:nvSpPr>
        <p:spPr>
          <a:xfrm>
            <a:off x="5930317" y="3521169"/>
            <a:ext cx="30445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Весь код программы полностью в одном файле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705CBA-4C93-4591-BC97-A283132BA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584" y="2178704"/>
            <a:ext cx="3049232" cy="304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84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программы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57117" y="2560896"/>
            <a:ext cx="8229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main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ru-RU" b="0" dirty="0">
              <a:solidFill>
                <a:srgbClr val="A31515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весь код пишется здесь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ECEBAE58-2C88-4553-82DA-49E96AC10F7E}"/>
              </a:ext>
            </a:extLst>
          </p:cNvPr>
          <p:cNvSpPr txBox="1">
            <a:spLocks/>
          </p:cNvSpPr>
          <p:nvPr/>
        </p:nvSpPr>
        <p:spPr>
          <a:xfrm>
            <a:off x="924561" y="1825625"/>
            <a:ext cx="10736136" cy="60033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</a:rPr>
              <a:t>Программа состоит строго из 3х секций: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9C58BD6-F5EF-40C7-93A5-DD69043F56A2}"/>
              </a:ext>
            </a:extLst>
          </p:cNvPr>
          <p:cNvSpPr/>
          <p:nvPr/>
        </p:nvSpPr>
        <p:spPr>
          <a:xfrm>
            <a:off x="1657117" y="4105887"/>
            <a:ext cx="3975768" cy="164176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38B3E-7805-4B71-B3FD-86C630B2B183}"/>
              </a:ext>
            </a:extLst>
          </p:cNvPr>
          <p:cNvSpPr txBox="1"/>
          <p:nvPr/>
        </p:nvSpPr>
        <p:spPr>
          <a:xfrm>
            <a:off x="6024588" y="3276248"/>
            <a:ext cx="3975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 этой секции только подключаем</a:t>
            </a:r>
            <a:br>
              <a:rPr lang="ru-RU" dirty="0"/>
            </a:br>
            <a:r>
              <a:rPr lang="ru-RU" dirty="0"/>
              <a:t>стандартные библиотеки, если нужно.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89F9B7-6B64-4181-902C-2A32C9CC5446}"/>
              </a:ext>
            </a:extLst>
          </p:cNvPr>
          <p:cNvSpPr txBox="1"/>
          <p:nvPr/>
        </p:nvSpPr>
        <p:spPr>
          <a:xfrm>
            <a:off x="6007587" y="4497188"/>
            <a:ext cx="39359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Весь код пишем только в этой секции.</a:t>
            </a:r>
          </a:p>
          <a:p>
            <a:r>
              <a:rPr lang="ru-RU" dirty="0"/>
              <a:t>Эта секция обязательна.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4DAA10F-E741-4F49-A393-8EE9E59047C2}"/>
              </a:ext>
            </a:extLst>
          </p:cNvPr>
          <p:cNvSpPr/>
          <p:nvPr/>
        </p:nvSpPr>
        <p:spPr>
          <a:xfrm>
            <a:off x="1657117" y="3276249"/>
            <a:ext cx="3975768" cy="64633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B68108-6388-4A19-9A67-7D386B5B0E5B}"/>
              </a:ext>
            </a:extLst>
          </p:cNvPr>
          <p:cNvSpPr txBox="1"/>
          <p:nvPr/>
        </p:nvSpPr>
        <p:spPr>
          <a:xfrm>
            <a:off x="6024588" y="2446608"/>
            <a:ext cx="2576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Имя пакета всегда </a:t>
            </a:r>
            <a:r>
              <a:rPr lang="en-US" dirty="0">
                <a:latin typeface="Consolas" panose="020B0609020204030204" pitchFamily="49" charset="0"/>
              </a:rPr>
              <a:t>main</a:t>
            </a:r>
          </a:p>
          <a:p>
            <a:r>
              <a:rPr lang="ru-RU" dirty="0"/>
              <a:t>Эта секция обязательна.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07D0632-90CD-4F6D-8FAD-39135D774F3E}"/>
              </a:ext>
            </a:extLst>
          </p:cNvPr>
          <p:cNvSpPr/>
          <p:nvPr/>
        </p:nvSpPr>
        <p:spPr>
          <a:xfrm>
            <a:off x="1657117" y="2446609"/>
            <a:ext cx="3975768" cy="64633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6617" y="2740617"/>
            <a:ext cx="8229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main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BB616FF-A3C4-4EE4-B4FD-155FD1945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Минимальная программа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02377" y="1933302"/>
            <a:ext cx="8229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main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"math"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2377" y="5656217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/>
              <a:t>Используются</a:t>
            </a:r>
            <a:r>
              <a:rPr sz="1400" dirty="0"/>
              <a:t> </a:t>
            </a:r>
            <a:r>
              <a:rPr sz="1400" dirty="0" err="1"/>
              <a:t>только</a:t>
            </a:r>
            <a:r>
              <a:rPr sz="1400" dirty="0"/>
              <a:t> </a:t>
            </a:r>
            <a:r>
              <a:rPr sz="1400" dirty="0" err="1"/>
              <a:t>подключённые</a:t>
            </a:r>
            <a:r>
              <a:rPr sz="1400" dirty="0"/>
              <a:t> </a:t>
            </a:r>
            <a:r>
              <a:rPr sz="1400" dirty="0" err="1"/>
              <a:t>пакеты</a:t>
            </a:r>
            <a:r>
              <a:rPr sz="1400" dirty="0"/>
              <a:t>: </a:t>
            </a:r>
            <a:r>
              <a:rPr sz="1400" dirty="0" err="1"/>
              <a:t>иначе</a:t>
            </a:r>
            <a:r>
              <a:rPr sz="1400" dirty="0"/>
              <a:t> </a:t>
            </a:r>
            <a:r>
              <a:rPr lang="en-US" sz="1400" dirty="0"/>
              <a:t>–</a:t>
            </a:r>
            <a:r>
              <a:rPr sz="1400" dirty="0"/>
              <a:t> </a:t>
            </a:r>
            <a:r>
              <a:rPr sz="1400" dirty="0" err="1"/>
              <a:t>ошибка</a:t>
            </a:r>
            <a:r>
              <a:rPr sz="1400" dirty="0"/>
              <a:t> </a:t>
            </a:r>
            <a:r>
              <a:rPr sz="1400" dirty="0" err="1"/>
              <a:t>компиляции</a:t>
            </a:r>
            <a:r>
              <a:rPr sz="1400" dirty="0"/>
              <a:t>.</a:t>
            </a:r>
          </a:p>
          <a:p>
            <a:r>
              <a:rPr sz="1400" dirty="0" err="1"/>
              <a:t>Специальный</a:t>
            </a:r>
            <a:r>
              <a:rPr sz="1400" dirty="0"/>
              <a:t> </a:t>
            </a:r>
            <a:r>
              <a:rPr sz="1400" dirty="0" err="1"/>
              <a:t>импорт</a:t>
            </a:r>
            <a:r>
              <a:rPr sz="1400" dirty="0"/>
              <a:t> _ "pkg" — </a:t>
            </a:r>
            <a:r>
              <a:rPr sz="1400" dirty="0" err="1"/>
              <a:t>только</a:t>
            </a:r>
            <a:r>
              <a:rPr sz="1400" dirty="0"/>
              <a:t> </a:t>
            </a:r>
            <a:r>
              <a:rPr sz="1400" dirty="0" err="1"/>
              <a:t>для</a:t>
            </a:r>
            <a:r>
              <a:rPr sz="1400" dirty="0"/>
              <a:t> </a:t>
            </a:r>
            <a:r>
              <a:rPr sz="1400" dirty="0" err="1"/>
              <a:t>побочного</a:t>
            </a:r>
            <a:r>
              <a:rPr sz="1400" dirty="0"/>
              <a:t> </a:t>
            </a:r>
            <a:r>
              <a:rPr sz="1400" dirty="0" err="1"/>
              <a:t>эффекта</a:t>
            </a:r>
            <a:r>
              <a:rPr sz="1400" dirty="0"/>
              <a:t> (</a:t>
            </a:r>
            <a:r>
              <a:rPr sz="1400" dirty="0" err="1"/>
              <a:t>init</a:t>
            </a:r>
            <a:r>
              <a:rPr sz="1400" dirty="0"/>
              <a:t>).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4BD95E5-C9DD-43CF-8A10-5DEBB227F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Подключение нескольких библиотек</a:t>
            </a: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85A48-766C-1499-485E-2A0947897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C262F-F221-D086-77A7-13D6AC5A8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Комментарии</a:t>
            </a: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110A5CB4-5C65-B249-9E32-55B627E12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235200"/>
            <a:ext cx="9753600" cy="347472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6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Однострочный комментарий: от // до конца строки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Многострочный комментарий.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Не вкладываются друг в друга.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*/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ru-RU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u-RU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после кода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B1B0294-0BF8-4389-9400-1326B97E00F7}"/>
              </a:ext>
            </a:extLst>
          </p:cNvPr>
          <p:cNvSpPr txBox="1">
            <a:spLocks/>
          </p:cNvSpPr>
          <p:nvPr/>
        </p:nvSpPr>
        <p:spPr>
          <a:xfrm>
            <a:off x="924561" y="1825625"/>
            <a:ext cx="10911840" cy="8066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</a:rPr>
              <a:t>Комментарии можно писать в любом месте файла. Они не влияют на результат работы программы.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136427D-F99D-4FC0-9A97-A5FD8ED2D1C2}"/>
              </a:ext>
            </a:extLst>
          </p:cNvPr>
          <p:cNvSpPr txBox="1">
            <a:spLocks/>
          </p:cNvSpPr>
          <p:nvPr/>
        </p:nvSpPr>
        <p:spPr>
          <a:xfrm>
            <a:off x="924561" y="5818505"/>
            <a:ext cx="10911840" cy="8066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</a:rPr>
              <a:t>Применяются для документирования кода или чтобы временно отключить его часть без удаления.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436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8A6BF-6361-81E1-F9B6-AF494EBD3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E2C232-EA8A-817C-BF94-258DB555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Программа просто запускается</a:t>
            </a:r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130CDDA0-3C6B-B6B5-1675-696EFA8C6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097" y="1825625"/>
            <a:ext cx="10732164" cy="80662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Мы не управляем процессом сборки программы и не думаем о нём. По нажатию кнопки происходит магия и программа просто запускается.</a:t>
            </a: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5720E6-0C78-4569-BA11-0376A2DCA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697" y="2721430"/>
            <a:ext cx="8935697" cy="3848637"/>
          </a:xfrm>
          <a:prstGeom prst="rect">
            <a:avLst/>
          </a:prstGeom>
        </p:spPr>
      </p:pic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3D335BFA-AC53-6A15-3145-5B4934BCCFEC}"/>
              </a:ext>
            </a:extLst>
          </p:cNvPr>
          <p:cNvCxnSpPr>
            <a:cxnSpLocks/>
          </p:cNvCxnSpPr>
          <p:nvPr/>
        </p:nvCxnSpPr>
        <p:spPr>
          <a:xfrm flipH="1" flipV="1">
            <a:off x="2293066" y="3215704"/>
            <a:ext cx="900077" cy="21329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487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54628" y="2136338"/>
            <a:ext cx="8229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>
                <a:solidFill>
                  <a:srgbClr val="202020"/>
                </a:solidFill>
                <a:latin typeface="Consolas"/>
              </a:rPr>
              <a:t>func</a:t>
            </a:r>
            <a:r>
              <a:rPr dirty="0">
                <a:solidFill>
                  <a:srgbClr val="202020"/>
                </a:solidFill>
                <a:latin typeface="Consolas"/>
              </a:rPr>
              <a:t> main() {</a:t>
            </a:r>
            <a:br>
              <a:rPr sz="2400" dirty="0"/>
            </a:br>
            <a:r>
              <a:rPr dirty="0">
                <a:solidFill>
                  <a:srgbClr val="202020"/>
                </a:solidFill>
                <a:latin typeface="Consolas"/>
              </a:rPr>
              <a:t>    stmt1</a:t>
            </a:r>
            <a:br>
              <a:rPr sz="2400" dirty="0"/>
            </a:br>
            <a:r>
              <a:rPr dirty="0">
                <a:solidFill>
                  <a:srgbClr val="202020"/>
                </a:solidFill>
                <a:latin typeface="Consolas"/>
              </a:rPr>
              <a:t>    stmt2</a:t>
            </a:r>
            <a:br>
              <a:rPr sz="2400" dirty="0"/>
            </a:br>
            <a:r>
              <a:rPr dirty="0">
                <a:solidFill>
                  <a:srgbClr val="202020"/>
                </a:solidFill>
                <a:latin typeface="Consolas"/>
              </a:rPr>
              <a:t>    {</a:t>
            </a:r>
            <a:br>
              <a:rPr sz="2400" dirty="0"/>
            </a:br>
            <a:r>
              <a:rPr dirty="0">
                <a:solidFill>
                  <a:srgbClr val="202020"/>
                </a:solidFill>
                <a:latin typeface="Consolas"/>
              </a:rPr>
              <a:t>        stmt3</a:t>
            </a:r>
            <a:br>
              <a:rPr sz="2400" dirty="0"/>
            </a:br>
            <a:r>
              <a:rPr dirty="0">
                <a:solidFill>
                  <a:srgbClr val="202020"/>
                </a:solidFill>
                <a:latin typeface="Consolas"/>
              </a:rPr>
              <a:t>        stmt4</a:t>
            </a:r>
            <a:br>
              <a:rPr sz="2400" dirty="0"/>
            </a:br>
            <a:r>
              <a:rPr dirty="0">
                <a:solidFill>
                  <a:srgbClr val="202020"/>
                </a:solidFill>
                <a:latin typeface="Consolas"/>
              </a:rPr>
              <a:t>    }</a:t>
            </a:r>
            <a:br>
              <a:rPr sz="2400" dirty="0"/>
            </a:br>
            <a:r>
              <a:rPr dirty="0">
                <a:solidFill>
                  <a:srgbClr val="202020"/>
                </a:solidFill>
                <a:latin typeface="Consolas"/>
              </a:rPr>
              <a:t>    stmt5</a:t>
            </a:r>
            <a:br>
              <a:rPr sz="2400" dirty="0"/>
            </a:br>
            <a:r>
              <a:rPr dirty="0">
                <a:solidFill>
                  <a:srgbClr val="20202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4628" y="5717177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Базовая</a:t>
            </a:r>
            <a:r>
              <a:rPr sz="1400" dirty="0"/>
              <a:t> </a:t>
            </a:r>
            <a:r>
              <a:rPr lang="ru-RU" sz="1400" dirty="0"/>
              <a:t>единица</a:t>
            </a:r>
            <a:r>
              <a:rPr sz="1400" dirty="0"/>
              <a:t> </a:t>
            </a:r>
            <a:r>
              <a:rPr lang="ru-RU" sz="1400" dirty="0"/>
              <a:t>выполнения</a:t>
            </a:r>
            <a:r>
              <a:rPr sz="1400" dirty="0"/>
              <a:t> </a:t>
            </a:r>
            <a:r>
              <a:rPr lang="ru-RU" sz="1400" dirty="0"/>
              <a:t>– </a:t>
            </a:r>
            <a:r>
              <a:rPr lang="ru-RU" sz="1400" dirty="0" err="1"/>
              <a:t>стейтмент</a:t>
            </a:r>
            <a:r>
              <a:rPr sz="1400" dirty="0"/>
              <a:t> (statement).</a:t>
            </a:r>
          </a:p>
          <a:p>
            <a:r>
              <a:rPr lang="ru-RU" sz="1400" dirty="0"/>
              <a:t>Кроме</a:t>
            </a:r>
            <a:r>
              <a:rPr sz="1400" dirty="0"/>
              <a:t> </a:t>
            </a:r>
            <a:r>
              <a:rPr lang="ru-RU" sz="1400" dirty="0" err="1"/>
              <a:t>стейтментов</a:t>
            </a:r>
            <a:r>
              <a:rPr sz="1400" dirty="0"/>
              <a:t> </a:t>
            </a:r>
            <a:r>
              <a:rPr lang="ru-RU" sz="1400" dirty="0"/>
              <a:t>есть</a:t>
            </a:r>
            <a:r>
              <a:rPr sz="1400" dirty="0"/>
              <a:t> </a:t>
            </a:r>
            <a:r>
              <a:rPr lang="ru-RU" sz="1400" dirty="0"/>
              <a:t>объявления</a:t>
            </a:r>
            <a:r>
              <a:rPr sz="1400" dirty="0"/>
              <a:t> (declarations): var, const, type, </a:t>
            </a:r>
            <a:r>
              <a:rPr sz="1400" dirty="0" err="1"/>
              <a:t>func</a:t>
            </a:r>
            <a:r>
              <a:rPr sz="1400" dirty="0"/>
              <a:t>.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74E6904-90E7-41F6-8FEF-3AA3E5003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333333"/>
                </a:solidFill>
              </a:rPr>
              <a:t>Структура кода в </a:t>
            </a:r>
            <a:r>
              <a:rPr lang="en-US" sz="4000" dirty="0">
                <a:solidFill>
                  <a:srgbClr val="333333"/>
                </a:solidFill>
              </a:rPr>
              <a:t>main</a:t>
            </a:r>
            <a:endParaRPr lang="ru-RU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err="1"/>
              <a:t>Стейтмент</a:t>
            </a:r>
            <a:r>
              <a:rPr sz="4000" dirty="0"/>
              <a:t> (statement)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dirty="0"/>
              <a:t>В </a:t>
            </a:r>
            <a:r>
              <a:rPr sz="1800" dirty="0" err="1"/>
              <a:t>русскоязычной</a:t>
            </a:r>
            <a:r>
              <a:rPr sz="1800" dirty="0"/>
              <a:t> </a:t>
            </a:r>
            <a:r>
              <a:rPr sz="1800" dirty="0" err="1"/>
              <a:t>литературе</a:t>
            </a:r>
            <a:r>
              <a:rPr sz="1800" dirty="0"/>
              <a:t> </a:t>
            </a:r>
            <a:r>
              <a:rPr sz="1800" dirty="0" err="1"/>
              <a:t>встречаются</a:t>
            </a:r>
            <a:r>
              <a:rPr sz="1800" dirty="0"/>
              <a:t> </a:t>
            </a:r>
            <a:r>
              <a:rPr sz="1800" dirty="0" err="1"/>
              <a:t>переводы</a:t>
            </a:r>
            <a:r>
              <a:rPr sz="1800" dirty="0"/>
              <a:t>: «</a:t>
            </a:r>
            <a:r>
              <a:rPr sz="1800" dirty="0" err="1"/>
              <a:t>оператор</a:t>
            </a:r>
            <a:r>
              <a:rPr sz="1800" dirty="0"/>
              <a:t>», «</a:t>
            </a:r>
            <a:r>
              <a:rPr sz="1800" dirty="0" err="1"/>
              <a:t>инструкция</a:t>
            </a:r>
            <a:r>
              <a:rPr sz="1800" dirty="0"/>
              <a:t>», «</a:t>
            </a:r>
            <a:r>
              <a:rPr sz="1800" dirty="0" err="1"/>
              <a:t>команда</a:t>
            </a:r>
            <a:r>
              <a:rPr sz="1800" dirty="0"/>
              <a:t>».</a:t>
            </a:r>
          </a:p>
          <a:p>
            <a:r>
              <a:rPr sz="1800" dirty="0"/>
              <a:t>В Go, </a:t>
            </a:r>
            <a:r>
              <a:rPr sz="1800" dirty="0" err="1"/>
              <a:t>как</a:t>
            </a:r>
            <a:r>
              <a:rPr sz="1800" dirty="0"/>
              <a:t> и в C++, </a:t>
            </a:r>
            <a:r>
              <a:rPr sz="1800" dirty="0" err="1"/>
              <a:t>корректнее</a:t>
            </a:r>
            <a:r>
              <a:rPr sz="1800" dirty="0"/>
              <a:t> </a:t>
            </a:r>
            <a:r>
              <a:rPr sz="1800" dirty="0" err="1"/>
              <a:t>говорить</a:t>
            </a:r>
            <a:r>
              <a:rPr sz="1800" dirty="0"/>
              <a:t> «</a:t>
            </a:r>
            <a:r>
              <a:rPr sz="1800" dirty="0" err="1"/>
              <a:t>стейтмент</a:t>
            </a:r>
            <a:r>
              <a:rPr sz="1800" dirty="0"/>
              <a:t>».</a:t>
            </a:r>
          </a:p>
          <a:p>
            <a:r>
              <a:rPr sz="1800" dirty="0" err="1"/>
              <a:t>Программа</a:t>
            </a:r>
            <a:r>
              <a:rPr sz="1800" dirty="0"/>
              <a:t> </a:t>
            </a:r>
            <a:r>
              <a:rPr sz="1800" dirty="0" err="1"/>
              <a:t>на</a:t>
            </a:r>
            <a:r>
              <a:rPr sz="1800" dirty="0"/>
              <a:t> Go </a:t>
            </a:r>
            <a:r>
              <a:rPr lang="ru-RU" sz="1800" dirty="0"/>
              <a:t>–</a:t>
            </a:r>
            <a:r>
              <a:rPr sz="1800" dirty="0"/>
              <a:t> </a:t>
            </a:r>
            <a:r>
              <a:rPr sz="1800" dirty="0" err="1"/>
              <a:t>последовательность</a:t>
            </a:r>
            <a:r>
              <a:rPr sz="1800" dirty="0"/>
              <a:t> </a:t>
            </a:r>
            <a:r>
              <a:rPr sz="1800" dirty="0" err="1"/>
              <a:t>стейтментов</a:t>
            </a:r>
            <a:r>
              <a:rPr sz="1800" dirty="0"/>
              <a:t>.</a:t>
            </a:r>
          </a:p>
          <a:p>
            <a:r>
              <a:rPr sz="1800" dirty="0" err="1"/>
              <a:t>Стейтмент</a:t>
            </a:r>
            <a:r>
              <a:rPr sz="1800" dirty="0"/>
              <a:t> </a:t>
            </a:r>
            <a:r>
              <a:rPr lang="ru-RU" sz="1800" dirty="0"/>
              <a:t>–</a:t>
            </a:r>
            <a:r>
              <a:rPr sz="1800" dirty="0"/>
              <a:t> </a:t>
            </a:r>
            <a:r>
              <a:rPr sz="1800" dirty="0" err="1"/>
              <a:t>базовая</a:t>
            </a:r>
            <a:r>
              <a:rPr sz="1800" dirty="0"/>
              <a:t> </a:t>
            </a:r>
            <a:r>
              <a:rPr sz="1800" dirty="0" err="1"/>
              <a:t>единица</a:t>
            </a:r>
            <a:r>
              <a:rPr sz="1800" dirty="0"/>
              <a:t> </a:t>
            </a:r>
            <a:r>
              <a:rPr sz="1800" dirty="0" err="1"/>
              <a:t>выполнения</a:t>
            </a:r>
            <a:r>
              <a:rPr sz="1800" dirty="0"/>
              <a:t> </a:t>
            </a:r>
            <a:r>
              <a:rPr sz="1800" dirty="0" err="1"/>
              <a:t>программы</a:t>
            </a:r>
            <a:r>
              <a:rPr sz="1800" dirty="0"/>
              <a:t>.</a:t>
            </a:r>
          </a:p>
          <a:p>
            <a:r>
              <a:rPr sz="1800" dirty="0" err="1"/>
              <a:t>Стейтмент</a:t>
            </a:r>
            <a:r>
              <a:rPr sz="1800" dirty="0"/>
              <a:t> </a:t>
            </a:r>
            <a:r>
              <a:rPr sz="1800" dirty="0" err="1"/>
              <a:t>не</a:t>
            </a:r>
            <a:r>
              <a:rPr sz="1800" dirty="0"/>
              <a:t> </a:t>
            </a:r>
            <a:r>
              <a:rPr sz="1800" dirty="0" err="1"/>
              <a:t>возвращает</a:t>
            </a:r>
            <a:r>
              <a:rPr sz="1800" dirty="0"/>
              <a:t> </a:t>
            </a:r>
            <a:r>
              <a:rPr sz="1800" dirty="0" err="1"/>
              <a:t>значение</a:t>
            </a:r>
            <a:r>
              <a:rPr sz="1800" dirty="0"/>
              <a:t> (в </a:t>
            </a:r>
            <a:r>
              <a:rPr sz="1800" dirty="0" err="1"/>
              <a:t>отличие</a:t>
            </a:r>
            <a:r>
              <a:rPr sz="1800" dirty="0"/>
              <a:t> </a:t>
            </a:r>
            <a:r>
              <a:rPr sz="1800" dirty="0" err="1"/>
              <a:t>от</a:t>
            </a:r>
            <a:r>
              <a:rPr sz="1800" dirty="0"/>
              <a:t> </a:t>
            </a:r>
            <a:r>
              <a:rPr sz="1800" dirty="0" err="1"/>
              <a:t>выражения</a:t>
            </a:r>
            <a:r>
              <a:rPr sz="1800" dirty="0"/>
              <a:t>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CDCF-932F-EDAC-C9C1-A32C5D3F4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32248-F456-D5FB-EAF1-DDC414BCEA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Виды стейтментов</a:t>
            </a:r>
          </a:p>
        </p:txBody>
      </p:sp>
    </p:spTree>
    <p:extLst>
      <p:ext uri="{BB962C8B-B14F-4D97-AF65-F5344CB8AC3E}">
        <p14:creationId xmlns:p14="http://schemas.microsoft.com/office/powerpoint/2010/main" val="4071931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err="1"/>
              <a:t>Виды</a:t>
            </a:r>
            <a:r>
              <a:rPr sz="4000" dirty="0"/>
              <a:t> </a:t>
            </a:r>
            <a:r>
              <a:rPr sz="4000" dirty="0" err="1"/>
              <a:t>стейтментов</a:t>
            </a:r>
            <a:r>
              <a:rPr sz="4000" dirty="0"/>
              <a:t> в 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r>
              <a:rPr sz="1800" dirty="0"/>
              <a:t>Declaration (</a:t>
            </a:r>
            <a:r>
              <a:rPr lang="ru-RU" sz="1800" dirty="0"/>
              <a:t>объявление</a:t>
            </a:r>
            <a:r>
              <a:rPr sz="1800" dirty="0"/>
              <a:t>): var, const, type, </a:t>
            </a:r>
            <a:r>
              <a:rPr sz="1800" dirty="0" err="1"/>
              <a:t>func</a:t>
            </a:r>
            <a:r>
              <a:rPr sz="1800" dirty="0"/>
              <a:t>, import</a:t>
            </a:r>
          </a:p>
          <a:p>
            <a:r>
              <a:rPr sz="1800" dirty="0"/>
              <a:t>Labeled statement (</a:t>
            </a:r>
            <a:r>
              <a:rPr lang="ru-RU" sz="1800" dirty="0"/>
              <a:t>метки</a:t>
            </a:r>
            <a:r>
              <a:rPr sz="1800" dirty="0"/>
              <a:t>)</a:t>
            </a:r>
            <a:endParaRPr lang="ru-RU" sz="1800" dirty="0"/>
          </a:p>
          <a:p>
            <a:r>
              <a:rPr lang="en-US" sz="1800" dirty="0"/>
              <a:t>Simple statement</a:t>
            </a:r>
            <a:r>
              <a:rPr lang="ru-RU" sz="1800" dirty="0"/>
              <a:t>:</a:t>
            </a:r>
          </a:p>
          <a:p>
            <a:pPr lvl="1"/>
            <a:r>
              <a:rPr lang="en-US" sz="1400" dirty="0"/>
              <a:t>Empty statement (</a:t>
            </a:r>
            <a:r>
              <a:rPr lang="ru-RU" sz="1400" dirty="0"/>
              <a:t>пустой </a:t>
            </a:r>
            <a:r>
              <a:rPr lang="ru-RU" sz="1400" dirty="0" err="1"/>
              <a:t>стейтмент</a:t>
            </a:r>
            <a:r>
              <a:rPr lang="en-US" sz="1400" dirty="0"/>
              <a:t>)</a:t>
            </a:r>
            <a:endParaRPr sz="1400" dirty="0"/>
          </a:p>
          <a:p>
            <a:pPr lvl="1"/>
            <a:r>
              <a:rPr sz="1400" dirty="0"/>
              <a:t>Expression statement (</a:t>
            </a:r>
            <a:r>
              <a:rPr lang="ru-RU" sz="1400" dirty="0" err="1"/>
              <a:t>стейтмент</a:t>
            </a:r>
            <a:r>
              <a:rPr lang="ru-RU" sz="1400" dirty="0"/>
              <a:t>-выражение</a:t>
            </a:r>
            <a:r>
              <a:rPr sz="1400" dirty="0"/>
              <a:t>)</a:t>
            </a:r>
          </a:p>
          <a:p>
            <a:pPr lvl="1"/>
            <a:r>
              <a:rPr sz="1400" dirty="0"/>
              <a:t>Send statement (</a:t>
            </a:r>
            <a:r>
              <a:rPr lang="ru-RU" sz="1400" dirty="0"/>
              <a:t>отправка в канал</a:t>
            </a:r>
            <a:r>
              <a:rPr sz="1400" dirty="0"/>
              <a:t>): </a:t>
            </a:r>
            <a:r>
              <a:rPr sz="1400" dirty="0" err="1"/>
              <a:t>ch</a:t>
            </a:r>
            <a:r>
              <a:rPr sz="1400" dirty="0"/>
              <a:t> &lt;- x</a:t>
            </a:r>
          </a:p>
          <a:p>
            <a:pPr lvl="1"/>
            <a:r>
              <a:rPr sz="1400" dirty="0" err="1"/>
              <a:t>IncDec</a:t>
            </a:r>
            <a:r>
              <a:rPr sz="1400" dirty="0"/>
              <a:t> statement (</a:t>
            </a:r>
            <a:r>
              <a:rPr sz="1400" dirty="0" err="1"/>
              <a:t>инкремент</a:t>
            </a:r>
            <a:r>
              <a:rPr sz="1400" dirty="0"/>
              <a:t>/</a:t>
            </a:r>
            <a:r>
              <a:rPr sz="1400" dirty="0" err="1"/>
              <a:t>декремент</a:t>
            </a:r>
            <a:r>
              <a:rPr sz="1400" dirty="0"/>
              <a:t>)</a:t>
            </a:r>
            <a:r>
              <a:rPr lang="ru-RU" sz="1400" dirty="0"/>
              <a:t>. Только постфиксный вариант</a:t>
            </a:r>
            <a:r>
              <a:rPr sz="1400" dirty="0"/>
              <a:t>: </a:t>
            </a:r>
            <a:r>
              <a:rPr sz="1400" dirty="0" err="1"/>
              <a:t>i</a:t>
            </a:r>
            <a:r>
              <a:rPr sz="1400" dirty="0"/>
              <a:t>++, </a:t>
            </a:r>
            <a:r>
              <a:rPr sz="1400" dirty="0" err="1"/>
              <a:t>i</a:t>
            </a:r>
            <a:r>
              <a:rPr sz="1400" dirty="0"/>
              <a:t>--</a:t>
            </a:r>
          </a:p>
          <a:p>
            <a:pPr lvl="1"/>
            <a:r>
              <a:rPr sz="1400" dirty="0"/>
              <a:t>Assignment statement (</a:t>
            </a:r>
            <a:r>
              <a:rPr lang="ru-RU" sz="1400" dirty="0"/>
              <a:t>присваивание</a:t>
            </a:r>
            <a:r>
              <a:rPr sz="1400" dirty="0"/>
              <a:t>): =, +=, ...</a:t>
            </a:r>
          </a:p>
          <a:p>
            <a:pPr lvl="1"/>
            <a:r>
              <a:rPr lang="en-US" sz="1400" dirty="0"/>
              <a:t>Short Variable Declaration statement</a:t>
            </a:r>
            <a:r>
              <a:rPr lang="ru-RU" sz="1400" dirty="0"/>
              <a:t> (только внутри функций): </a:t>
            </a:r>
            <a:r>
              <a:rPr lang="en-US" sz="1400" dirty="0"/>
              <a:t>x := 1</a:t>
            </a:r>
            <a:endParaRPr lang="ru-RU" sz="1400" dirty="0"/>
          </a:p>
          <a:p>
            <a:r>
              <a:rPr sz="1800" dirty="0"/>
              <a:t>Go statement (</a:t>
            </a:r>
            <a:r>
              <a:rPr lang="ru-RU" sz="1800" dirty="0"/>
              <a:t>запуск </a:t>
            </a:r>
            <a:r>
              <a:rPr lang="ru-RU" sz="1800" dirty="0" err="1"/>
              <a:t>горутины</a:t>
            </a:r>
            <a:r>
              <a:rPr sz="1800" dirty="0"/>
              <a:t>): go f()</a:t>
            </a:r>
          </a:p>
          <a:p>
            <a:r>
              <a:rPr sz="1800" dirty="0"/>
              <a:t>Return statement</a:t>
            </a:r>
            <a:endParaRPr lang="en-US" sz="1800" dirty="0"/>
          </a:p>
          <a:p>
            <a:r>
              <a:rPr lang="en-US" sz="1800" dirty="0"/>
              <a:t>Break / Continue / </a:t>
            </a:r>
            <a:r>
              <a:rPr lang="en-US" sz="1800" dirty="0" err="1"/>
              <a:t>Goto</a:t>
            </a:r>
            <a:r>
              <a:rPr lang="en-US" sz="1800" dirty="0"/>
              <a:t> / </a:t>
            </a:r>
            <a:r>
              <a:rPr lang="en-US" sz="1800" dirty="0" err="1"/>
              <a:t>Fallthrough</a:t>
            </a:r>
            <a:endParaRPr lang="en-US" sz="1800" dirty="0"/>
          </a:p>
          <a:p>
            <a:r>
              <a:rPr lang="en-US" sz="1800" dirty="0"/>
              <a:t>Compound statement (</a:t>
            </a:r>
            <a:r>
              <a:rPr lang="ru-RU" sz="1800" dirty="0"/>
              <a:t>блок)</a:t>
            </a:r>
            <a:endParaRPr sz="1800" dirty="0"/>
          </a:p>
          <a:p>
            <a:r>
              <a:rPr sz="1800" dirty="0"/>
              <a:t>If / Switch / Select / For</a:t>
            </a:r>
            <a:endParaRPr lang="en-US" sz="1800" dirty="0"/>
          </a:p>
          <a:p>
            <a:r>
              <a:rPr lang="en-US" sz="1800" dirty="0"/>
              <a:t>Defer statement (</a:t>
            </a:r>
            <a:r>
              <a:rPr lang="ru-RU" sz="1800" dirty="0"/>
              <a:t>отложенный вызов): </a:t>
            </a:r>
            <a:r>
              <a:rPr lang="en-US" sz="1800" dirty="0"/>
              <a:t>defer f()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Empty Statement (</a:t>
            </a:r>
            <a:r>
              <a:rPr sz="4000" dirty="0" err="1"/>
              <a:t>Пустой</a:t>
            </a:r>
            <a:r>
              <a:rPr sz="4000" dirty="0"/>
              <a:t> </a:t>
            </a:r>
            <a:r>
              <a:rPr sz="4000" dirty="0" err="1"/>
              <a:t>стейтмент</a:t>
            </a:r>
            <a:r>
              <a:rPr sz="400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8252" y="1802675"/>
            <a:ext cx="56339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Expression Statement (</a:t>
            </a:r>
            <a:r>
              <a:rPr sz="4000" dirty="0" err="1"/>
              <a:t>Стейтмент-выражение</a:t>
            </a:r>
            <a:r>
              <a:rPr sz="4000" dirty="0"/>
              <a:t>)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9AD784-60DE-46C3-BB3D-3395B897E0B6}"/>
              </a:ext>
            </a:extLst>
          </p:cNvPr>
          <p:cNvSpPr txBox="1">
            <a:spLocks/>
          </p:cNvSpPr>
          <p:nvPr/>
        </p:nvSpPr>
        <p:spPr>
          <a:xfrm>
            <a:off x="1260000" y="1800000"/>
            <a:ext cx="9753600" cy="43513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2000" dirty="0"/>
              <a:t>Ровно два вида </a:t>
            </a:r>
            <a:r>
              <a:rPr lang="ru-RU" sz="2000" b="1" dirty="0"/>
              <a:t>выражений</a:t>
            </a:r>
            <a:r>
              <a:rPr lang="ru-RU" sz="2000" dirty="0"/>
              <a:t> могут быть использованы в контексте где требуется выражение и как отдельные </a:t>
            </a:r>
            <a:r>
              <a:rPr lang="ru-RU" sz="2000" dirty="0" err="1"/>
              <a:t>стейтменты</a:t>
            </a:r>
            <a:r>
              <a:rPr lang="ru-RU" sz="2000" dirty="0"/>
              <a:t> (т.е. как самостоятельные единицы исполнения):</a:t>
            </a:r>
          </a:p>
          <a:p>
            <a:pPr algn="just">
              <a:spcBef>
                <a:spcPts val="600"/>
              </a:spcBef>
            </a:pPr>
            <a:r>
              <a:rPr lang="ru-RU" sz="2000" dirty="0"/>
              <a:t>Вызов функции (своих и некоторых встроенных) и вызов метода</a:t>
            </a:r>
            <a:r>
              <a:rPr lang="en-US" sz="2000" dirty="0"/>
              <a:t>;</a:t>
            </a:r>
            <a:endParaRPr lang="ru-RU" sz="2000" dirty="0"/>
          </a:p>
          <a:p>
            <a:pPr algn="just">
              <a:spcBef>
                <a:spcPts val="600"/>
              </a:spcBef>
            </a:pPr>
            <a:r>
              <a:rPr lang="ru-RU" sz="2000" dirty="0"/>
              <a:t>Получение из канала (</a:t>
            </a:r>
            <a:r>
              <a:rPr lang="ru-RU" sz="2000" dirty="0" err="1"/>
              <a:t>receive</a:t>
            </a:r>
            <a:r>
              <a:rPr lang="ru-RU" sz="2000" dirty="0"/>
              <a:t>)</a:t>
            </a:r>
            <a:r>
              <a:rPr lang="en-US" sz="2000" dirty="0"/>
              <a:t>.</a:t>
            </a:r>
            <a:endParaRPr lang="ru-RU" sz="2000" dirty="0"/>
          </a:p>
          <a:p>
            <a:pPr marL="0" indent="0" algn="just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2000" dirty="0"/>
              <a:t>Всё. Больше ничего.</a:t>
            </a:r>
          </a:p>
          <a:p>
            <a:pPr marL="0" indent="0" algn="just">
              <a:spcBef>
                <a:spcPts val="600"/>
              </a:spcBef>
              <a:buFont typeface="Arial" panose="020B0604020202020204" pitchFamily="34" charset="0"/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 algn="just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</a:rPr>
              <a:t>Все остальные </a:t>
            </a:r>
            <a:r>
              <a:rPr lang="ru-RU" sz="2000" b="1" dirty="0">
                <a:solidFill>
                  <a:srgbClr val="000000"/>
                </a:solidFill>
              </a:rPr>
              <a:t>выражения</a:t>
            </a:r>
            <a:r>
              <a:rPr lang="ru-RU" sz="2000" dirty="0">
                <a:solidFill>
                  <a:srgbClr val="000000"/>
                </a:solidFill>
              </a:rPr>
              <a:t> могут быть использованы только в составе других </a:t>
            </a:r>
            <a:r>
              <a:rPr lang="ru-RU" sz="2000" dirty="0" err="1">
                <a:solidFill>
                  <a:srgbClr val="000000"/>
                </a:solidFill>
              </a:rPr>
              <a:t>стетментов</a:t>
            </a:r>
            <a:r>
              <a:rPr lang="ru-RU" sz="2000" dirty="0">
                <a:solidFill>
                  <a:srgbClr val="000000"/>
                </a:solidFill>
              </a:rPr>
              <a:t>, но не как самостоятельные </a:t>
            </a:r>
            <a:r>
              <a:rPr lang="ru-RU" sz="2000" dirty="0" err="1">
                <a:solidFill>
                  <a:srgbClr val="000000"/>
                </a:solidFill>
              </a:rPr>
              <a:t>стейтменты</a:t>
            </a:r>
            <a:r>
              <a:rPr lang="ru-RU" sz="200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Expression Statement </a:t>
            </a:r>
            <a:r>
              <a:rPr lang="en-US" sz="4000" dirty="0"/>
              <a:t>– </a:t>
            </a:r>
            <a:r>
              <a:rPr lang="ru-RU" sz="4000" dirty="0"/>
              <a:t>вызов функции/метода</a:t>
            </a:r>
            <a:endParaRPr sz="4000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9AD784-60DE-46C3-BB3D-3395B897E0B6}"/>
              </a:ext>
            </a:extLst>
          </p:cNvPr>
          <p:cNvSpPr txBox="1">
            <a:spLocks/>
          </p:cNvSpPr>
          <p:nvPr/>
        </p:nvSpPr>
        <p:spPr>
          <a:xfrm>
            <a:off x="1260000" y="1799999"/>
            <a:ext cx="9753600" cy="46928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1400" dirty="0">
                <a:solidFill>
                  <a:srgbClr val="000000"/>
                </a:solidFill>
              </a:rPr>
              <a:t>Следующие </a:t>
            </a:r>
            <a:r>
              <a:rPr lang="ru-RU" sz="1400" b="1" dirty="0">
                <a:solidFill>
                  <a:srgbClr val="000000"/>
                </a:solidFill>
              </a:rPr>
              <a:t>встроенные</a:t>
            </a:r>
            <a:r>
              <a:rPr lang="ru-RU" sz="1400" dirty="0">
                <a:solidFill>
                  <a:srgbClr val="000000"/>
                </a:solidFill>
              </a:rPr>
              <a:t> функции и методы не разрешено использовать как </a:t>
            </a:r>
            <a:r>
              <a:rPr lang="ru-RU" sz="1400" dirty="0" err="1">
                <a:solidFill>
                  <a:srgbClr val="000000"/>
                </a:solidFill>
              </a:rPr>
              <a:t>стейтмент</a:t>
            </a:r>
            <a:r>
              <a:rPr lang="ru-RU" sz="1400" dirty="0">
                <a:solidFill>
                  <a:srgbClr val="000000"/>
                </a:solidFill>
              </a:rPr>
              <a:t>-выражение, только в составе каких-нибудь других </a:t>
            </a:r>
            <a:r>
              <a:rPr lang="ru-RU" sz="1400" dirty="0" err="1">
                <a:solidFill>
                  <a:srgbClr val="000000"/>
                </a:solidFill>
              </a:rPr>
              <a:t>стейтментов</a:t>
            </a:r>
            <a:r>
              <a:rPr lang="ru-RU" sz="1400" dirty="0">
                <a:solidFill>
                  <a:srgbClr val="000000"/>
                </a:solidFill>
              </a:rPr>
              <a:t>: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append cap complex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imag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make max min new real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unsafe.Add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unsafe.Alignof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unsafe.Offsetof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unsafe.Sizeof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unsafe.Slice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unsafe.SliceData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unsafe.String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unsafe.StringData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just">
              <a:spcBef>
                <a:spcPts val="600"/>
              </a:spcBef>
              <a:buFont typeface="Arial" panose="020B0604020202020204" pitchFamily="34" charset="0"/>
              <a:buNone/>
            </a:pPr>
            <a:endParaRPr lang="ru-RU" sz="14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     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 —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Expression statement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"foo"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OK —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функция-исключение. Результат не используется, поэтому код бесполезный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 —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Expression statement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algn="just">
              <a:spcBef>
                <a:spcPts val="600"/>
              </a:spcBef>
              <a:buFont typeface="Arial" panose="020B0604020202020204" pitchFamily="34" charset="0"/>
              <a:buNone/>
            </a:pPr>
            <a:endParaRPr lang="ru-RU" sz="1400" dirty="0">
              <a:solidFill>
                <a:srgbClr val="000000"/>
              </a:solidFill>
            </a:endParaRPr>
          </a:p>
          <a:p>
            <a:pPr marL="0" indent="0" algn="just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1400" dirty="0">
                <a:solidFill>
                  <a:srgbClr val="000000"/>
                </a:solidFill>
              </a:rPr>
              <a:t>Встроенные функции и методы не указанные в списке, а также созданные пользователем, могут быть использованы как </a:t>
            </a:r>
            <a:r>
              <a:rPr lang="ru-RU" sz="1400" dirty="0" err="1">
                <a:solidFill>
                  <a:srgbClr val="000000"/>
                </a:solidFill>
              </a:rPr>
              <a:t>стейтмент</a:t>
            </a:r>
            <a:r>
              <a:rPr lang="ru-RU" sz="1400" dirty="0">
                <a:solidFill>
                  <a:srgbClr val="000000"/>
                </a:solidFill>
              </a:rPr>
              <a:t>-выражение.</a:t>
            </a:r>
          </a:p>
        </p:txBody>
      </p:sp>
    </p:spTree>
    <p:extLst>
      <p:ext uri="{BB962C8B-B14F-4D97-AF65-F5344CB8AC3E}">
        <p14:creationId xmlns:p14="http://schemas.microsoft.com/office/powerpoint/2010/main" val="4232153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Expression Statement </a:t>
            </a:r>
            <a:r>
              <a:rPr lang="en-US" sz="4000" dirty="0"/>
              <a:t>– </a:t>
            </a:r>
            <a:r>
              <a:rPr lang="ru-RU" sz="4000" dirty="0"/>
              <a:t>получение из канала</a:t>
            </a:r>
            <a:endParaRPr sz="4000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9AD784-60DE-46C3-BB3D-3395B897E0B6}"/>
              </a:ext>
            </a:extLst>
          </p:cNvPr>
          <p:cNvSpPr txBox="1">
            <a:spLocks/>
          </p:cNvSpPr>
          <p:nvPr/>
        </p:nvSpPr>
        <p:spPr>
          <a:xfrm>
            <a:off x="1260000" y="1799999"/>
            <a:ext cx="9753600" cy="46928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Short var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decl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statement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&lt;-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Send statement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&lt;-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 — Expression statement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algn="just">
              <a:spcBef>
                <a:spcPts val="60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131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Выражения но НЕ </a:t>
            </a:r>
            <a:r>
              <a:rPr sz="4000" dirty="0"/>
              <a:t>Expression Statement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9AD784-60DE-46C3-BB3D-3395B897E0B6}"/>
              </a:ext>
            </a:extLst>
          </p:cNvPr>
          <p:cNvSpPr txBox="1">
            <a:spLocks/>
          </p:cNvSpPr>
          <p:nvPr/>
        </p:nvSpPr>
        <p:spPr>
          <a:xfrm>
            <a:off x="1260000" y="1799999"/>
            <a:ext cx="9753600" cy="46928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ru-RU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ошибка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ru-RU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ОК. </a:t>
            </a:r>
            <a:r>
              <a:rPr lang="ru-RU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Assignment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statement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      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ошибка (встроенная функция-исключение)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&gt; </a:t>
            </a:r>
            <a:r>
              <a:rPr lang="ru-RU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ОК. </a:t>
            </a:r>
            <a:r>
              <a:rPr lang="ru-RU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statement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ошибка (встроенная функция-исключение)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ошибка (преобразование типа)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      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ошибка (индексация)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ru-RU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u-RU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ошибка (селектор без вызова)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 (встроенная функция, но не исключение)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 (встроенная функция, но не исключение)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panic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boom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 (встроенная функция, но не исключение)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 (встроенная функция, но не исключение)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 (встроенная функция, но не исключение)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 (встроенная функция, но не исключение)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008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Автоматическая вставка точек с запятой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9AD784-60DE-46C3-BB3D-3395B897E0B6}"/>
              </a:ext>
            </a:extLst>
          </p:cNvPr>
          <p:cNvSpPr txBox="1">
            <a:spLocks/>
          </p:cNvSpPr>
          <p:nvPr/>
        </p:nvSpPr>
        <p:spPr>
          <a:xfrm>
            <a:off x="1260000" y="1799999"/>
            <a:ext cx="9753600" cy="46928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В официальной грамматике Go точки с запятой являются терминаторами </a:t>
            </a:r>
            <a:r>
              <a:rPr lang="ru-RU" sz="1600" dirty="0" err="1">
                <a:solidFill>
                  <a:srgbClr val="000000"/>
                </a:solidFill>
              </a:rPr>
              <a:t>стейтментов</a:t>
            </a:r>
            <a:r>
              <a:rPr lang="ru-RU" sz="1600" dirty="0">
                <a:solidFill>
                  <a:srgbClr val="000000"/>
                </a:solidFill>
              </a:rPr>
              <a:t> (</a:t>
            </a:r>
            <a:r>
              <a:rPr lang="ru-RU" sz="1600" dirty="0" err="1">
                <a:solidFill>
                  <a:srgbClr val="000000"/>
                </a:solidFill>
              </a:rPr>
              <a:t>statement</a:t>
            </a:r>
            <a:r>
              <a:rPr lang="ru-RU" sz="1600" dirty="0">
                <a:solidFill>
                  <a:srgbClr val="000000"/>
                </a:solidFill>
              </a:rPr>
              <a:t> </a:t>
            </a:r>
            <a:r>
              <a:rPr lang="ru-RU" sz="1600" dirty="0" err="1">
                <a:solidFill>
                  <a:srgbClr val="000000"/>
                </a:solidFill>
              </a:rPr>
              <a:t>terminators</a:t>
            </a:r>
            <a:r>
              <a:rPr lang="ru-RU" sz="1600" dirty="0">
                <a:solidFill>
                  <a:srgbClr val="000000"/>
                </a:solidFill>
              </a:rPr>
              <a:t>). Но чтобы код был чистым, спецификация разрешает их опускать с помощью двух правил:</a:t>
            </a:r>
            <a:endParaRPr lang="en-US" sz="1600" dirty="0">
              <a:solidFill>
                <a:srgbClr val="000000"/>
              </a:solidFill>
            </a:endParaRPr>
          </a:p>
          <a:p>
            <a:pPr marL="0" indent="0" algn="just">
              <a:spcBef>
                <a:spcPts val="60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Вставка на новой строке: когда </a:t>
            </a:r>
            <a:r>
              <a:rPr lang="ru-RU" sz="1600" dirty="0" err="1">
                <a:solidFill>
                  <a:srgbClr val="000000"/>
                </a:solidFill>
              </a:rPr>
              <a:t>лексер</a:t>
            </a:r>
            <a:r>
              <a:rPr lang="ru-RU" sz="1600" dirty="0">
                <a:solidFill>
                  <a:srgbClr val="000000"/>
                </a:solidFill>
              </a:rPr>
              <a:t> разбивает входной поток на токены, он автоматически вставляет ; в конце непустой строки, если её последний токен — один из следующих: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идентификатор (x, </a:t>
            </a:r>
            <a:r>
              <a:rPr lang="ru-RU" sz="1600" dirty="0" err="1">
                <a:solidFill>
                  <a:srgbClr val="000000"/>
                </a:solidFill>
              </a:rPr>
              <a:t>myVar</a:t>
            </a:r>
            <a:r>
              <a:rPr lang="ru-RU" sz="1600" dirty="0">
                <a:solidFill>
                  <a:srgbClr val="000000"/>
                </a:solidFill>
              </a:rPr>
              <a:t>);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литерал (целое, число с плавающей точкой, мнимое число, руна или строка);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одно из ключевых слов: </a:t>
            </a:r>
            <a:r>
              <a:rPr lang="ru-RU" sz="1600" dirty="0" err="1">
                <a:solidFill>
                  <a:srgbClr val="000000"/>
                </a:solidFill>
              </a:rPr>
              <a:t>break</a:t>
            </a:r>
            <a:r>
              <a:rPr lang="ru-RU" sz="1600" dirty="0">
                <a:solidFill>
                  <a:srgbClr val="000000"/>
                </a:solidFill>
              </a:rPr>
              <a:t>, </a:t>
            </a:r>
            <a:r>
              <a:rPr lang="ru-RU" sz="1600" dirty="0" err="1">
                <a:solidFill>
                  <a:srgbClr val="000000"/>
                </a:solidFill>
              </a:rPr>
              <a:t>continue</a:t>
            </a:r>
            <a:r>
              <a:rPr lang="ru-RU" sz="1600" dirty="0">
                <a:solidFill>
                  <a:srgbClr val="000000"/>
                </a:solidFill>
              </a:rPr>
              <a:t>, </a:t>
            </a:r>
            <a:r>
              <a:rPr lang="ru-RU" sz="1600" dirty="0" err="1">
                <a:solidFill>
                  <a:srgbClr val="000000"/>
                </a:solidFill>
              </a:rPr>
              <a:t>fallthrough</a:t>
            </a:r>
            <a:r>
              <a:rPr lang="ru-RU" sz="1600" dirty="0">
                <a:solidFill>
                  <a:srgbClr val="000000"/>
                </a:solidFill>
              </a:rPr>
              <a:t>, </a:t>
            </a:r>
            <a:r>
              <a:rPr lang="ru-RU" sz="1600" dirty="0" err="1">
                <a:solidFill>
                  <a:srgbClr val="000000"/>
                </a:solidFill>
              </a:rPr>
              <a:t>return</a:t>
            </a:r>
            <a:r>
              <a:rPr lang="ru-RU" sz="1600" dirty="0">
                <a:solidFill>
                  <a:srgbClr val="000000"/>
                </a:solidFill>
              </a:rPr>
              <a:t>;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один из операторов и разделителей: ++, --, ), ], }.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Пропуск перед закрывающей скобкой: чтобы сложные </a:t>
            </a:r>
            <a:r>
              <a:rPr lang="ru-RU" sz="1600" dirty="0" err="1">
                <a:solidFill>
                  <a:srgbClr val="000000"/>
                </a:solidFill>
              </a:rPr>
              <a:t>стейтменты</a:t>
            </a:r>
            <a:r>
              <a:rPr lang="ru-RU" sz="1600" dirty="0">
                <a:solidFill>
                  <a:srgbClr val="000000"/>
                </a:solidFill>
              </a:rPr>
              <a:t> можно было разместить в одной строке, точку с запятой можно опустить непосредственно перед закрывающей ) или }</a:t>
            </a:r>
          </a:p>
          <a:p>
            <a:pPr marL="0" indent="0" algn="just">
              <a:spcBef>
                <a:spcPts val="600"/>
              </a:spcBef>
              <a:buFont typeface="Arial" panose="020B0604020202020204" pitchFamily="34" charset="0"/>
              <a:buNone/>
            </a:pPr>
            <a:endParaRPr lang="ru-RU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353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Автоматическая вставка точек с запятой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9AD784-60DE-46C3-BB3D-3395B897E0B6}"/>
              </a:ext>
            </a:extLst>
          </p:cNvPr>
          <p:cNvSpPr txBox="1">
            <a:spLocks/>
          </p:cNvSpPr>
          <p:nvPr/>
        </p:nvSpPr>
        <p:spPr>
          <a:xfrm>
            <a:off x="1260000" y="1799999"/>
            <a:ext cx="9753600" cy="46928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 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ОК. После ) будет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OK.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Перед 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}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</a:rPr>
              <a:t>п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осле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return 1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вставится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longStr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World! 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ОК. После л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</a:rPr>
              <a:t>итерала будет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+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"How are you?"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longStr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World! 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"How are you?"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%v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ОК. После л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</a:rPr>
              <a:t>итерала будет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endParaRPr lang="ru-RU" sz="13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,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nameMap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%v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nameMap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1306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9B6FE-7D5A-5C85-F94E-E52418678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FD12B7-3326-5EC1-4530-689BD985C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Выражение (</a:t>
            </a:r>
            <a:r>
              <a:rPr lang="en-US" dirty="0">
                <a:solidFill>
                  <a:srgbClr val="333333"/>
                </a:solidFill>
              </a:rPr>
              <a:t>expression)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BDB02E-D7C3-A951-17A5-97FB85F0B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999" y="1799999"/>
            <a:ext cx="10093801" cy="4692875"/>
          </a:xfrm>
        </p:spPr>
        <p:txBody>
          <a:bodyPr>
            <a:noAutofit/>
          </a:bodyPr>
          <a:lstStyle/>
          <a:p>
            <a:pPr marL="0" indent="0" algn="just">
              <a:spcBef>
                <a:spcPts val="600"/>
              </a:spcBef>
              <a:buNone/>
            </a:pPr>
            <a:r>
              <a:rPr lang="ru-RU" sz="2000" b="1" dirty="0">
                <a:solidFill>
                  <a:srgbClr val="333333"/>
                </a:solidFill>
              </a:rPr>
              <a:t>Выражение</a:t>
            </a:r>
            <a:r>
              <a:rPr lang="ru-RU" sz="2000" dirty="0">
                <a:solidFill>
                  <a:srgbClr val="333333"/>
                </a:solidFill>
              </a:rPr>
              <a:t> (</a:t>
            </a:r>
            <a:r>
              <a:rPr lang="en-US" sz="2000" dirty="0">
                <a:solidFill>
                  <a:srgbClr val="333333"/>
                </a:solidFill>
              </a:rPr>
              <a:t>expression)</a:t>
            </a:r>
            <a:r>
              <a:rPr lang="ru-RU" sz="2000" dirty="0">
                <a:solidFill>
                  <a:srgbClr val="333333"/>
                </a:solidFill>
              </a:rPr>
              <a:t> - определяет вычисление значения путем применения операторов и функций к операндам.</a:t>
            </a: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b="1" dirty="0"/>
              <a:t>Любое из этого является выражением:</a:t>
            </a:r>
            <a:endParaRPr lang="ru-RU" sz="2000" dirty="0"/>
          </a:p>
          <a:p>
            <a:pPr lvl="1"/>
            <a:r>
              <a:rPr lang="ru-RU" sz="2000" dirty="0"/>
              <a:t>Отдельная переменная: x (возвращает своё значение)</a:t>
            </a:r>
            <a:r>
              <a:rPr lang="en-US" sz="2000" dirty="0"/>
              <a:t>;</a:t>
            </a:r>
            <a:endParaRPr lang="ru-RU" sz="2000" dirty="0"/>
          </a:p>
          <a:p>
            <a:pPr lvl="1"/>
            <a:r>
              <a:rPr lang="ru-RU" sz="2000" dirty="0"/>
              <a:t>Литерал: 42 (возвращает 42)</a:t>
            </a:r>
            <a:r>
              <a:rPr lang="en-US" sz="2000" dirty="0"/>
              <a:t>;</a:t>
            </a:r>
            <a:endParaRPr lang="ru-RU" sz="2000" dirty="0"/>
          </a:p>
          <a:p>
            <a:pPr lvl="1"/>
            <a:r>
              <a:rPr lang="ru-RU" sz="2000" dirty="0"/>
              <a:t>Вызов функции: </a:t>
            </a:r>
            <a:r>
              <a:rPr lang="ru-RU" sz="2000" dirty="0" err="1"/>
              <a:t>sqrt</a:t>
            </a:r>
            <a:r>
              <a:rPr lang="ru-RU" sz="2000" dirty="0"/>
              <a:t>(25) (возвращает 5.0)</a:t>
            </a:r>
            <a:r>
              <a:rPr lang="en-US" sz="2000" dirty="0"/>
              <a:t>;</a:t>
            </a:r>
            <a:endParaRPr lang="ru-RU" sz="2000" dirty="0"/>
          </a:p>
          <a:p>
            <a:pPr lvl="1"/>
            <a:r>
              <a:rPr lang="ru-RU" sz="2000" dirty="0"/>
              <a:t>Комбинация всего вышеперечисленного с операторами: (a + b) * 2 - </a:t>
            </a:r>
            <a:r>
              <a:rPr lang="ru-RU" sz="2000" dirty="0" err="1"/>
              <a:t>func</a:t>
            </a:r>
            <a:r>
              <a:rPr lang="ru-RU" sz="2000" dirty="0"/>
              <a:t>()</a:t>
            </a:r>
            <a:r>
              <a:rPr lang="en-US" sz="2000" dirty="0"/>
              <a:t>.</a:t>
            </a:r>
            <a:endParaRPr lang="ru-RU" sz="2000" dirty="0"/>
          </a:p>
          <a:p>
            <a:pPr marL="0" lvl="1" indent="0">
              <a:buNone/>
            </a:pPr>
            <a:r>
              <a:rPr lang="ru-RU" sz="2000" dirty="0"/>
              <a:t>Для бинарных операторов типы операндов должны быть </a:t>
            </a:r>
            <a:r>
              <a:rPr lang="ru-RU" sz="2000" b="1" dirty="0"/>
              <a:t>идентичными</a:t>
            </a:r>
            <a:r>
              <a:rPr lang="ru-RU" sz="2000" dirty="0"/>
              <a:t>, за исключением случаев, когда операция включает сдвиги или </a:t>
            </a:r>
            <a:r>
              <a:rPr lang="ru-RU" sz="2000" dirty="0" err="1"/>
              <a:t>нетипизированные</a:t>
            </a:r>
            <a:r>
              <a:rPr lang="ru-RU" sz="2000" dirty="0"/>
              <a:t> константы.</a:t>
            </a:r>
            <a:endParaRPr lang="ru-RU" sz="2000" b="0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399090A-31A9-E9BB-D573-4CEDAC7D7B56}"/>
              </a:ext>
            </a:extLst>
          </p:cNvPr>
          <p:cNvSpPr/>
          <p:nvPr/>
        </p:nvSpPr>
        <p:spPr>
          <a:xfrm>
            <a:off x="1416910" y="2989943"/>
            <a:ext cx="1123090" cy="56605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операнд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7555284-0C85-D130-3359-42D968E6008B}"/>
              </a:ext>
            </a:extLst>
          </p:cNvPr>
          <p:cNvSpPr/>
          <p:nvPr/>
        </p:nvSpPr>
        <p:spPr>
          <a:xfrm>
            <a:off x="2727313" y="2989943"/>
            <a:ext cx="1123090" cy="5660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оператор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4F9BA4B2-8A9B-8C19-5D91-8258285B5645}"/>
              </a:ext>
            </a:extLst>
          </p:cNvPr>
          <p:cNvSpPr/>
          <p:nvPr/>
        </p:nvSpPr>
        <p:spPr>
          <a:xfrm>
            <a:off x="4037716" y="2989943"/>
            <a:ext cx="1123090" cy="56605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операнд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CF9DDDD-CA79-535F-206C-66DB6704BF6E}"/>
              </a:ext>
            </a:extLst>
          </p:cNvPr>
          <p:cNvSpPr/>
          <p:nvPr/>
        </p:nvSpPr>
        <p:spPr>
          <a:xfrm>
            <a:off x="5348119" y="2989943"/>
            <a:ext cx="1123090" cy="5660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оператор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A1B4DBB-88A5-AF26-78C4-2F0874760D3B}"/>
              </a:ext>
            </a:extLst>
          </p:cNvPr>
          <p:cNvSpPr/>
          <p:nvPr/>
        </p:nvSpPr>
        <p:spPr>
          <a:xfrm>
            <a:off x="6658522" y="2989943"/>
            <a:ext cx="1123090" cy="56605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операнд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842BDC8-23B6-BE71-C793-79B62C3BBB79}"/>
              </a:ext>
            </a:extLst>
          </p:cNvPr>
          <p:cNvSpPr/>
          <p:nvPr/>
        </p:nvSpPr>
        <p:spPr>
          <a:xfrm>
            <a:off x="7968925" y="2989943"/>
            <a:ext cx="1123090" cy="56605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07E8C5B-F589-5756-EE9C-3251E087A0FC}"/>
              </a:ext>
            </a:extLst>
          </p:cNvPr>
          <p:cNvSpPr/>
          <p:nvPr/>
        </p:nvSpPr>
        <p:spPr>
          <a:xfrm>
            <a:off x="9279328" y="2989943"/>
            <a:ext cx="1123090" cy="56605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операнд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361F6A-3A9C-64E9-46BA-564A761D7A97}"/>
              </a:ext>
            </a:extLst>
          </p:cNvPr>
          <p:cNvSpPr txBox="1"/>
          <p:nvPr/>
        </p:nvSpPr>
        <p:spPr>
          <a:xfrm>
            <a:off x="8603260" y="3918118"/>
            <a:ext cx="1003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Литерал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6757D0-DFD5-B5D5-2538-718144D37922}"/>
              </a:ext>
            </a:extLst>
          </p:cNvPr>
          <p:cNvSpPr txBox="1"/>
          <p:nvPr/>
        </p:nvSpPr>
        <p:spPr>
          <a:xfrm>
            <a:off x="10165493" y="3791003"/>
            <a:ext cx="1417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Переменная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C9FE18-288C-9ADA-A40F-2D8B90C0B656}"/>
              </a:ext>
            </a:extLst>
          </p:cNvPr>
          <p:cNvSpPr txBox="1"/>
          <p:nvPr/>
        </p:nvSpPr>
        <p:spPr>
          <a:xfrm>
            <a:off x="9448177" y="4210671"/>
            <a:ext cx="1699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Вызов функции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254D4CC0-1234-486F-9735-B6C974894098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9104936" y="3556001"/>
            <a:ext cx="426449" cy="362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B83F46D2-E111-1C41-FFE8-C5AF04E53997}"/>
              </a:ext>
            </a:extLst>
          </p:cNvPr>
          <p:cNvCxnSpPr>
            <a:cxnSpLocks/>
          </p:cNvCxnSpPr>
          <p:nvPr/>
        </p:nvCxnSpPr>
        <p:spPr>
          <a:xfrm>
            <a:off x="9840873" y="3556001"/>
            <a:ext cx="324620" cy="604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2D4E0DF3-3F06-A4A0-B585-70D32095C0D5}"/>
              </a:ext>
            </a:extLst>
          </p:cNvPr>
          <p:cNvCxnSpPr>
            <a:endCxn id="17" idx="0"/>
          </p:cNvCxnSpPr>
          <p:nvPr/>
        </p:nvCxnSpPr>
        <p:spPr>
          <a:xfrm>
            <a:off x="10165493" y="3556001"/>
            <a:ext cx="708816" cy="235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0098BB8-0461-4DFD-A049-4E36E647CEEB}"/>
              </a:ext>
            </a:extLst>
          </p:cNvPr>
          <p:cNvSpPr txBox="1"/>
          <p:nvPr/>
        </p:nvSpPr>
        <p:spPr>
          <a:xfrm>
            <a:off x="7017704" y="4160335"/>
            <a:ext cx="184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"</a:t>
            </a:r>
            <a:r>
              <a:rPr lang="ru-RU" dirty="0"/>
              <a:t>(</a:t>
            </a:r>
            <a:r>
              <a:rPr lang="en-US" dirty="0"/>
              <a:t>"</a:t>
            </a:r>
            <a:r>
              <a:rPr lang="ru-RU" dirty="0"/>
              <a:t>Выражение</a:t>
            </a:r>
            <a:r>
              <a:rPr lang="en-US" dirty="0"/>
              <a:t>"</a:t>
            </a:r>
            <a:r>
              <a:rPr lang="ru-RU" dirty="0"/>
              <a:t>)</a:t>
            </a:r>
            <a:r>
              <a:rPr lang="en-US" dirty="0"/>
              <a:t>"</a:t>
            </a:r>
            <a:endParaRPr lang="ru-RU" dirty="0"/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66F9261E-B638-400D-BCFA-9C0D74EE186D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7939495" y="3499358"/>
            <a:ext cx="1339833" cy="660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631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Литералы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47537" y="1690688"/>
            <a:ext cx="96252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02020"/>
                </a:solidFill>
                <a:latin typeface="Consolas"/>
              </a:rPr>
              <a:t>Literal     = </a:t>
            </a:r>
            <a:r>
              <a:rPr lang="en-US" sz="1600" dirty="0" err="1">
                <a:solidFill>
                  <a:srgbClr val="202020"/>
                </a:solidFill>
                <a:latin typeface="Consolas"/>
              </a:rPr>
              <a:t>BasicLit</a:t>
            </a:r>
            <a:r>
              <a:rPr lang="en-US" sz="1600" dirty="0">
                <a:solidFill>
                  <a:srgbClr val="202020"/>
                </a:solidFill>
                <a:latin typeface="Consolas"/>
              </a:rPr>
              <a:t> | </a:t>
            </a:r>
            <a:r>
              <a:rPr lang="en-US" sz="1600" dirty="0" err="1">
                <a:solidFill>
                  <a:srgbClr val="202020"/>
                </a:solidFill>
                <a:latin typeface="Consolas"/>
              </a:rPr>
              <a:t>CompositeLit</a:t>
            </a:r>
            <a:r>
              <a:rPr lang="en-US" sz="1600" dirty="0">
                <a:solidFill>
                  <a:srgbClr val="202020"/>
                </a:solidFill>
                <a:latin typeface="Consolas"/>
              </a:rPr>
              <a:t> | </a:t>
            </a:r>
            <a:r>
              <a:rPr lang="en-US" sz="1600" dirty="0" err="1">
                <a:solidFill>
                  <a:srgbClr val="202020"/>
                </a:solidFill>
                <a:latin typeface="Consolas"/>
              </a:rPr>
              <a:t>FunctionLit</a:t>
            </a:r>
            <a:r>
              <a:rPr lang="en-US" sz="1600" dirty="0">
                <a:solidFill>
                  <a:srgbClr val="202020"/>
                </a:solidFill>
                <a:latin typeface="Consolas"/>
              </a:rPr>
              <a:t> .</a:t>
            </a:r>
          </a:p>
          <a:p>
            <a:r>
              <a:rPr lang="en-US" sz="1600" dirty="0" err="1">
                <a:solidFill>
                  <a:srgbClr val="202020"/>
                </a:solidFill>
                <a:latin typeface="Consolas"/>
              </a:rPr>
              <a:t>BasicLit</a:t>
            </a:r>
            <a:r>
              <a:rPr lang="en-US" sz="1600" dirty="0">
                <a:solidFill>
                  <a:srgbClr val="202020"/>
                </a:solidFill>
                <a:latin typeface="Consolas"/>
              </a:rPr>
              <a:t>    = </a:t>
            </a:r>
            <a:r>
              <a:rPr lang="en-US" sz="1600" dirty="0" err="1">
                <a:solidFill>
                  <a:srgbClr val="202020"/>
                </a:solidFill>
                <a:latin typeface="Consolas"/>
              </a:rPr>
              <a:t>int_lit</a:t>
            </a:r>
            <a:r>
              <a:rPr lang="en-US" sz="1600" dirty="0">
                <a:solidFill>
                  <a:srgbClr val="202020"/>
                </a:solidFill>
                <a:latin typeface="Consolas"/>
              </a:rPr>
              <a:t> | </a:t>
            </a:r>
            <a:r>
              <a:rPr lang="en-US" sz="1600" dirty="0" err="1">
                <a:solidFill>
                  <a:srgbClr val="202020"/>
                </a:solidFill>
                <a:latin typeface="Consolas"/>
              </a:rPr>
              <a:t>float_lit</a:t>
            </a:r>
            <a:r>
              <a:rPr lang="en-US" sz="1600" dirty="0">
                <a:solidFill>
                  <a:srgbClr val="202020"/>
                </a:solidFill>
                <a:latin typeface="Consolas"/>
              </a:rPr>
              <a:t> | </a:t>
            </a:r>
            <a:r>
              <a:rPr lang="en-US" sz="1600" dirty="0" err="1">
                <a:solidFill>
                  <a:srgbClr val="202020"/>
                </a:solidFill>
                <a:latin typeface="Consolas"/>
              </a:rPr>
              <a:t>imaginary_lit</a:t>
            </a:r>
            <a:r>
              <a:rPr lang="en-US" sz="1600" dirty="0">
                <a:solidFill>
                  <a:srgbClr val="202020"/>
                </a:solidFill>
                <a:latin typeface="Consolas"/>
              </a:rPr>
              <a:t> | </a:t>
            </a:r>
            <a:r>
              <a:rPr lang="en-US" sz="1600" dirty="0" err="1">
                <a:solidFill>
                  <a:srgbClr val="202020"/>
                </a:solidFill>
                <a:latin typeface="Consolas"/>
              </a:rPr>
              <a:t>rune_lit</a:t>
            </a:r>
            <a:r>
              <a:rPr lang="en-US" sz="1600" dirty="0">
                <a:solidFill>
                  <a:srgbClr val="202020"/>
                </a:solidFill>
                <a:latin typeface="Consolas"/>
              </a:rPr>
              <a:t> | </a:t>
            </a:r>
            <a:r>
              <a:rPr lang="en-US" sz="1600" dirty="0" err="1">
                <a:solidFill>
                  <a:srgbClr val="202020"/>
                </a:solidFill>
                <a:latin typeface="Consolas"/>
              </a:rPr>
              <a:t>string_lit</a:t>
            </a:r>
            <a:r>
              <a:rPr lang="en-US" sz="1600" dirty="0">
                <a:solidFill>
                  <a:srgbClr val="202020"/>
                </a:solidFill>
                <a:latin typeface="Consolas"/>
              </a:rPr>
              <a:t> .</a:t>
            </a:r>
            <a:endParaRPr lang="ru-RU" sz="1600" dirty="0">
              <a:solidFill>
                <a:srgbClr val="202020"/>
              </a:solidFill>
              <a:latin typeface="Consolas"/>
            </a:endParaRPr>
          </a:p>
          <a:p>
            <a:endParaRPr lang="ru-RU" sz="1600" dirty="0">
              <a:solidFill>
                <a:srgbClr val="202020"/>
              </a:solidFill>
              <a:latin typeface="Consolas"/>
            </a:endParaRPr>
          </a:p>
          <a:p>
            <a:endParaRPr lang="ru-RU" sz="1600" dirty="0">
              <a:solidFill>
                <a:srgbClr val="202020"/>
              </a:solidFill>
              <a:latin typeface="Consolas"/>
            </a:endParaRPr>
          </a:p>
          <a:p>
            <a:r>
              <a:rPr lang="en-US" sz="1600" b="1" dirty="0" err="1">
                <a:solidFill>
                  <a:srgbClr val="202020"/>
                </a:solidFill>
                <a:latin typeface="Consolas"/>
              </a:rPr>
              <a:t>BasicLit</a:t>
            </a:r>
            <a:r>
              <a:rPr lang="ru-RU" sz="1600" b="1" dirty="0">
                <a:solidFill>
                  <a:srgbClr val="202020"/>
                </a:solidFill>
                <a:latin typeface="Consolas"/>
              </a:rPr>
              <a:t>:</a:t>
            </a:r>
          </a:p>
          <a:p>
            <a:r>
              <a:rPr sz="1600" dirty="0">
                <a:solidFill>
                  <a:srgbClr val="202020"/>
                </a:solidFill>
                <a:latin typeface="Consolas"/>
              </a:rPr>
              <a:t>42              //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целочисленный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литерал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 (int)</a:t>
            </a:r>
            <a:br>
              <a:rPr sz="2000" dirty="0"/>
            </a:br>
            <a:r>
              <a:rPr sz="1600" dirty="0">
                <a:solidFill>
                  <a:srgbClr val="202020"/>
                </a:solidFill>
                <a:latin typeface="Consolas"/>
              </a:rPr>
              <a:t>3.14159         //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литерал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 с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плавающей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точкой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 (float64)</a:t>
            </a:r>
            <a:br>
              <a:rPr sz="2000" dirty="0"/>
            </a:br>
            <a:r>
              <a:rPr sz="1600" dirty="0">
                <a:solidFill>
                  <a:srgbClr val="202020"/>
                </a:solidFill>
                <a:latin typeface="Consolas"/>
              </a:rPr>
              <a:t>1e6             //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экспоненциальная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форма</a:t>
            </a:r>
            <a:endParaRPr lang="en-US" sz="1600" dirty="0">
              <a:solidFill>
                <a:srgbClr val="202020"/>
              </a:solidFill>
              <a:latin typeface="Consolas"/>
            </a:endParaRPr>
          </a:p>
          <a:p>
            <a:r>
              <a:rPr lang="it-IT" sz="1600" dirty="0">
                <a:latin typeface="Consolas" panose="020B0609020204030204" pitchFamily="49" charset="0"/>
              </a:rPr>
              <a:t>2.71828i        // </a:t>
            </a:r>
            <a:r>
              <a:rPr lang="ru-RU" sz="1600" dirty="0">
                <a:latin typeface="Consolas" panose="020B0609020204030204" pitchFamily="49" charset="0"/>
              </a:rPr>
              <a:t>комплексный литерал</a:t>
            </a:r>
            <a:r>
              <a:rPr lang="it-IT" sz="1600" dirty="0">
                <a:latin typeface="Consolas" panose="020B0609020204030204" pitchFamily="49" charset="0"/>
              </a:rPr>
              <a:t> </a:t>
            </a:r>
            <a:r>
              <a:rPr lang="ru-RU" sz="1600" dirty="0">
                <a:latin typeface="Consolas" panose="020B0609020204030204" pitchFamily="49" charset="0"/>
              </a:rPr>
              <a:t>(</a:t>
            </a:r>
            <a:r>
              <a:rPr lang="it-IT" sz="1600" dirty="0">
                <a:latin typeface="Consolas" panose="020B0609020204030204" pitchFamily="49" charset="0"/>
              </a:rPr>
              <a:t>imaginary literal</a:t>
            </a:r>
            <a:r>
              <a:rPr lang="ru-RU" sz="1600" dirty="0">
                <a:latin typeface="Consolas" panose="020B0609020204030204" pitchFamily="49" charset="0"/>
              </a:rPr>
              <a:t>)</a:t>
            </a:r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>
                <a:latin typeface="Consolas" panose="020B0609020204030204" pitchFamily="49" charset="0"/>
              </a:rPr>
              <a:t>1.e+0i</a:t>
            </a:r>
            <a:r>
              <a:rPr lang="ru-RU" sz="1600" dirty="0">
                <a:latin typeface="Consolas" panose="020B0609020204030204" pitchFamily="49" charset="0"/>
              </a:rPr>
              <a:t>          </a:t>
            </a:r>
            <a:r>
              <a:rPr lang="it-IT" sz="1600" dirty="0">
                <a:latin typeface="Consolas" panose="020B0609020204030204" pitchFamily="49" charset="0"/>
              </a:rPr>
              <a:t>// </a:t>
            </a:r>
            <a:r>
              <a:rPr lang="ru-RU" sz="1600" dirty="0">
                <a:latin typeface="Consolas" panose="020B0609020204030204" pitchFamily="49" charset="0"/>
              </a:rPr>
              <a:t>комплексный литерал</a:t>
            </a:r>
            <a:r>
              <a:rPr lang="it-IT" sz="1600" dirty="0">
                <a:latin typeface="Consolas" panose="020B0609020204030204" pitchFamily="49" charset="0"/>
              </a:rPr>
              <a:t> </a:t>
            </a:r>
            <a:r>
              <a:rPr lang="ru-RU" sz="1600" dirty="0">
                <a:latin typeface="Consolas" panose="020B0609020204030204" pitchFamily="49" charset="0"/>
              </a:rPr>
              <a:t>(</a:t>
            </a:r>
            <a:r>
              <a:rPr lang="it-IT" sz="1600" dirty="0">
                <a:latin typeface="Consolas" panose="020B0609020204030204" pitchFamily="49" charset="0"/>
              </a:rPr>
              <a:t>imaginary literal</a:t>
            </a:r>
            <a:r>
              <a:rPr lang="ru-RU" sz="1600" dirty="0">
                <a:latin typeface="Consolas" panose="020B0609020204030204" pitchFamily="49" charset="0"/>
              </a:rPr>
              <a:t>)</a:t>
            </a:r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>
                <a:latin typeface="Consolas" panose="020B0609020204030204" pitchFamily="49" charset="0"/>
              </a:rPr>
              <a:t>6.67428e-11i</a:t>
            </a:r>
            <a:r>
              <a:rPr lang="ru-RU" sz="1600" dirty="0">
                <a:latin typeface="Consolas" panose="020B0609020204030204" pitchFamily="49" charset="0"/>
              </a:rPr>
              <a:t>    </a:t>
            </a:r>
            <a:r>
              <a:rPr lang="it-IT" sz="1600" dirty="0">
                <a:latin typeface="Consolas" panose="020B0609020204030204" pitchFamily="49" charset="0"/>
              </a:rPr>
              <a:t>// </a:t>
            </a:r>
            <a:r>
              <a:rPr lang="ru-RU" sz="1600" dirty="0">
                <a:latin typeface="Consolas" panose="020B0609020204030204" pitchFamily="49" charset="0"/>
              </a:rPr>
              <a:t>комплексный литерал</a:t>
            </a:r>
            <a:r>
              <a:rPr lang="it-IT" sz="1600" dirty="0">
                <a:latin typeface="Consolas" panose="020B0609020204030204" pitchFamily="49" charset="0"/>
              </a:rPr>
              <a:t> </a:t>
            </a:r>
            <a:r>
              <a:rPr lang="ru-RU" sz="1600" dirty="0">
                <a:latin typeface="Consolas" panose="020B0609020204030204" pitchFamily="49" charset="0"/>
              </a:rPr>
              <a:t>(</a:t>
            </a:r>
            <a:r>
              <a:rPr lang="it-IT" sz="1600" dirty="0">
                <a:latin typeface="Consolas" panose="020B0609020204030204" pitchFamily="49" charset="0"/>
              </a:rPr>
              <a:t>imaginary literal</a:t>
            </a:r>
            <a:r>
              <a:rPr lang="ru-RU" sz="1600" dirty="0">
                <a:latin typeface="Consolas" panose="020B0609020204030204" pitchFamily="49" charset="0"/>
              </a:rPr>
              <a:t>)</a:t>
            </a:r>
            <a:br>
              <a:rPr sz="1600" dirty="0"/>
            </a:br>
            <a:r>
              <a:rPr sz="1600" dirty="0">
                <a:solidFill>
                  <a:srgbClr val="202020"/>
                </a:solidFill>
                <a:latin typeface="Consolas"/>
              </a:rPr>
              <a:t>'A'             //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руна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 (rune = int32)</a:t>
            </a:r>
            <a:br>
              <a:rPr sz="2000" dirty="0"/>
            </a:br>
            <a:r>
              <a:rPr sz="1600" dirty="0">
                <a:solidFill>
                  <a:srgbClr val="202020"/>
                </a:solidFill>
                <a:latin typeface="Consolas"/>
              </a:rPr>
              <a:t>"Hello"         //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строковый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литерал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 (string)</a:t>
            </a:r>
            <a:br>
              <a:rPr sz="2000" dirty="0"/>
            </a:br>
            <a:r>
              <a:rPr sz="1600" dirty="0">
                <a:solidFill>
                  <a:srgbClr val="202020"/>
                </a:solidFill>
                <a:latin typeface="Consolas"/>
              </a:rPr>
              <a:t>true            //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булев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литерал</a:t>
            </a:r>
            <a:br>
              <a:rPr sz="2000" dirty="0"/>
            </a:br>
            <a:r>
              <a:rPr sz="1600" dirty="0">
                <a:solidFill>
                  <a:srgbClr val="202020"/>
                </a:solidFill>
                <a:latin typeface="Consolas"/>
              </a:rPr>
              <a:t>nil             //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нулевое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значение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для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указателей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/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срезов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/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мап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/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каналов</a:t>
            </a:r>
            <a:br>
              <a:rPr sz="2000" dirty="0"/>
            </a:br>
            <a:r>
              <a:rPr sz="1600" dirty="0">
                <a:solidFill>
                  <a:srgbClr val="202020"/>
                </a:solidFill>
                <a:latin typeface="Consolas"/>
              </a:rPr>
              <a:t>0b1010          //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двоичный</a:t>
            </a:r>
            <a:br>
              <a:rPr sz="2000" dirty="0"/>
            </a:br>
            <a:r>
              <a:rPr sz="1600" dirty="0">
                <a:solidFill>
                  <a:srgbClr val="202020"/>
                </a:solidFill>
                <a:latin typeface="Consolas"/>
              </a:rPr>
              <a:t>0o777           //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восьмеричный</a:t>
            </a:r>
            <a:br>
              <a:rPr sz="2000" dirty="0"/>
            </a:br>
            <a:r>
              <a:rPr sz="1600" dirty="0">
                <a:solidFill>
                  <a:srgbClr val="202020"/>
                </a:solidFill>
                <a:latin typeface="Consolas"/>
              </a:rPr>
              <a:t>0xDEADBEEF      //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шестнадцатеричный</a:t>
            </a:r>
            <a:endParaRPr sz="1600" dirty="0">
              <a:solidFill>
                <a:srgbClr val="20202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Операторы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sz="1800" dirty="0"/>
              <a:t>Операторы объединяют операнды в выражения.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binary_op</a:t>
            </a:r>
            <a:r>
              <a:rPr lang="en-US" sz="1800" dirty="0">
                <a:latin typeface="Consolas" panose="020B0609020204030204" pitchFamily="49" charset="0"/>
              </a:rPr>
              <a:t>  = "||" | "&amp;&amp;" | </a:t>
            </a:r>
            <a:r>
              <a:rPr lang="en-US" sz="1800" dirty="0" err="1">
                <a:latin typeface="Consolas" panose="020B0609020204030204" pitchFamily="49" charset="0"/>
              </a:rPr>
              <a:t>rel_op</a:t>
            </a:r>
            <a:r>
              <a:rPr lang="en-US" sz="1800" dirty="0">
                <a:latin typeface="Consolas" panose="020B0609020204030204" pitchFamily="49" charset="0"/>
              </a:rPr>
              <a:t> | </a:t>
            </a:r>
            <a:r>
              <a:rPr lang="en-US" sz="1800" dirty="0" err="1">
                <a:latin typeface="Consolas" panose="020B0609020204030204" pitchFamily="49" charset="0"/>
              </a:rPr>
              <a:t>add_op</a:t>
            </a:r>
            <a:r>
              <a:rPr lang="en-US" sz="1800" dirty="0">
                <a:latin typeface="Consolas" panose="020B0609020204030204" pitchFamily="49" charset="0"/>
              </a:rPr>
              <a:t> | </a:t>
            </a:r>
            <a:r>
              <a:rPr lang="en-US" sz="1800" dirty="0" err="1">
                <a:latin typeface="Consolas" panose="020B0609020204030204" pitchFamily="49" charset="0"/>
              </a:rPr>
              <a:t>mul_op</a:t>
            </a:r>
            <a:r>
              <a:rPr lang="en-US" sz="1800" dirty="0">
                <a:latin typeface="Consolas" panose="020B0609020204030204" pitchFamily="49" charset="0"/>
              </a:rPr>
              <a:t> .</a:t>
            </a:r>
          </a:p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rel_op</a:t>
            </a:r>
            <a:r>
              <a:rPr lang="en-US" sz="1800" dirty="0">
                <a:latin typeface="Consolas" panose="020B0609020204030204" pitchFamily="49" charset="0"/>
              </a:rPr>
              <a:t>     = "==" | "!=" | "&lt;" | "&lt;=" | "&gt;" | "&gt;=" .</a:t>
            </a:r>
          </a:p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add_op</a:t>
            </a:r>
            <a:r>
              <a:rPr lang="en-US" sz="1800" dirty="0">
                <a:latin typeface="Consolas" panose="020B0609020204030204" pitchFamily="49" charset="0"/>
              </a:rPr>
              <a:t>     = "+" | "-" | "|" | "^" .</a:t>
            </a:r>
          </a:p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mul_op</a:t>
            </a:r>
            <a:r>
              <a:rPr lang="en-US" sz="1800" dirty="0">
                <a:latin typeface="Consolas" panose="020B0609020204030204" pitchFamily="49" charset="0"/>
              </a:rPr>
              <a:t>     = "*" | "/" | "%" | "&lt;&lt;" | "&gt;&gt;" | "&amp;" | "&amp;^" .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unary_op</a:t>
            </a:r>
            <a:r>
              <a:rPr lang="en-US" sz="1800" dirty="0">
                <a:latin typeface="Consolas" panose="020B0609020204030204" pitchFamily="49" charset="0"/>
              </a:rPr>
              <a:t>   = "+" | "-" | "!" | "^" | "*" | "&amp;" | "&lt;-" .</a:t>
            </a:r>
            <a:endParaRPr lang="ru-RU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dirty="0">
                <a:latin typeface="Consolas" panose="020B0609020204030204" pitchFamily="49" charset="0"/>
              </a:rPr>
              <a:t>Тернарного оператора в </a:t>
            </a:r>
            <a:r>
              <a:rPr lang="en-US" sz="1800" dirty="0">
                <a:latin typeface="Consolas" panose="020B0609020204030204" pitchFamily="49" charset="0"/>
              </a:rPr>
              <a:t>Go </a:t>
            </a:r>
            <a:r>
              <a:rPr lang="ru-RU" sz="1800" dirty="0">
                <a:latin typeface="Consolas" panose="020B0609020204030204" pitchFamily="49" charset="0"/>
              </a:rPr>
              <a:t>нет.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Приоритет и ассоциативность</a:t>
            </a:r>
            <a:r>
              <a:rPr sz="4000" dirty="0"/>
              <a:t> </a:t>
            </a:r>
            <a:r>
              <a:rPr lang="ru-RU" sz="4000" dirty="0"/>
              <a:t>операторов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lang="ru-RU" sz="1800" dirty="0"/>
              <a:t>Унарные операторы имеют наивысший приоритет. Поскольку ++ и --, не операторы, а </a:t>
            </a:r>
            <a:r>
              <a:rPr lang="ru-RU" sz="1800" dirty="0" err="1"/>
              <a:t>стейтменты</a:t>
            </a:r>
            <a:r>
              <a:rPr lang="ru-RU" sz="1800" dirty="0"/>
              <a:t> применяемые к выражению, они не входят в иерархию операторов. Следовательно, выражение *p++ эквивалентно (*p)++. Присваивание, тоже не является оператором, а </a:t>
            </a:r>
            <a:r>
              <a:rPr lang="ru-RU" sz="1800" dirty="0" err="1"/>
              <a:t>стейтментом</a:t>
            </a:r>
            <a:r>
              <a:rPr lang="ru-RU" sz="1800" dirty="0"/>
              <a:t>.</a:t>
            </a:r>
          </a:p>
          <a:p>
            <a:pPr marL="0" indent="0">
              <a:buNone/>
            </a:pPr>
            <a:r>
              <a:rPr lang="ru-RU" sz="1800" dirty="0"/>
              <a:t>Существует пять уровней приоритета бинарных операторов: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dirty="0"/>
              <a:t>Ассоциативность</a:t>
            </a:r>
            <a:r>
              <a:rPr lang="en-US" sz="1800" dirty="0"/>
              <a:t>: </a:t>
            </a:r>
            <a:r>
              <a:rPr lang="ru-RU" sz="1800" dirty="0"/>
              <a:t>бинарные операторы с одинаковым приоритетом выполняются слева направо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FC9D1094-E6DE-4C49-BFF2-84176712E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88058"/>
              </p:ext>
            </p:extLst>
          </p:nvPr>
        </p:nvGraphicFramePr>
        <p:xfrm>
          <a:off x="3345497" y="3241698"/>
          <a:ext cx="550100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005">
                  <a:extLst>
                    <a:ext uri="{9D8B030D-6E8A-4147-A177-3AD203B41FA5}">
                      <a16:colId xmlns:a16="http://schemas.microsoft.com/office/drawing/2014/main" val="21483843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77221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Consolas" panose="020B0609020204030204" pitchFamily="49" charset="0"/>
                        </a:rPr>
                        <a:t>Приоритет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Consolas" panose="020B0609020204030204" pitchFamily="49" charset="0"/>
                        </a:rPr>
                        <a:t>Оператор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308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Consolas" panose="020B0609020204030204" pitchFamily="49" charset="0"/>
                        </a:rPr>
                        <a:t>* / % &lt;&lt; &gt;&gt; &amp; &amp;^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258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Consolas" panose="020B0609020204030204" pitchFamily="49" charset="0"/>
                        </a:rPr>
                        <a:t>+ - | ^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883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Consolas" panose="020B0609020204030204" pitchFamily="49" charset="0"/>
                        </a:rPr>
                        <a:t>== != &lt; &lt;= &gt; &gt;=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922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Consolas" panose="020B0609020204030204" pitchFamily="49" charset="0"/>
                        </a:rPr>
                        <a:t>&amp;&amp;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15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Consolas" panose="020B0609020204030204" pitchFamily="49" charset="0"/>
                        </a:rPr>
                        <a:t>||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7798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2CB4F-FA15-C8FB-E36F-E6419A846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926C66-3F3C-2152-D013-343F6091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Expression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60E83D-5D30-4AC8-F729-757341E47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2358" y="1690688"/>
            <a:ext cx="8931442" cy="448627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           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x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   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(42 + a) - b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            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23 + (3 * x[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               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x &lt;= f()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       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(^a) &gt;&gt; b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||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             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f() || g()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&lt;-</a:t>
            </a:r>
            <a:r>
              <a:rPr lang="en-US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chanInt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(x == (y+1)) &amp;&amp; ((&lt;-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chanInt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 &gt; 0)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274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Условный оператор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D51CA0D-BE85-20D4-21F6-87F25116A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37" y="1452563"/>
            <a:ext cx="976312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9010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333333"/>
                </a:solidFill>
              </a:rPr>
              <a:t>Тип </a:t>
            </a:r>
            <a:r>
              <a:rPr lang="en-US" sz="4000" dirty="0">
                <a:solidFill>
                  <a:srgbClr val="333333"/>
                </a:solidFill>
              </a:rPr>
              <a:t>bool </a:t>
            </a:r>
            <a:endParaRPr lang="ru-RU" sz="4000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F616BC6-3430-F68C-BBA9-DF0B86A6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825625"/>
            <a:ext cx="9753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Истина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Ложь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chemeClr val="bg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800" b="0" dirty="0">
                <a:solidFill>
                  <a:schemeClr val="bg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Маленькими буквами</a:t>
            </a:r>
          </a:p>
        </p:txBody>
      </p:sp>
    </p:spTree>
    <p:extLst>
      <p:ext uri="{BB962C8B-B14F-4D97-AF65-F5344CB8AC3E}">
        <p14:creationId xmlns:p14="http://schemas.microsoft.com/office/powerpoint/2010/main" val="3709708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333333"/>
                </a:solidFill>
              </a:rPr>
              <a:t>Преобразование типа </a:t>
            </a:r>
            <a:r>
              <a:rPr lang="en-US" sz="4000" dirty="0">
                <a:solidFill>
                  <a:srgbClr val="333333"/>
                </a:solidFill>
              </a:rPr>
              <a:t>bool </a:t>
            </a:r>
            <a:endParaRPr lang="ru-RU" sz="4000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F616BC6-3430-F68C-BBA9-DF0B86A6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825625"/>
            <a:ext cx="9753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0" i="0" dirty="0">
              <a:effectLst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0" i="0" dirty="0">
              <a:effectLst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0" i="0" dirty="0">
                <a:effectLst/>
              </a:rPr>
              <a:t>В Go нет возможности преобразовать </a:t>
            </a:r>
            <a:r>
              <a:rPr lang="ru-RU" sz="2400" b="0" i="0" dirty="0" err="1">
                <a:effectLst/>
              </a:rPr>
              <a:t>bool</a:t>
            </a:r>
            <a:r>
              <a:rPr lang="ru-RU" sz="2400" b="0" i="0" dirty="0">
                <a:effectLst/>
              </a:rPr>
              <a:t> в другой тип или другой тип в </a:t>
            </a:r>
            <a:r>
              <a:rPr lang="ru-RU" sz="2400" b="0" i="0" dirty="0" err="1">
                <a:effectLst/>
              </a:rPr>
              <a:t>bool</a:t>
            </a:r>
            <a:r>
              <a:rPr lang="ru-RU" sz="2400" b="0" i="0" dirty="0">
                <a:effectLst/>
              </a:rPr>
              <a:t> стандартным способом. Автоматического преобразования тоже нет.</a:t>
            </a: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0" dirty="0">
              <a:effectLst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3016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333333"/>
                </a:solidFill>
              </a:rPr>
              <a:t>Преобразование типа </a:t>
            </a:r>
            <a:r>
              <a:rPr lang="en-US" sz="4000" dirty="0">
                <a:solidFill>
                  <a:srgbClr val="333333"/>
                </a:solidFill>
              </a:rPr>
              <a:t>bool </a:t>
            </a:r>
            <a:r>
              <a:rPr lang="ru-RU" sz="4000" dirty="0">
                <a:solidFill>
                  <a:srgbClr val="333333"/>
                </a:solidFill>
              </a:rPr>
              <a:t>руками</a:t>
            </a:r>
            <a:r>
              <a:rPr lang="en-US" sz="4000" dirty="0">
                <a:solidFill>
                  <a:srgbClr val="333333"/>
                </a:solidFill>
              </a:rPr>
              <a:t> </a:t>
            </a:r>
            <a:endParaRPr lang="ru-RU" sz="4000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F616BC6-3430-F68C-BBA9-DF0B86A6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825625"/>
            <a:ext cx="975360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package main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var a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var b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a !=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(b)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true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var c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r>
              <a:rPr lang="en-US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3607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333333"/>
                </a:solidFill>
              </a:rPr>
              <a:t>Откуда берётся </a:t>
            </a:r>
            <a:r>
              <a:rPr lang="en-US" sz="4000" dirty="0">
                <a:solidFill>
                  <a:srgbClr val="333333"/>
                </a:solidFill>
              </a:rPr>
              <a:t>true </a:t>
            </a:r>
            <a:r>
              <a:rPr lang="ru-RU" sz="4000" dirty="0">
                <a:solidFill>
                  <a:srgbClr val="333333"/>
                </a:solidFill>
              </a:rPr>
              <a:t>и </a:t>
            </a:r>
            <a:r>
              <a:rPr lang="en-US" sz="4000" dirty="0">
                <a:solidFill>
                  <a:srgbClr val="333333"/>
                </a:solidFill>
              </a:rPr>
              <a:t>false</a:t>
            </a:r>
            <a:endParaRPr lang="ru-RU" sz="4000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F616BC6-3430-F68C-BBA9-DF0B86A6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825625"/>
            <a:ext cx="9753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Операторы сравнения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13" name="Таблица 14">
            <a:extLst>
              <a:ext uri="{FF2B5EF4-FFF2-40B4-BE49-F238E27FC236}">
                <a16:creationId xmlns:a16="http://schemas.microsoft.com/office/drawing/2014/main" id="{05F6C3D3-FA8A-26BE-67D7-4E3821574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3885"/>
              </p:ext>
            </p:extLst>
          </p:nvPr>
        </p:nvGraphicFramePr>
        <p:xfrm>
          <a:off x="1600200" y="2703354"/>
          <a:ext cx="7919149" cy="25958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91451">
                  <a:extLst>
                    <a:ext uri="{9D8B030D-6E8A-4147-A177-3AD203B41FA5}">
                      <a16:colId xmlns:a16="http://schemas.microsoft.com/office/drawing/2014/main" val="1481471315"/>
                    </a:ext>
                  </a:extLst>
                </a:gridCol>
                <a:gridCol w="2106930">
                  <a:extLst>
                    <a:ext uri="{9D8B030D-6E8A-4147-A177-3AD203B41FA5}">
                      <a16:colId xmlns:a16="http://schemas.microsoft.com/office/drawing/2014/main" val="3286879739"/>
                    </a:ext>
                  </a:extLst>
                </a:gridCol>
                <a:gridCol w="2588768">
                  <a:extLst>
                    <a:ext uri="{9D8B030D-6E8A-4147-A177-3AD203B41FA5}">
                      <a16:colId xmlns:a16="http://schemas.microsoft.com/office/drawing/2014/main" val="391248437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63839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Оператор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Проверяет 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Пример использования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3815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Равенство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r>
                        <a:rPr lang="ru-RU" dirty="0">
                          <a:effectLst/>
                        </a:rPr>
                        <a:t> == </a:t>
                      </a:r>
                      <a:r>
                        <a:rPr lang="en-US" dirty="0">
                          <a:effectLst/>
                        </a:rPr>
                        <a:t>7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false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567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Неравенство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r>
                        <a:rPr lang="ru-RU" dirty="0">
                          <a:effectLst/>
                        </a:rPr>
                        <a:t> != </a:t>
                      </a:r>
                      <a:r>
                        <a:rPr lang="en-US" dirty="0">
                          <a:effectLst/>
                        </a:rPr>
                        <a:t>7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true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8669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Меньше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3 &lt;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true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398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Больше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r>
                        <a:rPr lang="ru-RU" dirty="0">
                          <a:effectLst/>
                        </a:rPr>
                        <a:t> &gt; </a:t>
                      </a:r>
                      <a:r>
                        <a:rPr lang="en-US" dirty="0">
                          <a:effectLst/>
                        </a:rPr>
                        <a:t>7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false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3834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Меньше или равно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7</a:t>
                      </a:r>
                      <a:r>
                        <a:rPr lang="ru-RU" dirty="0">
                          <a:effectLst/>
                        </a:rPr>
                        <a:t> &lt;= </a:t>
                      </a:r>
                      <a:r>
                        <a:rPr lang="en-US" dirty="0">
                          <a:effectLst/>
                        </a:rPr>
                        <a:t>7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true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66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Больше или равно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7</a:t>
                      </a:r>
                      <a:r>
                        <a:rPr lang="ru-RU" dirty="0">
                          <a:effectLst/>
                        </a:rPr>
                        <a:t> &gt;= </a:t>
                      </a:r>
                      <a:r>
                        <a:rPr lang="en-US" dirty="0">
                          <a:effectLst/>
                        </a:rPr>
                        <a:t>7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true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227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1431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Логические операторы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sz="2000" b="0" dirty="0">
              <a:effectLst/>
            </a:endParaRP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b="0" dirty="0">
              <a:effectLst/>
            </a:endParaRP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b="0" dirty="0">
              <a:effectLst/>
            </a:endParaRPr>
          </a:p>
          <a:p>
            <a:pPr marL="0" indent="0">
              <a:buNone/>
            </a:pPr>
            <a:r>
              <a:rPr lang="ru-RU" sz="1800" dirty="0"/>
              <a:t>Логические операторы применяются только к операндам типа </a:t>
            </a:r>
            <a:r>
              <a:rPr lang="en-US" sz="1800" dirty="0">
                <a:latin typeface="Consolas" panose="020B0609020204030204" pitchFamily="49" charset="0"/>
              </a:rPr>
              <a:t>bool.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800" b="0" dirty="0">
                <a:effectLst/>
              </a:rPr>
              <a:t>Операторы </a:t>
            </a:r>
            <a:r>
              <a:rPr lang="ru-RU" sz="1800" dirty="0"/>
              <a:t>И </a:t>
            </a:r>
            <a:r>
              <a:rPr lang="ru-RU" sz="1800" dirty="0" err="1"/>
              <a:t>и</a:t>
            </a:r>
            <a:r>
              <a:rPr lang="ru-RU" sz="1800" dirty="0"/>
              <a:t> ИЛИ вычисляются по сокращённым правилам, т.к. если результат можно получить вычислив первый аргумент, второй не вычисляется: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ru-RU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plus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"+"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b="0" dirty="0">
              <a:effectLst/>
            </a:endParaRPr>
          </a:p>
        </p:txBody>
      </p:sp>
      <p:graphicFrame>
        <p:nvGraphicFramePr>
          <p:cNvPr id="4" name="Таблица 5">
            <a:extLst>
              <a:ext uri="{FF2B5EF4-FFF2-40B4-BE49-F238E27FC236}">
                <a16:creationId xmlns:a16="http://schemas.microsoft.com/office/drawing/2014/main" id="{51B323FB-86CA-2F23-AD9D-CE7876924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422716"/>
              </p:ext>
            </p:extLst>
          </p:nvPr>
        </p:nvGraphicFramePr>
        <p:xfrm>
          <a:off x="1188974" y="1886427"/>
          <a:ext cx="4668901" cy="1483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63955">
                  <a:extLst>
                    <a:ext uri="{9D8B030D-6E8A-4147-A177-3AD203B41FA5}">
                      <a16:colId xmlns:a16="http://schemas.microsoft.com/office/drawing/2014/main" val="1214395674"/>
                    </a:ext>
                  </a:extLst>
                </a:gridCol>
                <a:gridCol w="1522349">
                  <a:extLst>
                    <a:ext uri="{9D8B030D-6E8A-4147-A177-3AD203B41FA5}">
                      <a16:colId xmlns:a16="http://schemas.microsoft.com/office/drawing/2014/main" val="1607375117"/>
                    </a:ext>
                  </a:extLst>
                </a:gridCol>
                <a:gridCol w="1982597">
                  <a:extLst>
                    <a:ext uri="{9D8B030D-6E8A-4147-A177-3AD203B41FA5}">
                      <a16:colId xmlns:a16="http://schemas.microsoft.com/office/drawing/2014/main" val="4288831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Как выглядит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Как использовать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549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&amp;&amp;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&amp;&amp; b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633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||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|| b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094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!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!a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284318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C612D97-C4FA-DD33-EBFD-8A3A73068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089866"/>
              </p:ext>
            </p:extLst>
          </p:nvPr>
        </p:nvGraphicFramePr>
        <p:xfrm>
          <a:off x="6856094" y="1701007"/>
          <a:ext cx="3737612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65798">
                  <a:extLst>
                    <a:ext uri="{9D8B030D-6E8A-4147-A177-3AD203B41FA5}">
                      <a16:colId xmlns:a16="http://schemas.microsoft.com/office/drawing/2014/main" val="1214395674"/>
                    </a:ext>
                  </a:extLst>
                </a:gridCol>
                <a:gridCol w="665798">
                  <a:extLst>
                    <a:ext uri="{9D8B030D-6E8A-4147-A177-3AD203B41FA5}">
                      <a16:colId xmlns:a16="http://schemas.microsoft.com/office/drawing/2014/main" val="1607375117"/>
                    </a:ext>
                  </a:extLst>
                </a:gridCol>
                <a:gridCol w="921068">
                  <a:extLst>
                    <a:ext uri="{9D8B030D-6E8A-4147-A177-3AD203B41FA5}">
                      <a16:colId xmlns:a16="http://schemas.microsoft.com/office/drawing/2014/main" val="3408613901"/>
                    </a:ext>
                  </a:extLst>
                </a:gridCol>
                <a:gridCol w="770255">
                  <a:extLst>
                    <a:ext uri="{9D8B030D-6E8A-4147-A177-3AD203B41FA5}">
                      <a16:colId xmlns:a16="http://schemas.microsoft.com/office/drawing/2014/main" val="4288831101"/>
                    </a:ext>
                  </a:extLst>
                </a:gridCol>
                <a:gridCol w="714693">
                  <a:extLst>
                    <a:ext uri="{9D8B030D-6E8A-4147-A177-3AD203B41FA5}">
                      <a16:colId xmlns:a16="http://schemas.microsoft.com/office/drawing/2014/main" val="20067177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 &amp;&amp; b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 || b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! a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633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094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284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36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73712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628F1C8-3CA7-D2AC-F207-3A1A6C65D8DF}"/>
              </a:ext>
            </a:extLst>
          </p:cNvPr>
          <p:cNvSpPr txBox="1"/>
          <p:nvPr/>
        </p:nvSpPr>
        <p:spPr>
          <a:xfrm>
            <a:off x="4676775" y="547756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+true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false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1422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200" dirty="0">
                <a:solidFill>
                  <a:srgbClr val="333333"/>
                </a:solidFill>
              </a:rPr>
              <a:t>Логические операторы. Возможные ошибки</a:t>
            </a:r>
            <a:endParaRPr lang="ru-RU" sz="4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a &lt;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ошибка</a:t>
            </a:r>
            <a:endParaRPr lang="en-US" sz="20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/>
              <a:t>Последнее выражение вычисляется последовательно:</a:t>
            </a: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a &lt;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dirty="0"/>
              <a:t> </a:t>
            </a:r>
            <a:endParaRPr lang="ru-RU" sz="2000" dirty="0"/>
          </a:p>
          <a:p>
            <a:pPr marL="0" indent="0">
              <a:buNone/>
            </a:pPr>
            <a:r>
              <a:rPr lang="ru-RU" sz="2000" dirty="0"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a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2000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effectLst/>
                <a:latin typeface="Consolas" panose="020B0609020204030204" pitchFamily="49" charset="0"/>
              </a:rPr>
              <a:t>    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true &lt;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 2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ошибка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. Число не типа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bool</a:t>
            </a:r>
            <a:endParaRPr lang="ru-RU" sz="2000" b="0" dirty="0">
              <a:solidFill>
                <a:srgbClr val="098658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Если хотите получить результат по математическим правилам</a:t>
            </a:r>
            <a:r>
              <a:rPr lang="en-US" sz="2000" dirty="0"/>
              <a:t> </a:t>
            </a:r>
            <a:r>
              <a:rPr lang="ru-RU" sz="2000" dirty="0"/>
              <a:t>пишите: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a) &amp;&amp; (a &lt;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false</a:t>
            </a:r>
          </a:p>
          <a:p>
            <a:pPr marL="0" indent="0">
              <a:buNone/>
            </a:pPr>
            <a:endParaRPr lang="en-US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9447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i</a:t>
            </a:r>
            <a:r>
              <a:rPr lang="en-US" b="0" i="0" dirty="0">
                <a:solidFill>
                  <a:srgbClr val="333333"/>
                </a:solidFill>
                <a:effectLst/>
              </a:rPr>
              <a:t>f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9648" y="1825625"/>
            <a:ext cx="807415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a &gt; b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963FED-A5D8-4AEA-E233-C07A9271E1CC}"/>
              </a:ext>
            </a:extLst>
          </p:cNvPr>
          <p:cNvSpPr txBox="1"/>
          <p:nvPr/>
        </p:nvSpPr>
        <p:spPr>
          <a:xfrm>
            <a:off x="741774" y="2228820"/>
            <a:ext cx="2537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 </a:t>
            </a:r>
            <a:r>
              <a:rPr lang="ru-RU" sz="2000" b="1" dirty="0"/>
              <a:t>если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F6D809-42D1-CBDF-2F83-0A55C6959359}"/>
              </a:ext>
            </a:extLst>
          </p:cNvPr>
          <p:cNvSpPr txBox="1"/>
          <p:nvPr/>
        </p:nvSpPr>
        <p:spPr>
          <a:xfrm>
            <a:off x="3879338" y="2220669"/>
            <a:ext cx="1458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3340F-EF61-097B-D986-E8F2ED5A94BB}"/>
              </a:ext>
            </a:extLst>
          </p:cNvPr>
          <p:cNvSpPr txBox="1"/>
          <p:nvPr/>
        </p:nvSpPr>
        <p:spPr>
          <a:xfrm>
            <a:off x="6340373" y="2228820"/>
            <a:ext cx="26080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</a:t>
            </a:r>
            <a:r>
              <a:rPr lang="en-US" sz="2000" dirty="0"/>
              <a:t> (</a:t>
            </a:r>
            <a:r>
              <a:rPr lang="ru-RU" sz="2000" dirty="0"/>
              <a:t>Стэйтмент Блок</a:t>
            </a:r>
            <a:r>
              <a:rPr lang="en-US" sz="2000" dirty="0"/>
              <a:t>)</a:t>
            </a:r>
            <a:endParaRPr lang="ru-RU" sz="2000" dirty="0"/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22DD6BF1-6606-EB61-84F2-FDA1F3AE8C3E}"/>
              </a:ext>
            </a:extLst>
          </p:cNvPr>
          <p:cNvCxnSpPr>
            <a:cxnSpLocks/>
          </p:cNvCxnSpPr>
          <p:nvPr/>
        </p:nvCxnSpPr>
        <p:spPr>
          <a:xfrm>
            <a:off x="2010711" y="2629755"/>
            <a:ext cx="1268937" cy="45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42B61C2E-B9A0-8ABC-1590-653BB407DF98}"/>
              </a:ext>
            </a:extLst>
          </p:cNvPr>
          <p:cNvCxnSpPr/>
          <p:nvPr/>
        </p:nvCxnSpPr>
        <p:spPr>
          <a:xfrm>
            <a:off x="4608576" y="2629755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AFD27CF1-15C1-90B9-8E5E-CEC50B13F2C2}"/>
              </a:ext>
            </a:extLst>
          </p:cNvPr>
          <p:cNvCxnSpPr/>
          <p:nvPr/>
        </p:nvCxnSpPr>
        <p:spPr>
          <a:xfrm flipH="1">
            <a:off x="7644384" y="2629755"/>
            <a:ext cx="2266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D388F9A2-D873-9278-1621-B104C8BB6A2A}"/>
              </a:ext>
            </a:extLst>
          </p:cNvPr>
          <p:cNvCxnSpPr>
            <a:cxnSpLocks/>
          </p:cNvCxnSpPr>
          <p:nvPr/>
        </p:nvCxnSpPr>
        <p:spPr>
          <a:xfrm>
            <a:off x="4084320" y="2806669"/>
            <a:ext cx="11704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E10EE7DC-1128-2A3D-6B68-FFA49372EA6D}"/>
              </a:ext>
            </a:extLst>
          </p:cNvPr>
          <p:cNvCxnSpPr>
            <a:cxnSpLocks/>
          </p:cNvCxnSpPr>
          <p:nvPr/>
        </p:nvCxnSpPr>
        <p:spPr>
          <a:xfrm>
            <a:off x="5447170" y="2800573"/>
            <a:ext cx="39406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8C93D4B3-0F48-5590-56E3-D1849AD7ED2B}"/>
              </a:ext>
            </a:extLst>
          </p:cNvPr>
          <p:cNvCxnSpPr/>
          <p:nvPr/>
        </p:nvCxnSpPr>
        <p:spPr>
          <a:xfrm>
            <a:off x="9387840" y="2800573"/>
            <a:ext cx="0" cy="151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72D188ED-F38B-B1B6-168D-96C1E88E2605}"/>
              </a:ext>
            </a:extLst>
          </p:cNvPr>
          <p:cNvCxnSpPr/>
          <p:nvPr/>
        </p:nvCxnSpPr>
        <p:spPr>
          <a:xfrm flipH="1">
            <a:off x="8266176" y="4310634"/>
            <a:ext cx="11216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9911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ru-RU" dirty="0"/>
              <a:t>выражение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r>
              <a:rPr lang="ru-RU" sz="2000" dirty="0"/>
              <a:t>Ожидается, что выражение после ключевого слова </a:t>
            </a:r>
            <a:r>
              <a:rPr lang="en-US" sz="2000" dirty="0">
                <a:latin typeface="Consolas" panose="020B0609020204030204" pitchFamily="49" charset="0"/>
              </a:rPr>
              <a:t>if</a:t>
            </a:r>
            <a:r>
              <a:rPr lang="en-US" sz="2000" dirty="0"/>
              <a:t> </a:t>
            </a:r>
            <a:r>
              <a:rPr lang="ru-RU" sz="2000" dirty="0"/>
              <a:t>типа </a:t>
            </a:r>
            <a:r>
              <a:rPr lang="en-US" sz="2000" dirty="0">
                <a:latin typeface="Consolas" panose="020B0609020204030204" pitchFamily="49" charset="0"/>
              </a:rPr>
              <a:t>bool</a:t>
            </a:r>
            <a:r>
              <a:rPr lang="ru-RU" sz="2000" dirty="0">
                <a:latin typeface="Consolas" panose="020B0609020204030204" pitchFamily="49" charset="0"/>
              </a:rPr>
              <a:t>.</a:t>
            </a: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en-US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309537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I</a:t>
            </a:r>
            <a:r>
              <a:rPr lang="en-US" b="0" i="0" dirty="0">
                <a:solidFill>
                  <a:srgbClr val="333333"/>
                </a:solidFill>
                <a:effectLst/>
              </a:rPr>
              <a:t>f </a:t>
            </a:r>
            <a:r>
              <a:rPr lang="ru-RU" b="0" i="0" dirty="0">
                <a:solidFill>
                  <a:srgbClr val="333333"/>
                </a:solidFill>
                <a:effectLst/>
              </a:rPr>
              <a:t>инициализация</a:t>
            </a:r>
            <a:r>
              <a:rPr lang="en-US" b="0" i="0" dirty="0">
                <a:solidFill>
                  <a:srgbClr val="333333"/>
                </a:solidFill>
                <a:effectLst/>
              </a:rPr>
              <a:t>; </a:t>
            </a:r>
            <a:r>
              <a:rPr lang="ru-RU" dirty="0">
                <a:solidFill>
                  <a:srgbClr val="333333"/>
                </a:solidFill>
              </a:rPr>
              <a:t>проверка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6050" y="1825625"/>
            <a:ext cx="866775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:=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x &lt; y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&gt; z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9E041-D53F-04E7-9263-E40BEA1A1716}"/>
              </a:ext>
            </a:extLst>
          </p:cNvPr>
          <p:cNvSpPr txBox="1"/>
          <p:nvPr/>
        </p:nvSpPr>
        <p:spPr>
          <a:xfrm>
            <a:off x="3382903" y="1771710"/>
            <a:ext cx="1384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hlinkClick r:id="rId3"/>
              </a:rPr>
              <a:t>SimpleStmt</a:t>
            </a:r>
            <a:endParaRPr lang="ru-RU" sz="2000" dirty="0"/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9BDB5749-B201-0677-0560-85D9B021B94E}"/>
              </a:ext>
            </a:extLst>
          </p:cNvPr>
          <p:cNvCxnSpPr>
            <a:cxnSpLocks/>
          </p:cNvCxnSpPr>
          <p:nvPr/>
        </p:nvCxnSpPr>
        <p:spPr>
          <a:xfrm>
            <a:off x="4075176" y="2157473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093688D4-DCEB-AA1D-50B6-986F79192732}"/>
              </a:ext>
            </a:extLst>
          </p:cNvPr>
          <p:cNvCxnSpPr>
            <a:cxnSpLocks/>
          </p:cNvCxnSpPr>
          <p:nvPr/>
        </p:nvCxnSpPr>
        <p:spPr>
          <a:xfrm>
            <a:off x="3324225" y="2334387"/>
            <a:ext cx="17049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7456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i</a:t>
            </a:r>
            <a:r>
              <a:rPr lang="en-US" b="0" i="0" dirty="0">
                <a:solidFill>
                  <a:srgbClr val="333333"/>
                </a:solidFill>
                <a:effectLst/>
              </a:rPr>
              <a:t>f-else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9648" y="1825625"/>
            <a:ext cx="807415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&gt; b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"Bye"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F6D809-42D1-CBDF-2F83-0A55C6959359}"/>
              </a:ext>
            </a:extLst>
          </p:cNvPr>
          <p:cNvSpPr txBox="1"/>
          <p:nvPr/>
        </p:nvSpPr>
        <p:spPr>
          <a:xfrm>
            <a:off x="3750818" y="1698626"/>
            <a:ext cx="1458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42B61C2E-B9A0-8ABC-1590-653BB407DF98}"/>
              </a:ext>
            </a:extLst>
          </p:cNvPr>
          <p:cNvCxnSpPr/>
          <p:nvPr/>
        </p:nvCxnSpPr>
        <p:spPr>
          <a:xfrm>
            <a:off x="4466336" y="2099561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D388F9A2-D873-9278-1621-B104C8BB6A2A}"/>
              </a:ext>
            </a:extLst>
          </p:cNvPr>
          <p:cNvCxnSpPr>
            <a:cxnSpLocks/>
          </p:cNvCxnSpPr>
          <p:nvPr/>
        </p:nvCxnSpPr>
        <p:spPr>
          <a:xfrm>
            <a:off x="3942080" y="2276475"/>
            <a:ext cx="10972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8C346C0-2706-E1CF-DED9-B3F281B17EAD}"/>
              </a:ext>
            </a:extLst>
          </p:cNvPr>
          <p:cNvSpPr txBox="1"/>
          <p:nvPr/>
        </p:nvSpPr>
        <p:spPr>
          <a:xfrm>
            <a:off x="379210" y="2356102"/>
            <a:ext cx="2537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 </a:t>
            </a:r>
            <a:r>
              <a:rPr lang="ru-RU" sz="2000" b="1" dirty="0"/>
              <a:t>если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357481-3784-5B57-A878-146B45FB3488}"/>
              </a:ext>
            </a:extLst>
          </p:cNvPr>
          <p:cNvSpPr txBox="1"/>
          <p:nvPr/>
        </p:nvSpPr>
        <p:spPr>
          <a:xfrm>
            <a:off x="379210" y="3382220"/>
            <a:ext cx="26869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 </a:t>
            </a:r>
            <a:r>
              <a:rPr lang="ru-RU" sz="2000" b="1" dirty="0"/>
              <a:t>иначе</a:t>
            </a: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B161A08B-9EE4-C005-8F3A-177105D9766F}"/>
              </a:ext>
            </a:extLst>
          </p:cNvPr>
          <p:cNvCxnSpPr>
            <a:stCxn id="36" idx="3"/>
          </p:cNvCxnSpPr>
          <p:nvPr/>
        </p:nvCxnSpPr>
        <p:spPr>
          <a:xfrm>
            <a:off x="2917084" y="2556157"/>
            <a:ext cx="415780" cy="7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77CFAEE2-963E-F599-7E28-C8F786D40B18}"/>
              </a:ext>
            </a:extLst>
          </p:cNvPr>
          <p:cNvCxnSpPr>
            <a:stCxn id="37" idx="3"/>
          </p:cNvCxnSpPr>
          <p:nvPr/>
        </p:nvCxnSpPr>
        <p:spPr>
          <a:xfrm>
            <a:off x="3066164" y="3582275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0558A4D-C1A5-1734-4D20-8E4D72CA9D27}"/>
              </a:ext>
            </a:extLst>
          </p:cNvPr>
          <p:cNvSpPr txBox="1"/>
          <p:nvPr/>
        </p:nvSpPr>
        <p:spPr>
          <a:xfrm>
            <a:off x="10192618" y="2660872"/>
            <a:ext cx="8723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 </a:t>
            </a:r>
            <a:r>
              <a:rPr lang="en-US" sz="2000" b="1" dirty="0"/>
              <a:t>if</a:t>
            </a:r>
            <a:endParaRPr lang="ru-RU" sz="20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687DAC-8074-1BDF-F8C1-B2E6BEDE9B03}"/>
              </a:ext>
            </a:extLst>
          </p:cNvPr>
          <p:cNvSpPr txBox="1"/>
          <p:nvPr/>
        </p:nvSpPr>
        <p:spPr>
          <a:xfrm>
            <a:off x="10192618" y="3744481"/>
            <a:ext cx="11512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 </a:t>
            </a:r>
            <a:r>
              <a:rPr lang="en-US" sz="2000" b="1" dirty="0"/>
              <a:t>else</a:t>
            </a:r>
            <a:endParaRPr lang="ru-RU" sz="2000" b="1" dirty="0"/>
          </a:p>
        </p:txBody>
      </p: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217525B5-83B0-CA38-4B29-0648FECB01DE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8324850" y="2860927"/>
            <a:ext cx="18677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A3E7A687-C8A0-3454-F105-8AA68D596D53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7991475" y="3944536"/>
            <a:ext cx="2201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12F7F914-885C-A760-077E-BF9788F4CC8D}"/>
              </a:ext>
            </a:extLst>
          </p:cNvPr>
          <p:cNvCxnSpPr/>
          <p:nvPr/>
        </p:nvCxnSpPr>
        <p:spPr>
          <a:xfrm>
            <a:off x="8324850" y="2146552"/>
            <a:ext cx="0" cy="12261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E4F68243-1405-3015-9149-D7068DEE6717}"/>
              </a:ext>
            </a:extLst>
          </p:cNvPr>
          <p:cNvCxnSpPr/>
          <p:nvPr/>
        </p:nvCxnSpPr>
        <p:spPr>
          <a:xfrm>
            <a:off x="7991475" y="3372725"/>
            <a:ext cx="0" cy="12278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7816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8595E085-F734-E3DC-57A8-DFDE5A9BF248}"/>
              </a:ext>
            </a:extLst>
          </p:cNvPr>
          <p:cNvSpPr/>
          <p:nvPr/>
        </p:nvSpPr>
        <p:spPr>
          <a:xfrm>
            <a:off x="941787" y="1274823"/>
            <a:ext cx="2105031" cy="79552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условие */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400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287F455-9174-6C98-5780-398DB215CE57}"/>
              </a:ext>
            </a:extLst>
          </p:cNvPr>
          <p:cNvSpPr/>
          <p:nvPr/>
        </p:nvSpPr>
        <p:spPr>
          <a:xfrm>
            <a:off x="3191106" y="1282821"/>
            <a:ext cx="2190988" cy="127225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условие */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false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034A5AB-67C8-8FC4-F568-B9649D462BE8}"/>
              </a:ext>
            </a:extLst>
          </p:cNvPr>
          <p:cNvSpPr/>
          <p:nvPr/>
        </p:nvSpPr>
        <p:spPr>
          <a:xfrm>
            <a:off x="5526382" y="1274823"/>
            <a:ext cx="3101837" cy="174897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условие 1 */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условие 2 */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false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092ACDB-C974-ED1B-6AAF-DB88B2624247}"/>
              </a:ext>
            </a:extLst>
          </p:cNvPr>
          <p:cNvSpPr/>
          <p:nvPr/>
        </p:nvSpPr>
        <p:spPr>
          <a:xfrm>
            <a:off x="8725352" y="1274823"/>
            <a:ext cx="3101837" cy="31513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условие */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условие */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/*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/* false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условие */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/*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/* false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A07F1D-B901-9677-2CDE-705113712730}"/>
              </a:ext>
            </a:extLst>
          </p:cNvPr>
          <p:cNvSpPr txBox="1"/>
          <p:nvPr/>
        </p:nvSpPr>
        <p:spPr>
          <a:xfrm>
            <a:off x="941787" y="747075"/>
            <a:ext cx="2016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if</a:t>
            </a:r>
            <a:endParaRPr lang="ru-RU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9D6AEB-91C4-6132-8E5C-B31F2C682892}"/>
              </a:ext>
            </a:extLst>
          </p:cNvPr>
          <p:cNvSpPr txBox="1"/>
          <p:nvPr/>
        </p:nvSpPr>
        <p:spPr>
          <a:xfrm>
            <a:off x="3238262" y="747075"/>
            <a:ext cx="2105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If-else</a:t>
            </a:r>
            <a:endParaRPr lang="ru-RU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C3CFB0-F05E-2F6C-1204-7614F014D4C4}"/>
              </a:ext>
            </a:extLst>
          </p:cNvPr>
          <p:cNvSpPr txBox="1"/>
          <p:nvPr/>
        </p:nvSpPr>
        <p:spPr>
          <a:xfrm>
            <a:off x="5623515" y="747075"/>
            <a:ext cx="2822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If-else if</a:t>
            </a:r>
            <a:endParaRPr lang="ru-RU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8D768C-71CB-E231-A8C1-A8CFEAAFF6D0}"/>
              </a:ext>
            </a:extLst>
          </p:cNvPr>
          <p:cNvSpPr txBox="1"/>
          <p:nvPr/>
        </p:nvSpPr>
        <p:spPr>
          <a:xfrm>
            <a:off x="8725352" y="742455"/>
            <a:ext cx="2521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Вложенный</a:t>
            </a:r>
            <a:r>
              <a:rPr lang="en-US" b="1" dirty="0"/>
              <a:t> if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7313269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Тернарный оператор</a:t>
            </a:r>
            <a:r>
              <a:rPr lang="en-US" dirty="0">
                <a:solidFill>
                  <a:srgbClr val="333333"/>
                </a:solidFill>
              </a:rPr>
              <a:t>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Тернарного оператора или аналогов в </a:t>
            </a:r>
            <a:r>
              <a:rPr lang="en-US" sz="2000" dirty="0"/>
              <a:t>Go </a:t>
            </a:r>
            <a:r>
              <a:rPr lang="ru-RU" sz="2000" dirty="0"/>
              <a:t>нет.</a:t>
            </a:r>
            <a:endParaRPr lang="ru-RU" sz="2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717330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switch</a:t>
            </a:r>
            <a:r>
              <a:rPr lang="ru-RU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ExprSwitchStmt</a:t>
            </a:r>
            <a:r>
              <a:rPr lang="en-US" dirty="0">
                <a:solidFill>
                  <a:srgbClr val="333333"/>
                </a:solidFill>
              </a:rPr>
              <a:t> | </a:t>
            </a:r>
            <a:r>
              <a:rPr lang="en-US" dirty="0" err="1">
                <a:solidFill>
                  <a:srgbClr val="333333"/>
                </a:solidFill>
              </a:rPr>
              <a:t>TypeSwitchStmt</a:t>
            </a:r>
            <a:endParaRPr lang="ru-RU" dirty="0"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67468ABD-BB65-4904-A92B-ED34C7AB0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r>
              <a:rPr lang="ru-RU" sz="2000" dirty="0"/>
              <a:t>Существует две формы </a:t>
            </a:r>
            <a:r>
              <a:rPr lang="en-US" sz="2000" dirty="0"/>
              <a:t>switch</a:t>
            </a:r>
            <a:r>
              <a:rPr lang="ru-RU" sz="2000" dirty="0"/>
              <a:t> по выражению и по типу:</a:t>
            </a:r>
          </a:p>
          <a:p>
            <a:pPr>
              <a:lnSpc>
                <a:spcPct val="100000"/>
              </a:lnSpc>
              <a:spcBef>
                <a:spcPts val="0"/>
              </a:spcBef>
              <a:buSzPct val="75000"/>
              <a:tabLst>
                <a:tab pos="457200" algn="l"/>
              </a:tabLst>
            </a:pPr>
            <a:r>
              <a:rPr lang="ru-RU" sz="2000" dirty="0"/>
              <a:t>В </a:t>
            </a:r>
            <a:r>
              <a:rPr lang="en-US" sz="2000" dirty="0"/>
              <a:t>switch</a:t>
            </a:r>
            <a:r>
              <a:rPr lang="ru-RU" sz="2000" dirty="0"/>
              <a:t> по выражению варианты содержат выражения, которые сравниваются со значением выражения-переключателя.</a:t>
            </a:r>
          </a:p>
          <a:p>
            <a:pPr>
              <a:lnSpc>
                <a:spcPct val="100000"/>
              </a:lnSpc>
              <a:spcBef>
                <a:spcPts val="0"/>
              </a:spcBef>
              <a:buSzPct val="75000"/>
              <a:tabLst>
                <a:tab pos="457200" algn="l"/>
              </a:tabLst>
            </a:pPr>
            <a:r>
              <a:rPr lang="ru-RU" sz="2000" dirty="0"/>
              <a:t>В </a:t>
            </a:r>
            <a:r>
              <a:rPr lang="en-US" sz="2000" dirty="0"/>
              <a:t>switch</a:t>
            </a:r>
            <a:r>
              <a:rPr lang="ru-RU" sz="2000" dirty="0"/>
              <a:t> по типу варианты содержат типы, которые сравниваются с типом специально аннотированного выражения-переключателя.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r>
              <a:rPr lang="ru-RU" sz="2000" dirty="0"/>
              <a:t>Выражение-переключатель вычисляется в операторе </a:t>
            </a:r>
            <a:r>
              <a:rPr lang="ru-RU" sz="2000" dirty="0" err="1"/>
              <a:t>switch</a:t>
            </a:r>
            <a:r>
              <a:rPr lang="ru-RU" sz="2000" dirty="0"/>
              <a:t> ровно один раз.</a:t>
            </a:r>
          </a:p>
        </p:txBody>
      </p:sp>
    </p:spTree>
    <p:extLst>
      <p:ext uri="{BB962C8B-B14F-4D97-AF65-F5344CB8AC3E}">
        <p14:creationId xmlns:p14="http://schemas.microsoft.com/office/powerpoint/2010/main" val="5410467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switch</a:t>
            </a:r>
            <a:r>
              <a:rPr lang="ru-RU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ExprSwitchStmt</a:t>
            </a:r>
            <a:r>
              <a:rPr lang="ru-RU" dirty="0">
                <a:solidFill>
                  <a:srgbClr val="333333"/>
                </a:solidFill>
              </a:rPr>
              <a:t> (по выражению)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9648" y="1825625"/>
            <a:ext cx="8074152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endParaRPr lang="en-US" sz="20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0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0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"one"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 or 3"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"zero"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96DA2-6074-FE9F-1A40-12C9EE953A28}"/>
              </a:ext>
            </a:extLst>
          </p:cNvPr>
          <p:cNvSpPr txBox="1"/>
          <p:nvPr/>
        </p:nvSpPr>
        <p:spPr>
          <a:xfrm>
            <a:off x="925684" y="3400425"/>
            <a:ext cx="1965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</a:t>
            </a:r>
            <a:endParaRPr lang="ru-RU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9E041-D53F-04E7-9263-E40BEA1A1716}"/>
              </a:ext>
            </a:extLst>
          </p:cNvPr>
          <p:cNvSpPr txBox="1"/>
          <p:nvPr/>
        </p:nvSpPr>
        <p:spPr>
          <a:xfrm>
            <a:off x="3960750" y="2293062"/>
            <a:ext cx="1458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9BDB5749-B201-0677-0560-85D9B021B94E}"/>
              </a:ext>
            </a:extLst>
          </p:cNvPr>
          <p:cNvCxnSpPr/>
          <p:nvPr/>
        </p:nvCxnSpPr>
        <p:spPr>
          <a:xfrm>
            <a:off x="4651888" y="2693172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093688D4-DCEB-AA1D-50B6-986F79192732}"/>
              </a:ext>
            </a:extLst>
          </p:cNvPr>
          <p:cNvCxnSpPr>
            <a:cxnSpLocks/>
          </p:cNvCxnSpPr>
          <p:nvPr/>
        </p:nvCxnSpPr>
        <p:spPr>
          <a:xfrm>
            <a:off x="4320037" y="2866149"/>
            <a:ext cx="7715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F03FC24E-3FE0-FC9C-B132-6EC0F40A0E4C}"/>
              </a:ext>
            </a:extLst>
          </p:cNvPr>
          <p:cNvCxnSpPr>
            <a:cxnSpLocks/>
          </p:cNvCxnSpPr>
          <p:nvPr/>
        </p:nvCxnSpPr>
        <p:spPr>
          <a:xfrm>
            <a:off x="2891287" y="3619530"/>
            <a:ext cx="897499" cy="152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78ED88C2-1ED0-5F35-714D-B566213219E3}"/>
              </a:ext>
            </a:extLst>
          </p:cNvPr>
          <p:cNvCxnSpPr>
            <a:cxnSpLocks/>
          </p:cNvCxnSpPr>
          <p:nvPr/>
        </p:nvCxnSpPr>
        <p:spPr>
          <a:xfrm>
            <a:off x="2891287" y="3429000"/>
            <a:ext cx="8974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DBCB3F9C-72D8-7B9B-7254-ACECBF6A1B86}"/>
              </a:ext>
            </a:extLst>
          </p:cNvPr>
          <p:cNvCxnSpPr>
            <a:cxnSpLocks/>
          </p:cNvCxnSpPr>
          <p:nvPr/>
        </p:nvCxnSpPr>
        <p:spPr>
          <a:xfrm>
            <a:off x="2853187" y="3838575"/>
            <a:ext cx="899663" cy="284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D4DE878A-9C2C-FFE5-478D-55EE7D201568}"/>
              </a:ext>
            </a:extLst>
          </p:cNvPr>
          <p:cNvCxnSpPr>
            <a:cxnSpLocks/>
          </p:cNvCxnSpPr>
          <p:nvPr/>
        </p:nvCxnSpPr>
        <p:spPr>
          <a:xfrm flipV="1">
            <a:off x="2809875" y="3086100"/>
            <a:ext cx="469773" cy="285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914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switch</a:t>
            </a:r>
            <a:r>
              <a:rPr lang="ru-RU" dirty="0">
                <a:solidFill>
                  <a:srgbClr val="333333"/>
                </a:solidFill>
              </a:rPr>
              <a:t> </a:t>
            </a:r>
            <a:r>
              <a:rPr lang="ru-RU" dirty="0"/>
              <a:t>выражение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r>
              <a:rPr lang="ru-RU" sz="2000" dirty="0"/>
              <a:t>Выражение может быть любого типа, но обязательно такого же как и в </a:t>
            </a:r>
            <a:r>
              <a:rPr lang="en-US" sz="2000" dirty="0"/>
              <a:t>case</a:t>
            </a:r>
            <a:r>
              <a:rPr lang="ru-RU" sz="2000" dirty="0"/>
              <a:t> </a:t>
            </a:r>
            <a:r>
              <a:rPr lang="en-US" sz="2000" dirty="0"/>
              <a:t>-</a:t>
            </a:r>
            <a:r>
              <a:rPr lang="ru-RU" sz="2000" dirty="0"/>
              <a:t> ах.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r>
              <a:rPr lang="ru-RU" sz="2000" dirty="0"/>
              <a:t>Если выражение отсутствует, то это тоже самое, что и </a:t>
            </a:r>
            <a:r>
              <a:rPr lang="en-US" sz="2000" b="1" dirty="0"/>
              <a:t>true.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en-US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1950243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switch</a:t>
            </a:r>
            <a:r>
              <a:rPr lang="ru-RU" dirty="0">
                <a:solidFill>
                  <a:srgbClr val="333333"/>
                </a:solidFill>
              </a:rPr>
              <a:t> </a:t>
            </a:r>
            <a:r>
              <a:rPr lang="en-US" dirty="0">
                <a:solidFill>
                  <a:srgbClr val="333333"/>
                </a:solidFill>
              </a:rPr>
              <a:t>- </a:t>
            </a:r>
            <a:r>
              <a:rPr lang="en-US" dirty="0" err="1">
                <a:solidFill>
                  <a:srgbClr val="333333"/>
                </a:solidFill>
              </a:rPr>
              <a:t>fallthrough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1275" y="1690688"/>
            <a:ext cx="8772525" cy="448627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nextstop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"Stops ahead of us:"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nextstop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fallthrough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fallthrough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fallthrough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fallthrough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spcBef>
                <a:spcPts val="0"/>
              </a:spcBef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0316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switch</a:t>
            </a:r>
            <a:r>
              <a:rPr lang="ru-RU" dirty="0">
                <a:solidFill>
                  <a:srgbClr val="333333"/>
                </a:solidFill>
              </a:rPr>
              <a:t> </a:t>
            </a:r>
            <a:r>
              <a:rPr lang="ru-RU" b="0" i="0" dirty="0">
                <a:solidFill>
                  <a:srgbClr val="333333"/>
                </a:solidFill>
                <a:effectLst/>
              </a:rPr>
              <a:t>инициализация</a:t>
            </a:r>
            <a:r>
              <a:rPr lang="en-US" b="0" i="0" dirty="0">
                <a:solidFill>
                  <a:srgbClr val="333333"/>
                </a:solidFill>
                <a:effectLst/>
              </a:rPr>
              <a:t>; </a:t>
            </a:r>
            <a:r>
              <a:rPr lang="ru-RU" dirty="0">
                <a:solidFill>
                  <a:srgbClr val="333333"/>
                </a:solidFill>
              </a:rPr>
              <a:t>выражение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2675" y="1825625"/>
            <a:ext cx="9001124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 := a &gt; b; res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true: </a:t>
            </a:r>
            <a:r>
              <a:rPr lang="en-US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":)"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":("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9BDB5749-B201-0677-0560-85D9B021B94E}"/>
              </a:ext>
            </a:extLst>
          </p:cNvPr>
          <p:cNvCxnSpPr/>
          <p:nvPr/>
        </p:nvCxnSpPr>
        <p:spPr>
          <a:xfrm>
            <a:off x="4665726" y="2662298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093688D4-DCEB-AA1D-50B6-986F79192732}"/>
              </a:ext>
            </a:extLst>
          </p:cNvPr>
          <p:cNvCxnSpPr>
            <a:cxnSpLocks/>
          </p:cNvCxnSpPr>
          <p:nvPr/>
        </p:nvCxnSpPr>
        <p:spPr>
          <a:xfrm>
            <a:off x="3667125" y="2839212"/>
            <a:ext cx="19716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D6D2664-B131-0C1F-A9C1-7DBE007A854B}"/>
              </a:ext>
            </a:extLst>
          </p:cNvPr>
          <p:cNvSpPr txBox="1"/>
          <p:nvPr/>
        </p:nvSpPr>
        <p:spPr>
          <a:xfrm>
            <a:off x="3973453" y="2239048"/>
            <a:ext cx="1384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hlinkClick r:id="rId3"/>
              </a:rPr>
              <a:t>SimpleStmt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02005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switch</a:t>
            </a:r>
            <a:r>
              <a:rPr lang="ru-RU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TypeSwitchStmt</a:t>
            </a:r>
            <a:r>
              <a:rPr lang="ru-RU" dirty="0">
                <a:solidFill>
                  <a:srgbClr val="333333"/>
                </a:solidFill>
              </a:rPr>
              <a:t> (по типу)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3CA65D-9C26-4557-B736-7DB31B304529}"/>
              </a:ext>
            </a:extLst>
          </p:cNvPr>
          <p:cNvSpPr txBox="1"/>
          <p:nvPr/>
        </p:nvSpPr>
        <p:spPr>
          <a:xfrm>
            <a:off x="838200" y="1965988"/>
            <a:ext cx="1102092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или просто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x.(type)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nil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 is nil"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    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type of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is type of x (interface{})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                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type of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is 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float64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printFloat64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            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type of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is float64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float64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    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type of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is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(int) float64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"type is bool or string"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type of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is type of x (interface{})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"don't know the type"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type of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is type of x (interface{})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78224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333333"/>
                </a:solidFill>
              </a:rPr>
              <a:t>goto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4350" y="1825625"/>
            <a:ext cx="702944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sz="2000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1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код */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label</a:t>
            </a: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1EC5DF8F-BAE8-1285-8F99-66E50064106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44862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r>
              <a:rPr lang="ru-RU" sz="1600" dirty="0"/>
              <a:t>* </a:t>
            </a:r>
            <a:r>
              <a:rPr lang="en-US" sz="1600" dirty="0"/>
              <a:t>label –</a:t>
            </a:r>
            <a:r>
              <a:rPr lang="ru-RU" sz="1600" dirty="0"/>
              <a:t> обычный идентификатор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725332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025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Оператор цикла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BAB623-6334-BDDF-0231-4432222FA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0003"/>
            <a:ext cx="12192000" cy="48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4656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Оператор цикла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34B1B1-A785-73BD-CC48-E6D3CEC5AD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20" r="54801" b="1844"/>
          <a:stretch/>
        </p:blipFill>
        <p:spPr>
          <a:xfrm>
            <a:off x="3733799" y="1423988"/>
            <a:ext cx="4752975" cy="46590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5E311D-69C9-1FA2-DE07-F7C4F28ECA53}"/>
              </a:ext>
            </a:extLst>
          </p:cNvPr>
          <p:cNvSpPr txBox="1"/>
          <p:nvPr/>
        </p:nvSpPr>
        <p:spPr>
          <a:xfrm>
            <a:off x="5600700" y="6095762"/>
            <a:ext cx="71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6264777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for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923" y="1825625"/>
            <a:ext cx="807415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&lt; b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(a, b)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a++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96DA2-6074-FE9F-1A40-12C9EE953A28}"/>
              </a:ext>
            </a:extLst>
          </p:cNvPr>
          <p:cNvSpPr txBox="1"/>
          <p:nvPr/>
        </p:nvSpPr>
        <p:spPr>
          <a:xfrm>
            <a:off x="1408289" y="2119313"/>
            <a:ext cx="1965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</a:t>
            </a:r>
            <a:endParaRPr lang="ru-RU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9E041-D53F-04E7-9263-E40BEA1A1716}"/>
              </a:ext>
            </a:extLst>
          </p:cNvPr>
          <p:cNvSpPr txBox="1"/>
          <p:nvPr/>
        </p:nvSpPr>
        <p:spPr>
          <a:xfrm>
            <a:off x="4605628" y="2281238"/>
            <a:ext cx="1458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3340F-EF61-097B-D986-E8F2ED5A94BB}"/>
              </a:ext>
            </a:extLst>
          </p:cNvPr>
          <p:cNvSpPr txBox="1"/>
          <p:nvPr/>
        </p:nvSpPr>
        <p:spPr>
          <a:xfrm>
            <a:off x="7774981" y="2276445"/>
            <a:ext cx="676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DE1B6117-96D5-E33C-2F32-A008F01B096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391091" y="2519423"/>
            <a:ext cx="1555072" cy="45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9BDB5749-B201-0677-0560-85D9B021B94E}"/>
              </a:ext>
            </a:extLst>
          </p:cNvPr>
          <p:cNvCxnSpPr/>
          <p:nvPr/>
        </p:nvCxnSpPr>
        <p:spPr>
          <a:xfrm>
            <a:off x="5303901" y="2681348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093688D4-DCEB-AA1D-50B6-986F79192732}"/>
              </a:ext>
            </a:extLst>
          </p:cNvPr>
          <p:cNvCxnSpPr>
            <a:cxnSpLocks/>
          </p:cNvCxnSpPr>
          <p:nvPr/>
        </p:nvCxnSpPr>
        <p:spPr>
          <a:xfrm>
            <a:off x="4829175" y="2858262"/>
            <a:ext cx="981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AFD27CF1-15C1-90B9-8E5E-CEC50B13F2C2}"/>
              </a:ext>
            </a:extLst>
          </p:cNvPr>
          <p:cNvCxnSpPr/>
          <p:nvPr/>
        </p:nvCxnSpPr>
        <p:spPr>
          <a:xfrm flipH="1">
            <a:off x="8111109" y="2667855"/>
            <a:ext cx="2266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E10EE7DC-1128-2A3D-6B68-FFA49372EA6D}"/>
              </a:ext>
            </a:extLst>
          </p:cNvPr>
          <p:cNvCxnSpPr>
            <a:cxnSpLocks/>
          </p:cNvCxnSpPr>
          <p:nvPr/>
        </p:nvCxnSpPr>
        <p:spPr>
          <a:xfrm>
            <a:off x="6685420" y="2848198"/>
            <a:ext cx="27443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8C93D4B3-0F48-5590-56E3-D1849AD7ED2B}"/>
              </a:ext>
            </a:extLst>
          </p:cNvPr>
          <p:cNvCxnSpPr>
            <a:cxnSpLocks/>
          </p:cNvCxnSpPr>
          <p:nvPr/>
        </p:nvCxnSpPr>
        <p:spPr>
          <a:xfrm>
            <a:off x="9435465" y="2848198"/>
            <a:ext cx="0" cy="1938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72D188ED-F38B-B1B6-168D-96C1E88E2605}"/>
              </a:ext>
            </a:extLst>
          </p:cNvPr>
          <p:cNvCxnSpPr/>
          <p:nvPr/>
        </p:nvCxnSpPr>
        <p:spPr>
          <a:xfrm flipH="1">
            <a:off x="8313801" y="4786884"/>
            <a:ext cx="11216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6776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ru-RU" dirty="0"/>
              <a:t>выражение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r>
              <a:rPr lang="ru-RU" sz="2000" dirty="0"/>
              <a:t>Ожидается, что выражение после ключевого слова </a:t>
            </a:r>
            <a:r>
              <a:rPr lang="en-US" sz="2000" dirty="0">
                <a:latin typeface="Consolas" panose="020B0609020204030204" pitchFamily="49" charset="0"/>
              </a:rPr>
              <a:t>for</a:t>
            </a:r>
            <a:r>
              <a:rPr lang="ru-RU" sz="2000" dirty="0"/>
              <a:t> типа </a:t>
            </a:r>
            <a:r>
              <a:rPr lang="en-US" sz="2000" dirty="0">
                <a:latin typeface="Consolas" panose="020B0609020204030204" pitchFamily="49" charset="0"/>
              </a:rPr>
              <a:t>bool.</a:t>
            </a:r>
            <a:endParaRPr lang="en-US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endParaRPr lang="ru-RU" sz="2000" dirty="0">
              <a:latin typeface="Consolas" panose="020B0609020204030204" pitchFamily="49" charset="0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en-US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529956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Бесконечный цикл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923" y="1825625"/>
            <a:ext cx="807415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"+"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96DA2-6074-FE9F-1A40-12C9EE953A28}"/>
              </a:ext>
            </a:extLst>
          </p:cNvPr>
          <p:cNvSpPr txBox="1"/>
          <p:nvPr/>
        </p:nvSpPr>
        <p:spPr>
          <a:xfrm>
            <a:off x="1408289" y="2119313"/>
            <a:ext cx="1965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</a:t>
            </a:r>
            <a:endParaRPr lang="ru-RU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3340F-EF61-097B-D986-E8F2ED5A94BB}"/>
              </a:ext>
            </a:extLst>
          </p:cNvPr>
          <p:cNvSpPr txBox="1"/>
          <p:nvPr/>
        </p:nvSpPr>
        <p:spPr>
          <a:xfrm>
            <a:off x="7774981" y="2276445"/>
            <a:ext cx="676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DE1B6117-96D5-E33C-2F32-A008F01B096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391091" y="2519423"/>
            <a:ext cx="1555072" cy="45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AFD27CF1-15C1-90B9-8E5E-CEC50B13F2C2}"/>
              </a:ext>
            </a:extLst>
          </p:cNvPr>
          <p:cNvCxnSpPr/>
          <p:nvPr/>
        </p:nvCxnSpPr>
        <p:spPr>
          <a:xfrm flipH="1">
            <a:off x="8111109" y="2667855"/>
            <a:ext cx="2266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E10EE7DC-1128-2A3D-6B68-FFA49372EA6D}"/>
              </a:ext>
            </a:extLst>
          </p:cNvPr>
          <p:cNvCxnSpPr>
            <a:cxnSpLocks/>
          </p:cNvCxnSpPr>
          <p:nvPr/>
        </p:nvCxnSpPr>
        <p:spPr>
          <a:xfrm>
            <a:off x="6685420" y="2848198"/>
            <a:ext cx="27443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8C93D4B3-0F48-5590-56E3-D1849AD7ED2B}"/>
              </a:ext>
            </a:extLst>
          </p:cNvPr>
          <p:cNvCxnSpPr>
            <a:cxnSpLocks/>
          </p:cNvCxnSpPr>
          <p:nvPr/>
        </p:nvCxnSpPr>
        <p:spPr>
          <a:xfrm>
            <a:off x="9435465" y="2848198"/>
            <a:ext cx="0" cy="13290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72D188ED-F38B-B1B6-168D-96C1E88E2605}"/>
              </a:ext>
            </a:extLst>
          </p:cNvPr>
          <p:cNvCxnSpPr/>
          <p:nvPr/>
        </p:nvCxnSpPr>
        <p:spPr>
          <a:xfrm flipH="1">
            <a:off x="8313801" y="4177284"/>
            <a:ext cx="11216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1741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Оператор цикла</a:t>
            </a:r>
            <a:r>
              <a:rPr lang="en-US" dirty="0">
                <a:solidFill>
                  <a:srgbClr val="333333"/>
                </a:solidFill>
              </a:rPr>
              <a:t> for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3A15E2-6E61-595D-FB56-234B2D42A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426" y="1476375"/>
            <a:ext cx="8232206" cy="50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22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8703" y="1825625"/>
            <a:ext cx="949137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count &lt;=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count++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"My counter is at"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count)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3340F-EF61-097B-D986-E8F2ED5A94BB}"/>
              </a:ext>
            </a:extLst>
          </p:cNvPr>
          <p:cNvSpPr txBox="1"/>
          <p:nvPr/>
        </p:nvSpPr>
        <p:spPr>
          <a:xfrm>
            <a:off x="10298805" y="2745229"/>
            <a:ext cx="676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</a:t>
            </a:r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AFD27CF1-15C1-90B9-8E5E-CEC50B13F2C2}"/>
              </a:ext>
            </a:extLst>
          </p:cNvPr>
          <p:cNvCxnSpPr/>
          <p:nvPr/>
        </p:nvCxnSpPr>
        <p:spPr>
          <a:xfrm flipH="1">
            <a:off x="10634933" y="3146164"/>
            <a:ext cx="2266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E10EE7DC-1128-2A3D-6B68-FFA49372EA6D}"/>
              </a:ext>
            </a:extLst>
          </p:cNvPr>
          <p:cNvCxnSpPr>
            <a:cxnSpLocks/>
          </p:cNvCxnSpPr>
          <p:nvPr/>
        </p:nvCxnSpPr>
        <p:spPr>
          <a:xfrm>
            <a:off x="9944100" y="3324448"/>
            <a:ext cx="990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8C93D4B3-0F48-5590-56E3-D1849AD7ED2B}"/>
              </a:ext>
            </a:extLst>
          </p:cNvPr>
          <p:cNvCxnSpPr/>
          <p:nvPr/>
        </p:nvCxnSpPr>
        <p:spPr>
          <a:xfrm>
            <a:off x="10940415" y="3324448"/>
            <a:ext cx="0" cy="151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72D188ED-F38B-B1B6-168D-96C1E88E2605}"/>
              </a:ext>
            </a:extLst>
          </p:cNvPr>
          <p:cNvCxnSpPr/>
          <p:nvPr/>
        </p:nvCxnSpPr>
        <p:spPr>
          <a:xfrm flipH="1">
            <a:off x="9818751" y="4834509"/>
            <a:ext cx="11216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85C2E90-73F4-230C-6880-8ABA43551948}"/>
              </a:ext>
            </a:extLst>
          </p:cNvPr>
          <p:cNvSpPr txBox="1"/>
          <p:nvPr/>
        </p:nvSpPr>
        <p:spPr>
          <a:xfrm>
            <a:off x="446499" y="2755579"/>
            <a:ext cx="1965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</a:t>
            </a:r>
            <a:endParaRPr lang="ru-RU" sz="2000" b="1" dirty="0"/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A02B7B30-5016-38CF-9CC3-A3C82FA85634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1429301" y="3155689"/>
            <a:ext cx="1107136" cy="400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D635E3FA-9E61-6E08-57E7-A84D8AD482AD}"/>
              </a:ext>
            </a:extLst>
          </p:cNvPr>
          <p:cNvCxnSpPr/>
          <p:nvPr/>
        </p:nvCxnSpPr>
        <p:spPr>
          <a:xfrm>
            <a:off x="4406277" y="3131443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5D9D712C-749C-B04A-6A58-FA2CFD105E55}"/>
              </a:ext>
            </a:extLst>
          </p:cNvPr>
          <p:cNvCxnSpPr>
            <a:cxnSpLocks/>
          </p:cNvCxnSpPr>
          <p:nvPr/>
        </p:nvCxnSpPr>
        <p:spPr>
          <a:xfrm>
            <a:off x="3434053" y="3332603"/>
            <a:ext cx="195709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7A245DC-C27A-89B0-0AF0-9833ED7CCFCC}"/>
              </a:ext>
            </a:extLst>
          </p:cNvPr>
          <p:cNvSpPr txBox="1"/>
          <p:nvPr/>
        </p:nvSpPr>
        <p:spPr>
          <a:xfrm>
            <a:off x="6063756" y="2630548"/>
            <a:ext cx="1458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9C0C9D-6C28-E018-F2E3-D98D84A089BA}"/>
              </a:ext>
            </a:extLst>
          </p:cNvPr>
          <p:cNvCxnSpPr/>
          <p:nvPr/>
        </p:nvCxnSpPr>
        <p:spPr>
          <a:xfrm>
            <a:off x="6824662" y="3131443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05C27A1A-DEC5-FD99-652C-3C1BDA366F0C}"/>
              </a:ext>
            </a:extLst>
          </p:cNvPr>
          <p:cNvCxnSpPr>
            <a:cxnSpLocks/>
          </p:cNvCxnSpPr>
          <p:nvPr/>
        </p:nvCxnSpPr>
        <p:spPr>
          <a:xfrm>
            <a:off x="5800725" y="3332603"/>
            <a:ext cx="20478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8BAB2900-69BB-ED1C-5422-1FD764D6865B}"/>
              </a:ext>
            </a:extLst>
          </p:cNvPr>
          <p:cNvCxnSpPr/>
          <p:nvPr/>
        </p:nvCxnSpPr>
        <p:spPr>
          <a:xfrm>
            <a:off x="9007043" y="3131443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30B33713-B17A-3BEF-AC4A-FD58C30CAEC7}"/>
              </a:ext>
            </a:extLst>
          </p:cNvPr>
          <p:cNvCxnSpPr>
            <a:cxnSpLocks/>
          </p:cNvCxnSpPr>
          <p:nvPr/>
        </p:nvCxnSpPr>
        <p:spPr>
          <a:xfrm>
            <a:off x="8355737" y="3312236"/>
            <a:ext cx="130261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CC261AA-3A18-0D60-B9BE-4378D13DEE5E}"/>
              </a:ext>
            </a:extLst>
          </p:cNvPr>
          <p:cNvSpPr txBox="1"/>
          <p:nvPr/>
        </p:nvSpPr>
        <p:spPr>
          <a:xfrm>
            <a:off x="3714004" y="2630548"/>
            <a:ext cx="1384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hlinkClick r:id="rId2"/>
              </a:rPr>
              <a:t>SimpleStmt</a:t>
            </a:r>
            <a:endParaRPr lang="ru-RU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8FEDC1-8466-1ED8-3BC6-415050AE4940}"/>
              </a:ext>
            </a:extLst>
          </p:cNvPr>
          <p:cNvSpPr txBox="1"/>
          <p:nvPr/>
        </p:nvSpPr>
        <p:spPr>
          <a:xfrm>
            <a:off x="8314770" y="2630548"/>
            <a:ext cx="1384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hlinkClick r:id="rId2"/>
              </a:rPr>
              <a:t>SimpleStmt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2239281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for SimpleStmt; </a:t>
            </a:r>
            <a:r>
              <a:rPr lang="ru-RU" sz="4000" dirty="0"/>
              <a:t>Выражение</a:t>
            </a:r>
            <a:r>
              <a:rPr lang="en-US" sz="4000" dirty="0"/>
              <a:t>; SimpleStmt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1085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r>
              <a:rPr lang="ru-RU" sz="1700" dirty="0"/>
              <a:t>Каждое из выражение не обязательное (можно не писать), но точки с запятой писать нужно.</a:t>
            </a: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en-US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6662527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</a:t>
            </a:r>
            <a:r>
              <a:rPr lang="ru-RU" dirty="0"/>
              <a:t> </a:t>
            </a:r>
            <a:r>
              <a:rPr lang="en-US" sz="4000" dirty="0" err="1"/>
              <a:t>RangeClause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42" y="1825625"/>
            <a:ext cx="1140443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sz="23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3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3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[ </a:t>
            </a:r>
            <a:r>
              <a:rPr lang="en-US" sz="2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ExpressionList</a:t>
            </a:r>
            <a:r>
              <a:rPr lang="en-US" sz="2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"=" | </a:t>
            </a:r>
            <a:r>
              <a:rPr lang="en-US" sz="2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IdentifierList</a:t>
            </a:r>
            <a:r>
              <a:rPr lang="en-US" sz="2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":=" ]</a:t>
            </a:r>
            <a:r>
              <a:rPr lang="en-US" sz="2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Expression {</a:t>
            </a:r>
          </a:p>
          <a:p>
            <a:pPr marL="0" indent="0">
              <a:buNone/>
            </a:pPr>
            <a:r>
              <a:rPr lang="ru-RU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ru-RU" sz="2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Код</a:t>
            </a:r>
            <a:endParaRPr lang="ru-RU" sz="2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55614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</a:t>
            </a:r>
            <a:r>
              <a:rPr lang="ru-RU" dirty="0"/>
              <a:t> </a:t>
            </a:r>
            <a:r>
              <a:rPr lang="en-US" sz="4000" dirty="0" err="1"/>
              <a:t>RangeClause</a:t>
            </a:r>
            <a:endParaRPr lang="ru-RU" sz="4000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02EB58A-A53D-41D7-901C-33AAB1549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421039"/>
              </p:ext>
            </p:extLst>
          </p:nvPr>
        </p:nvGraphicFramePr>
        <p:xfrm>
          <a:off x="441220" y="2075699"/>
          <a:ext cx="11309560" cy="363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955">
                  <a:extLst>
                    <a:ext uri="{9D8B030D-6E8A-4147-A177-3AD203B41FA5}">
                      <a16:colId xmlns:a16="http://schemas.microsoft.com/office/drawing/2014/main" val="2521641126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2414663582"/>
                    </a:ext>
                  </a:extLst>
                </a:gridCol>
                <a:gridCol w="3037205">
                  <a:extLst>
                    <a:ext uri="{9D8B030D-6E8A-4147-A177-3AD203B41FA5}">
                      <a16:colId xmlns:a16="http://schemas.microsoft.com/office/drawing/2014/main" val="2410387064"/>
                    </a:ext>
                  </a:extLst>
                </a:gridCol>
                <a:gridCol w="1167130">
                  <a:extLst>
                    <a:ext uri="{9D8B030D-6E8A-4147-A177-3AD203B41FA5}">
                      <a16:colId xmlns:a16="http://schemas.microsoft.com/office/drawing/2014/main" val="2953607104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3994376163"/>
                    </a:ext>
                  </a:extLst>
                </a:gridCol>
                <a:gridCol w="1167130">
                  <a:extLst>
                    <a:ext uri="{9D8B030D-6E8A-4147-A177-3AD203B41FA5}">
                      <a16:colId xmlns:a16="http://schemas.microsoft.com/office/drawing/2014/main" val="1305280626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452980969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12765495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Range expression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1st value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2nd value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138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array or slice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latin typeface="Consolas" panose="020B0609020204030204" pitchFamily="49" charset="0"/>
                        </a:rPr>
                        <a:t>a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latin typeface="Consolas" panose="020B0609020204030204" pitchFamily="49" charset="0"/>
                        </a:rPr>
                        <a:t>[n]E, *[n]E, or []E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index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int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a[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]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E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003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string 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s 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string type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index 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int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rune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147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map 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m 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map[K]V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key 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k 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K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m[k]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V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878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channel 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c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chan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E, &lt;-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chan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E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element 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e 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E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574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integer value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n 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integer type, or untyped int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value 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i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203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function, 0 values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f 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(yield 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() bool)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813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Consolas" panose="020B0609020204030204" pitchFamily="49" charset="0"/>
                        </a:rPr>
                        <a:t>function, 1 value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f 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(yield 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(V) bool)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value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v 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V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yield cannot be variadic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325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function, 2 values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f 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(yield 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(K, V) bool)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key 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k 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K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v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V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yield cannot be variadic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909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5243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</a:t>
            </a:r>
            <a:r>
              <a:rPr lang="ru-RU" dirty="0"/>
              <a:t> </a:t>
            </a:r>
            <a:r>
              <a:rPr lang="en-US" sz="4000" dirty="0" err="1"/>
              <a:t>RangeClause</a:t>
            </a:r>
            <a:r>
              <a:rPr lang="en-US" sz="4000" dirty="0"/>
              <a:t> </a:t>
            </a:r>
            <a:r>
              <a:rPr lang="ru-RU" sz="4000" dirty="0"/>
              <a:t>пример</a:t>
            </a:r>
            <a:r>
              <a:rPr lang="en-US" sz="4000" dirty="0"/>
              <a:t> - </a:t>
            </a:r>
            <a:r>
              <a:rPr lang="ru-RU" sz="4000" dirty="0"/>
              <a:t>Массив (</a:t>
            </a:r>
            <a:r>
              <a:rPr lang="en-US" sz="4000" dirty="0"/>
              <a:t>array)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825625"/>
            <a:ext cx="1100137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v == a[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массив копируется в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range-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выражение (если только не используется указатель на массив), поэтому изменения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внутри цикла не влияют на итерацию.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v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отсутствует — цикл выдаёт только индексы 0..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(a)-1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сам массив при этом не индексируется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v == (*p)[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перебирается массив по указателю, копии массива нет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0468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</a:t>
            </a:r>
            <a:r>
              <a:rPr lang="ru-RU" dirty="0"/>
              <a:t> </a:t>
            </a:r>
            <a:r>
              <a:rPr lang="en-US" sz="4000" dirty="0" err="1"/>
              <a:t>RangeClause</a:t>
            </a:r>
            <a:r>
              <a:rPr lang="en-US" sz="4000" dirty="0"/>
              <a:t> </a:t>
            </a:r>
            <a:r>
              <a:rPr lang="ru-RU" sz="4000" dirty="0"/>
              <a:t>пример</a:t>
            </a:r>
            <a:r>
              <a:rPr lang="en-US" sz="4000" dirty="0"/>
              <a:t> - </a:t>
            </a:r>
            <a:r>
              <a:rPr lang="ru-RU" sz="4000" dirty="0"/>
              <a:t>Срез (</a:t>
            </a:r>
            <a:r>
              <a:rPr lang="en-US" sz="4000" dirty="0"/>
              <a:t>slice)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825625"/>
            <a:ext cx="1100137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[]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v == s[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[]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v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отсутствует — только индексы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[]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 == nil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тело не выполнится ни разу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26471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</a:t>
            </a:r>
            <a:r>
              <a:rPr lang="ru-RU" dirty="0"/>
              <a:t> </a:t>
            </a:r>
            <a:r>
              <a:rPr lang="en-US" sz="4000" dirty="0" err="1"/>
              <a:t>RangeClause</a:t>
            </a:r>
            <a:r>
              <a:rPr lang="en-US" sz="4000" dirty="0"/>
              <a:t> </a:t>
            </a:r>
            <a:r>
              <a:rPr lang="ru-RU" sz="4000" dirty="0"/>
              <a:t>пример</a:t>
            </a:r>
            <a:r>
              <a:rPr lang="en-US" sz="4000" dirty="0"/>
              <a:t> - </a:t>
            </a:r>
            <a:r>
              <a:rPr lang="ru-RU" sz="4000" dirty="0"/>
              <a:t>Строка (</a:t>
            </a:r>
            <a:r>
              <a:rPr lang="en-US" sz="4000" dirty="0"/>
              <a:t>string)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825625"/>
            <a:ext cx="1100137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Привет, </a:t>
            </a:r>
            <a:r>
              <a:rPr lang="ja-JP" alt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世界</a:t>
            </a:r>
            <a:r>
              <a:rPr lang="en-US" altLang="ja-JP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!"</a:t>
            </a:r>
            <a:endParaRPr lang="ja-JP" alt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 (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байтовый индекс начала руны)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тип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rune (int32) —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кодовая точка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Unicode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—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индекс первого байта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UTF-8-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последовательности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 —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значение соответствующей кодовой точки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 при встрече некорректной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UTF-8-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последовательности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 == 0xFFFD (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символ замены), а следующая итерация сдвигается на 1 байт.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sz="1200" b="0" dirty="0" err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xff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sz="1200" b="0" dirty="0" err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xfe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 == 0xFFFD (Unicode replacement character)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0,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потом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1 —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сдвиг на один байт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только байтовые индексы начал рун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708086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</a:t>
            </a:r>
            <a:r>
              <a:rPr lang="ru-RU" dirty="0"/>
              <a:t> </a:t>
            </a:r>
            <a:r>
              <a:rPr lang="en-US" sz="4000" dirty="0" err="1"/>
              <a:t>RangeClause</a:t>
            </a:r>
            <a:r>
              <a:rPr lang="en-US" sz="4000" dirty="0"/>
              <a:t> </a:t>
            </a:r>
            <a:r>
              <a:rPr lang="ru-RU" sz="4000" dirty="0"/>
              <a:t>пример</a:t>
            </a:r>
            <a:r>
              <a:rPr lang="en-US" sz="4000" dirty="0"/>
              <a:t> - Map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825625"/>
            <a:ext cx="1100137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ru-RU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ru-RU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ru-RU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ru-RU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ru-RU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тип k это 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тип v это 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ru-RU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ru-RU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ru-RU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ru-RU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тип k это 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только ключи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Особенность: порядок обхода не определён и может меняться от итерации к итерации. 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nil-map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даёт 0 итераций.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Особенность: если во время обхода удалить ещё не достигнутый элемент — он не будет выдан.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Особенность: если создать новый — он может быть выдан, а может быть пропущен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ru-RU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 == 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nil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тело не выполнится ни разу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0866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</a:t>
            </a:r>
            <a:r>
              <a:rPr lang="ru-RU" dirty="0"/>
              <a:t> </a:t>
            </a:r>
            <a:r>
              <a:rPr lang="en-US" sz="4000" dirty="0" err="1"/>
              <a:t>RangeClause</a:t>
            </a:r>
            <a:r>
              <a:rPr lang="en-US" sz="4000" dirty="0"/>
              <a:t> </a:t>
            </a:r>
            <a:r>
              <a:rPr lang="ru-RU" sz="4000" dirty="0"/>
              <a:t>пример</a:t>
            </a:r>
            <a:r>
              <a:rPr lang="en-US" sz="4000" dirty="0"/>
              <a:t> - </a:t>
            </a:r>
            <a:r>
              <a:rPr lang="ru-RU" sz="4000" dirty="0"/>
              <a:t>Канал (</a:t>
            </a:r>
            <a:r>
              <a:rPr lang="en-US" sz="4000" dirty="0"/>
              <a:t>channel)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825625"/>
            <a:ext cx="1100137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400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&lt;-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&lt;-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&lt;-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v —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последовательные значения, отправленные в канал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Только одна переменная итерации — значение из канала. Индекса нет.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== nil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цикл заблокируется навсегда, итераций не будет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09769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for</a:t>
            </a:r>
            <a:r>
              <a:rPr lang="ru-RU" sz="3600" dirty="0"/>
              <a:t> </a:t>
            </a:r>
            <a:r>
              <a:rPr lang="en-US" sz="3600" dirty="0" err="1"/>
              <a:t>RangeClause</a:t>
            </a:r>
            <a:r>
              <a:rPr lang="en-US" sz="3600" dirty="0"/>
              <a:t> </a:t>
            </a:r>
            <a:r>
              <a:rPr lang="ru-RU" sz="3600" dirty="0"/>
              <a:t>пример</a:t>
            </a:r>
            <a:r>
              <a:rPr lang="en-US" sz="3600" dirty="0"/>
              <a:t> - </a:t>
            </a:r>
            <a:r>
              <a:rPr lang="ru-RU" sz="3600" dirty="0"/>
              <a:t>Целое число (</a:t>
            </a:r>
            <a:r>
              <a:rPr lang="en-US" sz="3600" dirty="0"/>
              <a:t>integer value)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825625"/>
            <a:ext cx="1100137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 (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так как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имеет тип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принимает значения 0, 1, 2, 3, 4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тело не выполнится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если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 &lt;= 0 —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цикл не выполнится ни разу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int8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остаётся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int8 (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переменной)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если переменная итерации уже существует, тип значений итерации берётся от неё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значения итерации приводятся к типу переменной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 (default type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нетипизированной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константы)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342765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for</a:t>
            </a:r>
            <a:r>
              <a:rPr lang="ru-RU" sz="3200" dirty="0"/>
              <a:t> </a:t>
            </a:r>
            <a:r>
              <a:rPr lang="en-US" sz="3200" dirty="0" err="1"/>
              <a:t>RangeClause</a:t>
            </a:r>
            <a:r>
              <a:rPr lang="en-US" sz="3200" dirty="0"/>
              <a:t> </a:t>
            </a:r>
            <a:r>
              <a:rPr lang="ru-RU" sz="3200" dirty="0"/>
              <a:t>пример</a:t>
            </a:r>
            <a:r>
              <a:rPr lang="en-US" sz="3200" dirty="0"/>
              <a:t> - </a:t>
            </a:r>
            <a:r>
              <a:rPr lang="ru-RU" sz="3200" dirty="0"/>
              <a:t>Функция, 0 значений (Go 1.23+)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825625"/>
            <a:ext cx="1100137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400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400" dirty="0">
              <a:solidFill>
                <a:srgbClr val="00108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yield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вызывается без аргументов, возвращает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bool.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тело цикла прервано (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break), yield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вернёт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false,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итератор должен прекратить вызовы.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Если f завершается, не вызвав 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цикл завершается без итераций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тело цикла выполнится 3 раза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переменных итерации нет</a:t>
            </a:r>
            <a:endParaRPr lang="en-US" sz="14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Тело этого цикла не выполняется само по себе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,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оно становится телом функции 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которую компилятор создаёт и передаёт в f.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Если здесь написать 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то 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 вернёт 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false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45846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for</a:t>
            </a:r>
            <a:r>
              <a:rPr lang="ru-RU" sz="3200" dirty="0"/>
              <a:t> </a:t>
            </a:r>
            <a:r>
              <a:rPr lang="en-US" sz="3200" dirty="0" err="1"/>
              <a:t>RangeClause</a:t>
            </a:r>
            <a:r>
              <a:rPr lang="en-US" sz="3200" dirty="0"/>
              <a:t> </a:t>
            </a:r>
            <a:r>
              <a:rPr lang="ru-RU" sz="3200" dirty="0"/>
              <a:t>пример</a:t>
            </a:r>
            <a:r>
              <a:rPr lang="en-US" sz="3200" dirty="0"/>
              <a:t> - </a:t>
            </a:r>
            <a:r>
              <a:rPr lang="ru-RU" sz="3200" dirty="0"/>
              <a:t>Функция, 1 значений (Go 1.23+)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825625"/>
            <a:ext cx="1100137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400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400" dirty="0">
              <a:solidFill>
                <a:srgbClr val="00108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сигнатура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yield-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функции —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(V) bool.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Значение, переданное в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yield,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становится значением итерации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v.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v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принимает значения 0, 1, 2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55661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for</a:t>
            </a:r>
            <a:r>
              <a:rPr lang="ru-RU" sz="3200" dirty="0"/>
              <a:t> </a:t>
            </a:r>
            <a:r>
              <a:rPr lang="en-US" sz="3200" dirty="0" err="1"/>
              <a:t>RangeClause</a:t>
            </a:r>
            <a:r>
              <a:rPr lang="en-US" sz="3200" dirty="0"/>
              <a:t> </a:t>
            </a:r>
            <a:r>
              <a:rPr lang="ru-RU" sz="3200" dirty="0"/>
              <a:t>пример</a:t>
            </a:r>
            <a:r>
              <a:rPr lang="en-US" sz="3200" dirty="0"/>
              <a:t> - </a:t>
            </a:r>
            <a:r>
              <a:rPr lang="ru-RU" sz="3200" dirty="0"/>
              <a:t>Функция, 2 значений (Go 1.23+)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825625"/>
            <a:ext cx="1100137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pairs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[]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}{{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pairs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сигнатура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yield-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функции —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(K, V) bool.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Первый аргумент становится первой переменной итерации, второй — второй.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k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721201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Потоки и стандартные устройства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os.Stdin  — стандартный ввод</a:t>
            </a:r>
          </a:p>
          <a:p>
            <a:r>
              <a:rPr sz="1800"/>
              <a:t>os.Stdout — стандартный вывод</a:t>
            </a:r>
          </a:p>
          <a:p>
            <a:r>
              <a:rPr sz="1800"/>
              <a:t>os.Stderr — стандартный поток ошибок</a:t>
            </a:r>
          </a:p>
          <a:p>
            <a:r>
              <a:rPr sz="1800"/>
              <a:t>fmt — пакет форматированного ввода-вывода</a:t>
            </a:r>
          </a:p>
          <a:p>
            <a:r>
              <a:rPr sz="1800"/>
              <a:t>bufio — буферизованный ввод-вывод</a:t>
            </a:r>
          </a:p>
          <a:p>
            <a:r>
              <a:rPr sz="1800"/>
              <a:t>io — общие интерфейсы Reader / Writer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Буферизация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os.Stdout по умолчанию буферизуется ОС.</a:t>
            </a:r>
          </a:p>
          <a:p>
            <a:r>
              <a:rPr sz="1800"/>
              <a:t>os.Stderr обычно не буферизуется.</a:t>
            </a:r>
          </a:p>
          <a:p>
            <a:r>
              <a:rPr sz="1800"/>
              <a:t>В Go нет std::endl — вместо него fmt.Println (добавляет \n) и fmt.Print.</a:t>
            </a:r>
          </a:p>
          <a:p>
            <a:r>
              <a:rPr sz="1800"/>
              <a:t>Для сброса буфера — Flush у bufio.Writer.</a:t>
            </a:r>
          </a:p>
          <a:p>
            <a:r>
              <a:rPr sz="1800"/>
              <a:t>fmt.Println и fmt.Printf пишут напрямую в os.Stdout (при необходимости — через syscall).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fmt.Println — вывод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3931" y="2011681"/>
            <a:ext cx="8229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rgbClr val="202020"/>
                </a:solidFill>
                <a:latin typeface="Consolas"/>
              </a:rPr>
              <a:t>package main</a:t>
            </a:r>
            <a:br>
              <a:rPr sz="2400" dirty="0"/>
            </a:br>
            <a:br>
              <a:rPr sz="2400" dirty="0"/>
            </a:br>
            <a:r>
              <a:rPr dirty="0">
                <a:solidFill>
                  <a:srgbClr val="202020"/>
                </a:solidFill>
                <a:latin typeface="Consolas"/>
              </a:rPr>
              <a:t>import "</a:t>
            </a:r>
            <a:r>
              <a:rPr dirty="0" err="1">
                <a:solidFill>
                  <a:srgbClr val="202020"/>
                </a:solidFill>
                <a:latin typeface="Consolas"/>
              </a:rPr>
              <a:t>fmt</a:t>
            </a:r>
            <a:r>
              <a:rPr dirty="0">
                <a:solidFill>
                  <a:srgbClr val="202020"/>
                </a:solidFill>
                <a:latin typeface="Consolas"/>
              </a:rPr>
              <a:t>"</a:t>
            </a:r>
            <a:br>
              <a:rPr sz="2400" dirty="0"/>
            </a:br>
            <a:br>
              <a:rPr sz="2400" dirty="0"/>
            </a:br>
            <a:r>
              <a:rPr dirty="0" err="1">
                <a:solidFill>
                  <a:srgbClr val="202020"/>
                </a:solidFill>
                <a:latin typeface="Consolas"/>
              </a:rPr>
              <a:t>func</a:t>
            </a:r>
            <a:r>
              <a:rPr dirty="0">
                <a:solidFill>
                  <a:srgbClr val="202020"/>
                </a:solidFill>
                <a:latin typeface="Consolas"/>
              </a:rPr>
              <a:t> main() {</a:t>
            </a:r>
            <a:br>
              <a:rPr sz="2400" dirty="0"/>
            </a:br>
            <a:r>
              <a:rPr dirty="0">
                <a:solidFill>
                  <a:srgbClr val="202020"/>
                </a:solidFill>
                <a:latin typeface="Consolas"/>
              </a:rPr>
              <a:t>    </a:t>
            </a:r>
            <a:r>
              <a:rPr dirty="0" err="1">
                <a:solidFill>
                  <a:srgbClr val="202020"/>
                </a:solidFill>
                <a:latin typeface="Consolas"/>
              </a:rPr>
              <a:t>fmt.Println</a:t>
            </a:r>
            <a:r>
              <a:rPr dirty="0">
                <a:solidFill>
                  <a:srgbClr val="202020"/>
                </a:solidFill>
                <a:latin typeface="Consolas"/>
              </a:rPr>
              <a:t>("Hello, World!")</a:t>
            </a:r>
            <a:br>
              <a:rPr sz="2400" dirty="0"/>
            </a:br>
            <a:br>
              <a:rPr sz="2400" dirty="0"/>
            </a:br>
            <a:r>
              <a:rPr dirty="0">
                <a:solidFill>
                  <a:srgbClr val="202020"/>
                </a:solidFill>
                <a:latin typeface="Consolas"/>
              </a:rPr>
              <a:t>    age := 20</a:t>
            </a:r>
            <a:br>
              <a:rPr sz="2400" dirty="0"/>
            </a:br>
            <a:r>
              <a:rPr dirty="0">
                <a:solidFill>
                  <a:srgbClr val="202020"/>
                </a:solidFill>
                <a:latin typeface="Consolas"/>
              </a:rPr>
              <a:t>    </a:t>
            </a:r>
            <a:r>
              <a:rPr dirty="0" err="1">
                <a:solidFill>
                  <a:srgbClr val="202020"/>
                </a:solidFill>
                <a:latin typeface="Consolas"/>
              </a:rPr>
              <a:t>fmt.Println</a:t>
            </a:r>
            <a:r>
              <a:rPr dirty="0">
                <a:solidFill>
                  <a:srgbClr val="202020"/>
                </a:solidFill>
                <a:latin typeface="Consolas"/>
              </a:rPr>
              <a:t>("Age:", age)</a:t>
            </a:r>
            <a:br>
              <a:rPr sz="2400" dirty="0"/>
            </a:br>
            <a:br>
              <a:rPr sz="2400" dirty="0"/>
            </a:br>
            <a:r>
              <a:rPr dirty="0">
                <a:solidFill>
                  <a:srgbClr val="202020"/>
                </a:solidFill>
                <a:latin typeface="Consolas"/>
              </a:rPr>
              <a:t>    </a:t>
            </a:r>
            <a:r>
              <a:rPr dirty="0" err="1">
                <a:solidFill>
                  <a:srgbClr val="202020"/>
                </a:solidFill>
                <a:latin typeface="Consolas"/>
              </a:rPr>
              <a:t>fmt.Printf</a:t>
            </a:r>
            <a:r>
              <a:rPr dirty="0">
                <a:solidFill>
                  <a:srgbClr val="202020"/>
                </a:solidFill>
                <a:latin typeface="Consolas"/>
              </a:rPr>
              <a:t>("Age: %d\n", age)</a:t>
            </a:r>
            <a:br>
              <a:rPr sz="2400" dirty="0"/>
            </a:br>
            <a:r>
              <a:rPr dirty="0">
                <a:solidFill>
                  <a:srgbClr val="202020"/>
                </a:solidFill>
                <a:latin typeface="Consolas"/>
              </a:rPr>
              <a:t>    </a:t>
            </a:r>
            <a:r>
              <a:rPr dirty="0" err="1">
                <a:solidFill>
                  <a:srgbClr val="202020"/>
                </a:solidFill>
                <a:latin typeface="Consolas"/>
              </a:rPr>
              <a:t>fmt.Printf</a:t>
            </a:r>
            <a:r>
              <a:rPr dirty="0">
                <a:solidFill>
                  <a:srgbClr val="202020"/>
                </a:solidFill>
                <a:latin typeface="Consolas"/>
              </a:rPr>
              <a:t>("Name: %s, pi: %.2f\n", "Bob", 3.14159)</a:t>
            </a:r>
            <a:br>
              <a:rPr sz="2400" dirty="0"/>
            </a:br>
            <a:r>
              <a:rPr dirty="0">
                <a:solidFill>
                  <a:srgbClr val="20202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Глаголы форматирования fmt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72640" y="137160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/>
                        <a:t>Глагол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Назначение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%v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значение по умолчанию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%+v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значение с именами полей (для структур)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%#v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Go-синтаксис значения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%T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тип значения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%d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целое число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%f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число с плавающей точкой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%s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строка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%q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строка в кавычках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%t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%p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указатель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%x / %X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шестнадцатеричное представление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%b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двоичное представление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\n vs Println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2377" y="1489166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202020"/>
                </a:solidFill>
                <a:latin typeface="Consolas"/>
              </a:rPr>
              <a:t>fmt.Println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("Hello")            //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добавляет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 \n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автоматически</a:t>
            </a:r>
            <a:br>
              <a:rPr sz="2000" dirty="0"/>
            </a:br>
            <a:r>
              <a:rPr sz="1600" dirty="0" err="1">
                <a:solidFill>
                  <a:srgbClr val="202020"/>
                </a:solidFill>
                <a:latin typeface="Consolas"/>
              </a:rPr>
              <a:t>fmt.Print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("Hello\n")            // \n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нужно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указать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вручную</a:t>
            </a:r>
            <a:br>
              <a:rPr sz="2000" dirty="0"/>
            </a:br>
            <a:r>
              <a:rPr sz="1600" dirty="0" err="1">
                <a:solidFill>
                  <a:srgbClr val="202020"/>
                </a:solidFill>
                <a:latin typeface="Consolas"/>
              </a:rPr>
              <a:t>fmt.Printf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("Hello %s\n", "Bob")  //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форматированный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вывод</a:t>
            </a:r>
            <a:br>
              <a:rPr sz="2000" dirty="0"/>
            </a:br>
            <a:br>
              <a:rPr sz="2000" dirty="0"/>
            </a:br>
            <a:r>
              <a:rPr sz="1600" dirty="0" err="1">
                <a:solidFill>
                  <a:srgbClr val="202020"/>
                </a:solidFill>
                <a:latin typeface="Consolas"/>
              </a:rPr>
              <a:t>fmt.Fprintln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os.Stdout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, "Hello") // в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конкретный</a:t>
            </a:r>
            <a:r>
              <a:rPr sz="1600" dirty="0">
                <a:solidFill>
                  <a:srgbClr val="202020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Consolas"/>
              </a:rPr>
              <a:t>io.Writer</a:t>
            </a:r>
            <a:endParaRPr sz="1600" dirty="0">
              <a:solidFill>
                <a:srgbClr val="20202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02377" y="5603966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/>
              <a:t>В Go нет std::endl и std::flush в привычном смысле.</a:t>
            </a:r>
          </a:p>
          <a:p>
            <a:r>
              <a:t>Используйте fmt.Println, fmt.Print, fmt.Printf.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Ввод — fmt.Scan и fmt.Scanln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1621249"/>
            <a:ext cx="8229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202020"/>
                </a:solidFill>
                <a:latin typeface="Consolas"/>
              </a:rPr>
              <a:t>var x int</a:t>
            </a:r>
            <a:br>
              <a:rPr dirty="0"/>
            </a:br>
            <a:r>
              <a:rPr sz="1400" dirty="0">
                <a:solidFill>
                  <a:srgbClr val="202020"/>
                </a:solidFill>
                <a:latin typeface="Consolas"/>
              </a:rPr>
              <a:t>var y float64</a:t>
            </a:r>
            <a:br>
              <a:rPr dirty="0"/>
            </a:br>
            <a:r>
              <a:rPr sz="1400" dirty="0">
                <a:solidFill>
                  <a:srgbClr val="202020"/>
                </a:solidFill>
                <a:latin typeface="Consolas"/>
              </a:rPr>
              <a:t>var s string</a:t>
            </a:r>
            <a:br>
              <a:rPr dirty="0"/>
            </a:br>
            <a:br>
              <a:rPr dirty="0"/>
            </a:br>
            <a:r>
              <a:rPr sz="1400" dirty="0" err="1">
                <a:solidFill>
                  <a:srgbClr val="202020"/>
                </a:solidFill>
                <a:latin typeface="Consolas"/>
              </a:rPr>
              <a:t>fmt.Scan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(&amp;x, &amp;y, &amp;s)   </a:t>
            </a:r>
            <a:r>
              <a:rPr lang="en-US" sz="1400" dirty="0">
                <a:solidFill>
                  <a:srgbClr val="202020"/>
                </a:solidFill>
                <a:latin typeface="Consolas"/>
              </a:rPr>
              <a:t> 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// </a:t>
            </a:r>
            <a:r>
              <a:rPr sz="1400" dirty="0" err="1">
                <a:solidFill>
                  <a:srgbClr val="202020"/>
                </a:solidFill>
                <a:latin typeface="Consolas"/>
              </a:rPr>
              <a:t>через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Consolas"/>
              </a:rPr>
              <a:t>пробелы</a:t>
            </a:r>
            <a:br>
              <a:rPr dirty="0"/>
            </a:br>
            <a:r>
              <a:rPr sz="1400" dirty="0" err="1">
                <a:solidFill>
                  <a:srgbClr val="202020"/>
                </a:solidFill>
                <a:latin typeface="Consolas"/>
              </a:rPr>
              <a:t>fmt.Scanln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(&amp;x)          // </a:t>
            </a:r>
            <a:r>
              <a:rPr sz="1400" dirty="0" err="1">
                <a:solidFill>
                  <a:srgbClr val="202020"/>
                </a:solidFill>
                <a:latin typeface="Consolas"/>
              </a:rPr>
              <a:t>до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Consolas"/>
              </a:rPr>
              <a:t>конца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Consolas"/>
              </a:rPr>
              <a:t>строки</a:t>
            </a:r>
            <a:br>
              <a:rPr dirty="0"/>
            </a:br>
            <a:br>
              <a:rPr dirty="0"/>
            </a:br>
            <a:r>
              <a:rPr sz="1400" dirty="0" err="1">
                <a:solidFill>
                  <a:srgbClr val="202020"/>
                </a:solidFill>
                <a:latin typeface="Consolas"/>
              </a:rPr>
              <a:t>fmt.Scanf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("%d %f %s", &amp;x, &amp;y, &amp;s)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412377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/>
              <a:t>Scan требует указателей. Пропускает пробельные символы.</a:t>
            </a:r>
          </a:p>
          <a:p>
            <a:r>
              <a:t>Часто удобнее bufio.Scanner.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bufio.Scanner — построчный ввод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72640" y="1613118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202020"/>
                </a:solidFill>
                <a:latin typeface="Consolas"/>
              </a:rPr>
              <a:t>scanner := </a:t>
            </a:r>
            <a:r>
              <a:rPr sz="1400" dirty="0" err="1">
                <a:solidFill>
                  <a:srgbClr val="202020"/>
                </a:solidFill>
                <a:latin typeface="Consolas"/>
              </a:rPr>
              <a:t>bufio.NewScanner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(</a:t>
            </a:r>
            <a:r>
              <a:rPr sz="1400" dirty="0" err="1">
                <a:solidFill>
                  <a:srgbClr val="202020"/>
                </a:solidFill>
                <a:latin typeface="Consolas"/>
              </a:rPr>
              <a:t>os.Stdin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)</a:t>
            </a:r>
            <a:br>
              <a:rPr dirty="0"/>
            </a:br>
            <a:r>
              <a:rPr sz="1400" dirty="0">
                <a:solidFill>
                  <a:srgbClr val="202020"/>
                </a:solidFill>
                <a:latin typeface="Consolas"/>
              </a:rPr>
              <a:t>for </a:t>
            </a:r>
            <a:r>
              <a:rPr sz="1400" dirty="0" err="1">
                <a:solidFill>
                  <a:srgbClr val="202020"/>
                </a:solidFill>
                <a:latin typeface="Consolas"/>
              </a:rPr>
              <a:t>scanner.Scan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() {</a:t>
            </a:r>
            <a:br>
              <a:rPr dirty="0"/>
            </a:br>
            <a:r>
              <a:rPr sz="1400" dirty="0">
                <a:solidFill>
                  <a:srgbClr val="202020"/>
                </a:solidFill>
                <a:latin typeface="Consolas"/>
              </a:rPr>
              <a:t>    line := </a:t>
            </a:r>
            <a:r>
              <a:rPr sz="1400" dirty="0" err="1">
                <a:solidFill>
                  <a:srgbClr val="202020"/>
                </a:solidFill>
                <a:latin typeface="Consolas"/>
              </a:rPr>
              <a:t>scanner.Text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()</a:t>
            </a:r>
            <a:br>
              <a:rPr dirty="0"/>
            </a:br>
            <a:r>
              <a:rPr sz="1400" dirty="0">
                <a:solidFill>
                  <a:srgbClr val="202020"/>
                </a:solidFill>
                <a:latin typeface="Consolas"/>
              </a:rPr>
              <a:t>    </a:t>
            </a:r>
            <a:r>
              <a:rPr sz="1400" dirty="0" err="1">
                <a:solidFill>
                  <a:srgbClr val="202020"/>
                </a:solidFill>
                <a:latin typeface="Consolas"/>
              </a:rPr>
              <a:t>fmt.Println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("line:", line)</a:t>
            </a:r>
            <a:br>
              <a:rPr dirty="0"/>
            </a:br>
            <a:r>
              <a:rPr sz="1400" dirty="0">
                <a:solidFill>
                  <a:srgbClr val="202020"/>
                </a:solidFill>
                <a:latin typeface="Consolas"/>
              </a:rPr>
              <a:t>}</a:t>
            </a:r>
            <a:br>
              <a:rPr dirty="0"/>
            </a:br>
            <a:r>
              <a:rPr sz="1400" dirty="0">
                <a:solidFill>
                  <a:srgbClr val="202020"/>
                </a:solidFill>
                <a:latin typeface="Consolas"/>
              </a:rPr>
              <a:t>if err := </a:t>
            </a:r>
            <a:r>
              <a:rPr sz="1400" dirty="0" err="1">
                <a:solidFill>
                  <a:srgbClr val="202020"/>
                </a:solidFill>
                <a:latin typeface="Consolas"/>
              </a:rPr>
              <a:t>scanner.Err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(); err != nil {</a:t>
            </a:r>
            <a:br>
              <a:rPr dirty="0"/>
            </a:br>
            <a:r>
              <a:rPr sz="1400" dirty="0">
                <a:solidFill>
                  <a:srgbClr val="202020"/>
                </a:solidFill>
                <a:latin typeface="Consolas"/>
              </a:rPr>
              <a:t>    </a:t>
            </a:r>
            <a:r>
              <a:rPr sz="1400" dirty="0" err="1">
                <a:solidFill>
                  <a:srgbClr val="202020"/>
                </a:solidFill>
                <a:latin typeface="Consolas"/>
              </a:rPr>
              <a:t>fmt.Fprintln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(</a:t>
            </a:r>
            <a:r>
              <a:rPr sz="1400" dirty="0" err="1">
                <a:solidFill>
                  <a:srgbClr val="202020"/>
                </a:solidFill>
                <a:latin typeface="Consolas"/>
              </a:rPr>
              <a:t>os.Stderr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, "error:", err)</a:t>
            </a:r>
            <a:br>
              <a:rPr dirty="0"/>
            </a:br>
            <a:r>
              <a:rPr sz="1400" dirty="0">
                <a:solidFill>
                  <a:srgbClr val="20202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2640" y="539496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/>
              <a:t>Scanner читает по строкам (по умолчанию — до \n).</a:t>
            </a:r>
          </a:p>
          <a:p>
            <a:r>
              <a:t>Можно настроить разделитель: scanner.Split(bufio.ScanWords).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strconv</a:t>
            </a:r>
            <a:r>
              <a:rPr dirty="0"/>
              <a:t> </a:t>
            </a:r>
            <a:r>
              <a:rPr lang="en-US" dirty="0"/>
              <a:t>–</a:t>
            </a:r>
            <a:r>
              <a:rPr dirty="0"/>
              <a:t> </a:t>
            </a:r>
            <a:r>
              <a:rPr dirty="0" err="1"/>
              <a:t>преобразование</a:t>
            </a:r>
            <a:r>
              <a:rPr dirty="0"/>
              <a:t> </a:t>
            </a:r>
            <a:r>
              <a:rPr dirty="0" err="1"/>
              <a:t>чисел</a:t>
            </a:r>
            <a:r>
              <a:rPr dirty="0"/>
              <a:t> и </a:t>
            </a:r>
            <a:r>
              <a:rPr dirty="0" err="1"/>
              <a:t>строк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046515" y="1994264"/>
            <a:ext cx="82296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202020"/>
                </a:solidFill>
                <a:latin typeface="Consolas"/>
              </a:rPr>
              <a:t>n, err := </a:t>
            </a:r>
            <a:r>
              <a:rPr sz="1400" dirty="0" err="1">
                <a:solidFill>
                  <a:srgbClr val="202020"/>
                </a:solidFill>
                <a:latin typeface="Consolas"/>
              </a:rPr>
              <a:t>strconv.Atoi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("42")         // string -&gt; int</a:t>
            </a:r>
            <a:br>
              <a:rPr dirty="0"/>
            </a:br>
            <a:r>
              <a:rPr sz="1400" dirty="0">
                <a:solidFill>
                  <a:srgbClr val="202020"/>
                </a:solidFill>
                <a:latin typeface="Consolas"/>
              </a:rPr>
              <a:t>s := </a:t>
            </a:r>
            <a:r>
              <a:rPr sz="1400" dirty="0" err="1">
                <a:solidFill>
                  <a:srgbClr val="202020"/>
                </a:solidFill>
                <a:latin typeface="Consolas"/>
              </a:rPr>
              <a:t>strconv.Itoa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(42)                 // int -&gt; string</a:t>
            </a:r>
            <a:br>
              <a:rPr dirty="0"/>
            </a:br>
            <a:br>
              <a:rPr dirty="0"/>
            </a:br>
            <a:r>
              <a:rPr sz="1400" dirty="0">
                <a:solidFill>
                  <a:srgbClr val="202020"/>
                </a:solidFill>
                <a:latin typeface="Consolas"/>
              </a:rPr>
              <a:t>f, err := </a:t>
            </a:r>
            <a:r>
              <a:rPr sz="1400" dirty="0" err="1">
                <a:solidFill>
                  <a:srgbClr val="202020"/>
                </a:solidFill>
                <a:latin typeface="Consolas"/>
              </a:rPr>
              <a:t>strconv.ParseFloat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("3.14", 64)</a:t>
            </a:r>
            <a:br>
              <a:rPr dirty="0"/>
            </a:br>
            <a:r>
              <a:rPr sz="1400" dirty="0">
                <a:solidFill>
                  <a:srgbClr val="202020"/>
                </a:solidFill>
                <a:latin typeface="Consolas"/>
              </a:rPr>
              <a:t>b, err := </a:t>
            </a:r>
            <a:r>
              <a:rPr sz="1400" dirty="0" err="1">
                <a:solidFill>
                  <a:srgbClr val="202020"/>
                </a:solidFill>
                <a:latin typeface="Consolas"/>
              </a:rPr>
              <a:t>strconv.ParseBool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("true")</a:t>
            </a:r>
            <a:br>
              <a:rPr dirty="0"/>
            </a:br>
            <a:br>
              <a:rPr dirty="0"/>
            </a:br>
            <a:r>
              <a:rPr sz="1400" dirty="0" err="1">
                <a:solidFill>
                  <a:srgbClr val="202020"/>
                </a:solidFill>
                <a:latin typeface="Consolas"/>
              </a:rPr>
              <a:t>fmt.Println</a:t>
            </a:r>
            <a:r>
              <a:rPr sz="1400" dirty="0">
                <a:solidFill>
                  <a:srgbClr val="202020"/>
                </a:solidFill>
                <a:latin typeface="Consolas"/>
              </a:rPr>
              <a:t>(n, s, f, b, err)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-220287"/>
            <a:ext cx="10515600" cy="1325563"/>
          </a:xfrm>
        </p:spPr>
        <p:txBody>
          <a:bodyPr/>
          <a:lstStyle/>
          <a:p>
            <a:r>
              <a:rPr lang="ru-RU" dirty="0"/>
              <a:t>Строки</a:t>
            </a:r>
            <a:endParaRPr lang="ru-RU" sz="4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EEE0EBB-4C19-D22E-D27C-F336E64A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758" y="442495"/>
            <a:ext cx="6868484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61620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-220287"/>
            <a:ext cx="10515600" cy="1325563"/>
          </a:xfrm>
        </p:spPr>
        <p:txBody>
          <a:bodyPr/>
          <a:lstStyle/>
          <a:p>
            <a:r>
              <a:rPr lang="ru-RU" dirty="0"/>
              <a:t>Строки</a:t>
            </a:r>
            <a:endParaRPr lang="ru-RU" sz="4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D71F35-DCE3-3319-D290-52F8FE653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942" y="1099812"/>
            <a:ext cx="6916115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44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-220287"/>
            <a:ext cx="10515600" cy="1325563"/>
          </a:xfrm>
        </p:spPr>
        <p:txBody>
          <a:bodyPr/>
          <a:lstStyle/>
          <a:p>
            <a:r>
              <a:rPr lang="ru-RU" dirty="0"/>
              <a:t>Строки</a:t>
            </a:r>
            <a:endParaRPr lang="ru-RU" sz="4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935EAF-D30E-68DD-90B1-2D1FB5246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232" y="2242972"/>
            <a:ext cx="6887536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55462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-220287"/>
            <a:ext cx="10515600" cy="1325563"/>
          </a:xfrm>
        </p:spPr>
        <p:txBody>
          <a:bodyPr/>
          <a:lstStyle/>
          <a:p>
            <a:r>
              <a:rPr lang="ru-RU" dirty="0"/>
              <a:t>Строки</a:t>
            </a:r>
            <a:endParaRPr lang="ru-RU" sz="4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935EAF-D30E-68DD-90B1-2D1FB5246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232" y="2242972"/>
            <a:ext cx="6887536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45136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-220287"/>
            <a:ext cx="10515600" cy="1325563"/>
          </a:xfrm>
        </p:spPr>
        <p:txBody>
          <a:bodyPr/>
          <a:lstStyle/>
          <a:p>
            <a:r>
              <a:rPr lang="ru-RU" dirty="0"/>
              <a:t>Строки</a:t>
            </a:r>
            <a:endParaRPr lang="ru-RU" sz="4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D15D20-9E1D-9498-3DBF-EED8F8628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758" y="213864"/>
            <a:ext cx="6868484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89257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-220287"/>
            <a:ext cx="10515600" cy="1325563"/>
          </a:xfrm>
        </p:spPr>
        <p:txBody>
          <a:bodyPr/>
          <a:lstStyle/>
          <a:p>
            <a:r>
              <a:rPr lang="ru-RU" dirty="0"/>
              <a:t>Строки</a:t>
            </a:r>
            <a:endParaRPr lang="ru-RU" sz="4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B6A4F2-3605-9175-FAAC-4E8763DAA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311" y="1190312"/>
            <a:ext cx="7011378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64873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-220287"/>
            <a:ext cx="10515600" cy="1325563"/>
          </a:xfrm>
        </p:spPr>
        <p:txBody>
          <a:bodyPr/>
          <a:lstStyle/>
          <a:p>
            <a:r>
              <a:rPr lang="ru-RU" dirty="0"/>
              <a:t>Строки</a:t>
            </a:r>
            <a:endParaRPr lang="ru-RU" sz="4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06BAAB-DD75-E8EF-D7A5-0D7E5ECD9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047" y="299601"/>
            <a:ext cx="6839905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660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-220287"/>
            <a:ext cx="10515600" cy="1325563"/>
          </a:xfrm>
        </p:spPr>
        <p:txBody>
          <a:bodyPr/>
          <a:lstStyle/>
          <a:p>
            <a:r>
              <a:rPr lang="ru-RU" dirty="0"/>
              <a:t>Строки</a:t>
            </a:r>
            <a:endParaRPr lang="ru-RU" sz="4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46427F-D16F-8175-C928-E38E9E645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468" y="1233181"/>
            <a:ext cx="6897063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9517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-220287"/>
            <a:ext cx="10515600" cy="1325563"/>
          </a:xfrm>
        </p:spPr>
        <p:txBody>
          <a:bodyPr/>
          <a:lstStyle/>
          <a:p>
            <a:r>
              <a:rPr lang="ru-RU" dirty="0"/>
              <a:t>Строки</a:t>
            </a:r>
            <a:endParaRPr lang="ru-RU" sz="4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A4BA33-585D-C816-8415-39F6D0CD7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284" y="1614234"/>
            <a:ext cx="6849431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15910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52FD85D7-CD66-83AE-F9CE-F9DCA2AC9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1557338"/>
            <a:ext cx="49530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57815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Массив чисел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Длина фиксирована и = 8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Все элементы типа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Все элементы инициализированы нулевым значением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ru-RU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2000" b="0" dirty="0">
              <a:solidFill>
                <a:srgbClr val="267F99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(planets)</a:t>
            </a:r>
          </a:p>
          <a:p>
            <a:pPr marL="0" indent="0"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25836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Вначале пустой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planets[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Меркурий"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Присваивает планете индекс 0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planets[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Венера"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planets[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Земля"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Ещё один массив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Церера"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"Плутон"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Хаумеа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Макемаке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"Эрида"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Длина определяется по количеству элементов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[...]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Компилятор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Go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подсчитывает элементы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"Меркурий"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"Венера"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"Земля"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"Марс"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"Юпитер"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"Сатурн"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"Уран"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"Нептун"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Запятая в самом конце является обязательной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47033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81175"/>
            <a:ext cx="10772775" cy="439578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[...]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Меркурий"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"Венера"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"Земля"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"Марс"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"Юпитер"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"Сатурн"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"Уран"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"Нептун"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planetsMarkII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planets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Копирует массив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planets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planets[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упс"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Прокладывает путь для межзвездного шунтирования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(planets)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Выводит: [Меркурий Венера упс Марс Юпитер Сатурн Уран Нептун]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planetsMarkII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Выводит: [Меркурий Венера Земля Марс Юпитер Сатурн Уран Нептун]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48116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772775" cy="448627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[...]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Меркурий"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"Венера"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"Земля"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"Марс"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"Юпитер"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"Сатурн"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"Уран"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"Нептун"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planetsMarkII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planets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Копирует массив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planets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planets[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упс"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Прокладывает путь для межзвездного шунтирования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(planets)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Выводит: [Меркурий Венера упс Марс Юпитер Сатурн Уран Нептун]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planetsMarkII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Выводит: [Меркурий Венера Земля Марс Юпитер Сатурн Уран Нептун]</a:t>
            </a:r>
            <a:endParaRPr lang="en-US" sz="16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planetsMarkIII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planets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Тоже работает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planetsMarkIV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planets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8104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  <a:r>
              <a:rPr lang="en-US" dirty="0"/>
              <a:t> </a:t>
            </a:r>
            <a:r>
              <a:rPr lang="ru-RU" dirty="0"/>
              <a:t>многомерные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772775" cy="448627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Массив из 3 массивов с 3 строками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Координаты [ряд][столбец]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board[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"1"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board[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board[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"3"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board[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"4"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board[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board[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"6"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board[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"7"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board[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"8"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board[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"9"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:=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(board[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board[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board[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29336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  <a:r>
              <a:rPr lang="en-US" dirty="0"/>
              <a:t> </a:t>
            </a:r>
            <a:r>
              <a:rPr lang="ru-RU" dirty="0"/>
              <a:t>многомерные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150" y="1690688"/>
            <a:ext cx="10410824" cy="4486275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endParaRPr lang="en-US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 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{{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{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{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:=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(board[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board[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board[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9829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Срез (слайс)</a:t>
            </a:r>
          </a:p>
        </p:txBody>
      </p:sp>
      <p:pic>
        <p:nvPicPr>
          <p:cNvPr id="11266" name="Picture 2" descr="Slice Components">
            <a:extLst>
              <a:ext uri="{FF2B5EF4-FFF2-40B4-BE49-F238E27FC236}">
                <a16:creationId xmlns:a16="http://schemas.microsoft.com/office/drawing/2014/main" id="{77C2F7C9-147F-5F72-69A3-5EE928A14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038" y="1881188"/>
            <a:ext cx="6257925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35623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Срез (слайс)</a:t>
            </a:r>
          </a:p>
        </p:txBody>
      </p:sp>
      <p:pic>
        <p:nvPicPr>
          <p:cNvPr id="15362" name="Picture 2" descr="Example of slice components">
            <a:extLst>
              <a:ext uri="{FF2B5EF4-FFF2-40B4-BE49-F238E27FC236}">
                <a16:creationId xmlns:a16="http://schemas.microsoft.com/office/drawing/2014/main" id="{E1BE8525-9F4E-0E8C-D7A6-EF490ACB4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325" y="1657350"/>
            <a:ext cx="851535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869331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Слайс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Срез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чисел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Длина может изменяться</a:t>
            </a: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Все элементы типа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Сейчас никуда не ссылается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[]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(planets ==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nil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03033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Слайс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make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создаст новый слайс для 10 элементов и 3 из них </a:t>
            </a:r>
            <a:r>
              <a:rPr lang="ru-RU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занулит</a:t>
            </a:r>
            <a:endParaRPr lang="ru-RU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Сейчас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ссылается на массив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[]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(planets, planets ==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nil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46307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Слайс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[]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planetsII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[]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planetsIII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planetsII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planetsII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planetsIII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ссыдаются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на один и тот же массив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(planets,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planetsII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planetsIII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1317185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Слайс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endParaRPr lang="en-US" sz="2000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:= 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НЕ слайс, это массив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planets[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(planets, other)</a:t>
            </a:r>
          </a:p>
          <a:p>
            <a:pPr marL="0" indent="0">
              <a:spcBef>
                <a:spcPts val="600"/>
              </a:spcBef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planets[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(planets, other)</a:t>
            </a:r>
          </a:p>
          <a:p>
            <a:pPr marL="0" indent="0">
              <a:spcBef>
                <a:spcPts val="600"/>
              </a:spcBef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-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(planets, other)</a:t>
            </a:r>
          </a:p>
        </p:txBody>
      </p:sp>
    </p:spTree>
    <p:extLst>
      <p:ext uri="{BB962C8B-B14F-4D97-AF65-F5344CB8AC3E}">
        <p14:creationId xmlns:p14="http://schemas.microsoft.com/office/powerpoint/2010/main" val="372990900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Слайс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001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:= 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НЕ слайс, это массив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planets[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 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[1, 2]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planets[: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 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[1, 2]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otherII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planets[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:]  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[3, 4, 5]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otherIII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planets[:]  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[1, 2, 3, 4, 5]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53676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Многомерный слайс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sz="2000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1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seaNames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[][]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{{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"shark"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"octopus"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"squid"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"mantis shrimp"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"Sammy"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"Jesse"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"Drew"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"Jamie"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seaNames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174354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ru-RU" dirty="0" err="1"/>
              <a:t>лайс</a:t>
            </a:r>
            <a:r>
              <a:rPr lang="en-US" dirty="0"/>
              <a:t> – </a:t>
            </a:r>
            <a:r>
              <a:rPr lang="ru-RU" dirty="0"/>
              <a:t>основные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675"/>
            <a:ext cx="10515600" cy="4586288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[]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текущая длина слайса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cap -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ёмкость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(planets,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(planets),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(planets))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[1, 2, 3, 4, 5] 5 5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(planets,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(planets,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(planets),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(planets))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[1, 2, 3, 4, 5, 9] 6 10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newPlanets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newPlanets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planets)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newPlanets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newPlanets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newPlanets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[1, 2, 3] 3 20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newPlanets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newPlanets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planets...)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newPlanets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newPlanets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newPlanets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 2 3 1 2 3 4 5 9] 9 20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Удалим 2 элемент из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planets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planets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(planets[: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planets[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:]...)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(planets)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[1, 2, 4, 5, 9]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hlinkClick r:id="rId2"/>
              </a:rPr>
              <a:t>https://pkg.go.dev/slices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47166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ru-RU" dirty="0" err="1"/>
              <a:t>лайс</a:t>
            </a:r>
            <a:r>
              <a:rPr lang="en-US" dirty="0"/>
              <a:t> – append </a:t>
            </a:r>
            <a:r>
              <a:rPr lang="ru-RU" dirty="0"/>
              <a:t>особенности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251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1900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</a:t>
            </a:r>
            <a:r>
              <a:rPr lang="en-US" sz="1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array[:</a:t>
            </a:r>
            <a:r>
              <a:rPr lang="en-US" sz="1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[5, 5, 5]</a:t>
            </a:r>
            <a:endParaRPr lang="en-US" sz="1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(array, </a:t>
            </a:r>
            <a:r>
              <a:rPr lang="en-US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[5, 5, 5, 10, 5] [5, 5, 5, 10]</a:t>
            </a:r>
            <a:endParaRPr lang="en-US" sz="1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Слайс переполнится и создаст другой массив для себя</a:t>
            </a:r>
            <a:endParaRPr lang="ru-RU" sz="1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(array, </a:t>
            </a:r>
            <a:r>
              <a:rPr lang="en-US" sz="1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[5, 5, 5, 10, 5] [5, 5, 5, 10, 11, 12]</a:t>
            </a:r>
            <a:endParaRPr lang="en-US" sz="1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6958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2402</TotalTime>
  <Words>7354</Words>
  <Application>Microsoft Office PowerPoint</Application>
  <PresentationFormat>Широкоэкранный</PresentationFormat>
  <Paragraphs>1113</Paragraphs>
  <Slides>101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101</vt:i4>
      </vt:variant>
    </vt:vector>
  </HeadingPairs>
  <TitlesOfParts>
    <vt:vector size="106" baseType="lpstr">
      <vt:lpstr>Arial</vt:lpstr>
      <vt:lpstr>Calibri</vt:lpstr>
      <vt:lpstr>Calibri Light</vt:lpstr>
      <vt:lpstr>Consolas</vt:lpstr>
      <vt:lpstr>Тема Office</vt:lpstr>
      <vt:lpstr>Алгоритмизация и программирование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Первая модель программы на Go</vt:lpstr>
      <vt:lpstr>Только один файл</vt:lpstr>
      <vt:lpstr>Структура программы</vt:lpstr>
      <vt:lpstr>Минимальная программа</vt:lpstr>
      <vt:lpstr>Подключение нескольких библиотек</vt:lpstr>
      <vt:lpstr>Комментарии</vt:lpstr>
      <vt:lpstr>Программа просто запускается</vt:lpstr>
      <vt:lpstr>Структура кода в main</vt:lpstr>
      <vt:lpstr>Стейтмент (statement)</vt:lpstr>
      <vt:lpstr>Виды стейтментов</vt:lpstr>
      <vt:lpstr>Виды стейтментов в Go</vt:lpstr>
      <vt:lpstr>Empty Statement (Пустой стейтмент)</vt:lpstr>
      <vt:lpstr>Expression Statement (Стейтмент-выражение)</vt:lpstr>
      <vt:lpstr>Expression Statement – вызов функции/метода</vt:lpstr>
      <vt:lpstr>Expression Statement – получение из канала</vt:lpstr>
      <vt:lpstr>Выражения но НЕ Expression Statement</vt:lpstr>
      <vt:lpstr>Автоматическая вставка точек с запятой</vt:lpstr>
      <vt:lpstr>Автоматическая вставка точек с запятой</vt:lpstr>
      <vt:lpstr>Выражение (expression)</vt:lpstr>
      <vt:lpstr>Литералы</vt:lpstr>
      <vt:lpstr>Операторы</vt:lpstr>
      <vt:lpstr>Приоритет и ассоциативность операторов</vt:lpstr>
      <vt:lpstr>Expression</vt:lpstr>
      <vt:lpstr>Условный оператор</vt:lpstr>
      <vt:lpstr>Тип bool </vt:lpstr>
      <vt:lpstr>Преобразование типа bool </vt:lpstr>
      <vt:lpstr>Преобразование типа bool руками </vt:lpstr>
      <vt:lpstr>Откуда берётся true и false</vt:lpstr>
      <vt:lpstr>Логические операторы</vt:lpstr>
      <vt:lpstr>Логические операторы. Возможные ошибки</vt:lpstr>
      <vt:lpstr>if</vt:lpstr>
      <vt:lpstr>if выражение</vt:lpstr>
      <vt:lpstr>If инициализация; проверка</vt:lpstr>
      <vt:lpstr>if-else</vt:lpstr>
      <vt:lpstr>Презентация PowerPoint</vt:lpstr>
      <vt:lpstr>Тернарный оператор </vt:lpstr>
      <vt:lpstr>switch ExprSwitchStmt | TypeSwitchStmt</vt:lpstr>
      <vt:lpstr>switch ExprSwitchStmt (по выражению)</vt:lpstr>
      <vt:lpstr>switch выражение</vt:lpstr>
      <vt:lpstr>switch - fallthrough</vt:lpstr>
      <vt:lpstr>switch инициализация; выражение</vt:lpstr>
      <vt:lpstr>switch TypeSwitchStmt (по типу)</vt:lpstr>
      <vt:lpstr>goto</vt:lpstr>
      <vt:lpstr>Оператор цикла</vt:lpstr>
      <vt:lpstr>Оператор цикла</vt:lpstr>
      <vt:lpstr>for</vt:lpstr>
      <vt:lpstr>for выражение</vt:lpstr>
      <vt:lpstr>Бесконечный цикл</vt:lpstr>
      <vt:lpstr>Оператор цикла for</vt:lpstr>
      <vt:lpstr>for</vt:lpstr>
      <vt:lpstr>for SimpleStmt; Выражение; SimpleStmt</vt:lpstr>
      <vt:lpstr>for RangeClause</vt:lpstr>
      <vt:lpstr>for RangeClause</vt:lpstr>
      <vt:lpstr>for RangeClause пример - Массив (array)</vt:lpstr>
      <vt:lpstr>for RangeClause пример - Срез (slice)</vt:lpstr>
      <vt:lpstr>for RangeClause пример - Строка (string)</vt:lpstr>
      <vt:lpstr>for RangeClause пример - Map</vt:lpstr>
      <vt:lpstr>for RangeClause пример - Канал (channel)</vt:lpstr>
      <vt:lpstr>for RangeClause пример - Целое число (integer value)</vt:lpstr>
      <vt:lpstr>for RangeClause пример - Функция, 0 значений (Go 1.23+)</vt:lpstr>
      <vt:lpstr>for RangeClause пример - Функция, 1 значений (Go 1.23+)</vt:lpstr>
      <vt:lpstr>for RangeClause пример - Функция, 2 значений (Go 1.23+)</vt:lpstr>
      <vt:lpstr>Потоки и стандартные устройства</vt:lpstr>
      <vt:lpstr>Буферизация</vt:lpstr>
      <vt:lpstr>fmt.Println — вывод</vt:lpstr>
      <vt:lpstr>Глаголы форматирования fmt</vt:lpstr>
      <vt:lpstr>\n vs Println</vt:lpstr>
      <vt:lpstr>Ввод — fmt.Scan и fmt.Scanln</vt:lpstr>
      <vt:lpstr>bufio.Scanner — построчный ввод</vt:lpstr>
      <vt:lpstr>strconv – преобразование чисел и строк</vt:lpstr>
      <vt:lpstr>Строки</vt:lpstr>
      <vt:lpstr>Строки</vt:lpstr>
      <vt:lpstr>Строки</vt:lpstr>
      <vt:lpstr>Строки</vt:lpstr>
      <vt:lpstr>Строки</vt:lpstr>
      <vt:lpstr>Строки</vt:lpstr>
      <vt:lpstr>Строки</vt:lpstr>
      <vt:lpstr>Строки</vt:lpstr>
      <vt:lpstr>Строки</vt:lpstr>
      <vt:lpstr>Массивы</vt:lpstr>
      <vt:lpstr>Массивы</vt:lpstr>
      <vt:lpstr>Массивы</vt:lpstr>
      <vt:lpstr>Массивы</vt:lpstr>
      <vt:lpstr>Массивы</vt:lpstr>
      <vt:lpstr>Массивы многомерные</vt:lpstr>
      <vt:lpstr>Массивы многомерные</vt:lpstr>
      <vt:lpstr>Срез (слайс)</vt:lpstr>
      <vt:lpstr>Срез (слайс)</vt:lpstr>
      <vt:lpstr>Слайс</vt:lpstr>
      <vt:lpstr>Слайс</vt:lpstr>
      <vt:lpstr>Слайс</vt:lpstr>
      <vt:lpstr>Слайс</vt:lpstr>
      <vt:lpstr>Слайс</vt:lpstr>
      <vt:lpstr>Многомерный слайс</vt:lpstr>
      <vt:lpstr>Cлайс – основные функции</vt:lpstr>
      <vt:lpstr>Cлайс – append особенности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Professional</dc:creator>
  <cp:lastModifiedBy>Professional</cp:lastModifiedBy>
  <cp:revision>365</cp:revision>
  <dcterms:created xsi:type="dcterms:W3CDTF">2022-09-17T16:00:43Z</dcterms:created>
  <dcterms:modified xsi:type="dcterms:W3CDTF">2026-10-02T02:37:51Z</dcterms:modified>
</cp:coreProperties>
</file>