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7"/>
  </p:notesMasterIdLst>
  <p:handoutMasterIdLst>
    <p:handoutMasterId r:id="rId138"/>
  </p:handoutMasterIdLst>
  <p:sldIdLst>
    <p:sldId id="256" r:id="rId2"/>
    <p:sldId id="393" r:id="rId3"/>
    <p:sldId id="395" r:id="rId4"/>
    <p:sldId id="396" r:id="rId5"/>
    <p:sldId id="397" r:id="rId6"/>
    <p:sldId id="398" r:id="rId7"/>
    <p:sldId id="399" r:id="rId8"/>
    <p:sldId id="400" r:id="rId9"/>
    <p:sldId id="401" r:id="rId10"/>
    <p:sldId id="402" r:id="rId11"/>
    <p:sldId id="403" r:id="rId12"/>
    <p:sldId id="433" r:id="rId13"/>
    <p:sldId id="434" r:id="rId14"/>
    <p:sldId id="478" r:id="rId15"/>
    <p:sldId id="404" r:id="rId16"/>
    <p:sldId id="436" r:id="rId17"/>
    <p:sldId id="415" r:id="rId18"/>
    <p:sldId id="406" r:id="rId19"/>
    <p:sldId id="407" r:id="rId20"/>
    <p:sldId id="409" r:id="rId21"/>
    <p:sldId id="440" r:id="rId22"/>
    <p:sldId id="410" r:id="rId23"/>
    <p:sldId id="439" r:id="rId24"/>
    <p:sldId id="411" r:id="rId25"/>
    <p:sldId id="425" r:id="rId26"/>
    <p:sldId id="412" r:id="rId27"/>
    <p:sldId id="457" r:id="rId28"/>
    <p:sldId id="456" r:id="rId29"/>
    <p:sldId id="416" r:id="rId30"/>
    <p:sldId id="447" r:id="rId31"/>
    <p:sldId id="446" r:id="rId32"/>
    <p:sldId id="448" r:id="rId33"/>
    <p:sldId id="449" r:id="rId34"/>
    <p:sldId id="450" r:id="rId35"/>
    <p:sldId id="451" r:id="rId36"/>
    <p:sldId id="452" r:id="rId37"/>
    <p:sldId id="453" r:id="rId38"/>
    <p:sldId id="442" r:id="rId39"/>
    <p:sldId id="454" r:id="rId40"/>
    <p:sldId id="443" r:id="rId41"/>
    <p:sldId id="455" r:id="rId42"/>
    <p:sldId id="458" r:id="rId43"/>
    <p:sldId id="459" r:id="rId44"/>
    <p:sldId id="408" r:id="rId45"/>
    <p:sldId id="419" r:id="rId46"/>
    <p:sldId id="418" r:id="rId47"/>
    <p:sldId id="441" r:id="rId48"/>
    <p:sldId id="460" r:id="rId49"/>
    <p:sldId id="461" r:id="rId50"/>
    <p:sldId id="462" r:id="rId51"/>
    <p:sldId id="463" r:id="rId52"/>
    <p:sldId id="464" r:id="rId53"/>
    <p:sldId id="465" r:id="rId54"/>
    <p:sldId id="466" r:id="rId55"/>
    <p:sldId id="467" r:id="rId56"/>
    <p:sldId id="468" r:id="rId57"/>
    <p:sldId id="340" r:id="rId58"/>
    <p:sldId id="313" r:id="rId59"/>
    <p:sldId id="311" r:id="rId60"/>
    <p:sldId id="315" r:id="rId61"/>
    <p:sldId id="314" r:id="rId62"/>
    <p:sldId id="316" r:id="rId63"/>
    <p:sldId id="317" r:id="rId64"/>
    <p:sldId id="318" r:id="rId65"/>
    <p:sldId id="319" r:id="rId66"/>
    <p:sldId id="380" r:id="rId67"/>
    <p:sldId id="320" r:id="rId68"/>
    <p:sldId id="381" r:id="rId69"/>
    <p:sldId id="382" r:id="rId70"/>
    <p:sldId id="321" r:id="rId71"/>
    <p:sldId id="322" r:id="rId72"/>
    <p:sldId id="324" r:id="rId73"/>
    <p:sldId id="325" r:id="rId74"/>
    <p:sldId id="338" r:id="rId75"/>
    <p:sldId id="326" r:id="rId76"/>
    <p:sldId id="383" r:id="rId77"/>
    <p:sldId id="327" r:id="rId78"/>
    <p:sldId id="328" r:id="rId79"/>
    <p:sldId id="329" r:id="rId80"/>
    <p:sldId id="384" r:id="rId81"/>
    <p:sldId id="331" r:id="rId82"/>
    <p:sldId id="332" r:id="rId83"/>
    <p:sldId id="493" r:id="rId84"/>
    <p:sldId id="495" r:id="rId85"/>
    <p:sldId id="494" r:id="rId86"/>
    <p:sldId id="497" r:id="rId87"/>
    <p:sldId id="334" r:id="rId88"/>
    <p:sldId id="496" r:id="rId89"/>
    <p:sldId id="335" r:id="rId90"/>
    <p:sldId id="336" r:id="rId91"/>
    <p:sldId id="337" r:id="rId92"/>
    <p:sldId id="341" r:id="rId93"/>
    <p:sldId id="342" r:id="rId94"/>
    <p:sldId id="349" r:id="rId95"/>
    <p:sldId id="350" r:id="rId96"/>
    <p:sldId id="385" r:id="rId97"/>
    <p:sldId id="351" r:id="rId98"/>
    <p:sldId id="352" r:id="rId99"/>
    <p:sldId id="354" r:id="rId100"/>
    <p:sldId id="356" r:id="rId101"/>
    <p:sldId id="386" r:id="rId102"/>
    <p:sldId id="357" r:id="rId103"/>
    <p:sldId id="358" r:id="rId104"/>
    <p:sldId id="471" r:id="rId105"/>
    <p:sldId id="477" r:id="rId106"/>
    <p:sldId id="472" r:id="rId107"/>
    <p:sldId id="473" r:id="rId108"/>
    <p:sldId id="474" r:id="rId109"/>
    <p:sldId id="475" r:id="rId110"/>
    <p:sldId id="476" r:id="rId111"/>
    <p:sldId id="369" r:id="rId112"/>
    <p:sldId id="389" r:id="rId113"/>
    <p:sldId id="370" r:id="rId114"/>
    <p:sldId id="374" r:id="rId115"/>
    <p:sldId id="371" r:id="rId116"/>
    <p:sldId id="373" r:id="rId117"/>
    <p:sldId id="376" r:id="rId118"/>
    <p:sldId id="377" r:id="rId119"/>
    <p:sldId id="378" r:id="rId120"/>
    <p:sldId id="392" r:id="rId121"/>
    <p:sldId id="390" r:id="rId122"/>
    <p:sldId id="391" r:id="rId123"/>
    <p:sldId id="360" r:id="rId124"/>
    <p:sldId id="388" r:id="rId125"/>
    <p:sldId id="387" r:id="rId126"/>
    <p:sldId id="469" r:id="rId127"/>
    <p:sldId id="470" r:id="rId128"/>
    <p:sldId id="479" r:id="rId129"/>
    <p:sldId id="488" r:id="rId130"/>
    <p:sldId id="489" r:id="rId131"/>
    <p:sldId id="490" r:id="rId132"/>
    <p:sldId id="491" r:id="rId133"/>
    <p:sldId id="492" r:id="rId134"/>
    <p:sldId id="480" r:id="rId135"/>
    <p:sldId id="487" r:id="rId13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banov.vvg@gmail.com" initials="" lastIdx="1" clrIdx="0">
    <p:extLst>
      <p:ext uri="{19B8F6BF-5375-455C-9EA6-DF929625EA0E}">
        <p15:presenceInfo xmlns:p15="http://schemas.microsoft.com/office/powerpoint/2012/main" userId="87f8ba0dfed8816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3399"/>
    <a:srgbClr val="1515A3"/>
    <a:srgbClr val="3232B4"/>
    <a:srgbClr val="0064C8"/>
    <a:srgbClr val="0064FF"/>
    <a:srgbClr val="0064E6"/>
    <a:srgbClr val="005EEB"/>
    <a:srgbClr val="0040F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005" autoAdjust="0"/>
    <p:restoredTop sz="94684" autoAdjust="0"/>
  </p:normalViewPr>
  <p:slideViewPr>
    <p:cSldViewPr>
      <p:cViewPr varScale="1">
        <p:scale>
          <a:sx n="80" d="100"/>
          <a:sy n="80" d="100"/>
        </p:scale>
        <p:origin x="120" y="5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2" d="100"/>
          <a:sy n="92" d="100"/>
        </p:scale>
        <p:origin x="-3780" y="-120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handoutMaster" Target="handoutMasters/handout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commentAuthors" Target="commentAuthor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77496C-BF1A-4C2E-8178-AB01FAC34F7B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50305B-111E-4FE2-B556-DAA33CA92D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2713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FA738-8BA6-4619-A55B-C325AF866D0B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CBDB9-A4CC-4E02-B4D7-924E721191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8457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8520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5012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6301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176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3113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8232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6673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151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96717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610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7981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0948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72765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60303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3427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CBDB9-A4CC-4E02-B4D7-924E72119184}" type="slidenum">
              <a:rPr lang="ru-RU" smtClean="0"/>
              <a:t>133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8166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14400" y="1532391"/>
            <a:ext cx="10363200" cy="1470025"/>
          </a:xfrm>
        </p:spPr>
        <p:txBody>
          <a:bodyPr>
            <a:normAutofit/>
          </a:bodyPr>
          <a:lstStyle>
            <a:lvl1pPr algn="ctr">
              <a:defRPr sz="3200" b="1" baseline="0">
                <a:solidFill>
                  <a:srgbClr val="003399"/>
                </a:solidFill>
                <a:latin typeface="+mn-lt"/>
                <a:cs typeface="Consolas" panose="020B0609020204030204" pitchFamily="49" charset="0"/>
              </a:defRPr>
            </a:lvl1pPr>
          </a:lstStyle>
          <a:p>
            <a:r>
              <a:rPr lang="ru-RU" dirty="0"/>
              <a:t>Заголовок презентации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911424" y="3140968"/>
            <a:ext cx="10369152" cy="1752600"/>
          </a:xfrm>
        </p:spPr>
        <p:txBody>
          <a:bodyPr>
            <a:normAutofit/>
          </a:bodyPr>
          <a:lstStyle>
            <a:lvl1pPr marL="0" indent="0" algn="ctr">
              <a:buNone/>
              <a:defRPr sz="3200" baseline="0">
                <a:solidFill>
                  <a:srgbClr val="003399"/>
                </a:solidFill>
                <a:latin typeface="+mn-lt"/>
                <a:cs typeface="Consolas" panose="020B0609020204030204" pitchFamily="49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Подзаголовок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д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911424" y="476672"/>
            <a:ext cx="10369152" cy="5472608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3200" baseline="0">
                <a:solidFill>
                  <a:srgbClr val="003399"/>
                </a:solidFill>
                <a:latin typeface="+mn-lt"/>
                <a:cs typeface="Consolas" panose="020B0609020204030204" pitchFamily="49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Подзаголовок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702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5360" y="274638"/>
            <a:ext cx="11521280" cy="850106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583500" y="1600206"/>
            <a:ext cx="10273141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335360" y="6356357"/>
            <a:ext cx="2844800" cy="365125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011840" y="6356357"/>
            <a:ext cx="28448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Содержимое 2"/>
          <p:cNvSpPr>
            <a:spLocks noGrp="1"/>
          </p:cNvSpPr>
          <p:nvPr>
            <p:ph idx="1" hasCustomPrompt="1"/>
          </p:nvPr>
        </p:nvSpPr>
        <p:spPr>
          <a:xfrm>
            <a:off x="1583500" y="1600206"/>
            <a:ext cx="10273141" cy="4525963"/>
          </a:xfrm>
        </p:spPr>
        <p:txBody>
          <a:bodyPr/>
          <a:lstStyle>
            <a:lvl1pPr marL="0" indent="0">
              <a:buNone/>
              <a:defRPr sz="2400" b="0" i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621386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Содержимое 2"/>
          <p:cNvSpPr>
            <a:spLocks noGrp="1"/>
          </p:cNvSpPr>
          <p:nvPr>
            <p:ph idx="1" hasCustomPrompt="1"/>
          </p:nvPr>
        </p:nvSpPr>
        <p:spPr>
          <a:xfrm>
            <a:off x="1583500" y="1600206"/>
            <a:ext cx="10273141" cy="4525963"/>
          </a:xfrm>
        </p:spPr>
        <p:txBody>
          <a:bodyPr/>
          <a:lstStyle>
            <a:lvl1pPr marL="0" indent="0">
              <a:buNone/>
              <a:defRPr sz="2400" b="0" i="0">
                <a:latin typeface="Consolas" panose="020B0609020204030204" pitchFamily="49" charset="0"/>
                <a:ea typeface="Tahoma" panose="020B0604030504040204" pitchFamily="34" charset="0"/>
                <a:cs typeface="Consolas" panose="020B0609020204030204" pitchFamily="49" charset="0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ru-RU" dirty="0"/>
              <a:t>Код</a:t>
            </a:r>
          </a:p>
        </p:txBody>
      </p:sp>
    </p:spTree>
    <p:extLst>
      <p:ext uri="{BB962C8B-B14F-4D97-AF65-F5344CB8AC3E}">
        <p14:creationId xmlns:p14="http://schemas.microsoft.com/office/powerpoint/2010/main" val="1090754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45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5360" y="274638"/>
            <a:ext cx="11521280" cy="8501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583500" y="1600206"/>
            <a:ext cx="1027195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335360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011840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0" r:id="rId3"/>
    <p:sldLayoutId id="2147483660" r:id="rId4"/>
    <p:sldLayoutId id="2147483661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rgbClr val="003399"/>
          </a:solidFill>
          <a:latin typeface="+mn-lt"/>
          <a:ea typeface="+mj-ea"/>
          <a:cs typeface="Consolas" panose="020B0609020204030204" pitchFamily="49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64C8"/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Consolas" panose="020B0609020204030204" pitchFamily="49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64C8"/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Consolas" panose="020B0609020204030204" pitchFamily="49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64C8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Consolas" panose="020B0609020204030204" pitchFamily="49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64C8"/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Consolas" panose="020B0609020204030204" pitchFamily="49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0064C8"/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Consolas" panose="020B0609020204030204" pitchFamily="49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hyperlink" Target="https://go.dev/ref/spec#Conversions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Программирование на языке </a:t>
            </a:r>
            <a:r>
              <a:rPr lang="en-US" dirty="0"/>
              <a:t>Go</a:t>
            </a:r>
            <a:br>
              <a:rPr lang="ru-RU" dirty="0"/>
            </a:br>
            <a:r>
              <a:rPr lang="ru-RU" dirty="0"/>
              <a:t>Лекция </a:t>
            </a:r>
            <a:r>
              <a:rPr lang="en-US"/>
              <a:t>5-6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8387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данных </a:t>
            </a:r>
            <a:r>
              <a:rPr lang="en-US" dirty="0"/>
              <a:t>Go</a:t>
            </a:r>
            <a:endParaRPr lang="ru-RU" dirty="0"/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5FA5A6E4-7CB4-469B-89BF-9065DDDE2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 lnSpcReduction="10000"/>
          </a:bodyPr>
          <a:lstStyle/>
          <a:p>
            <a:r>
              <a:rPr lang="ru-RU" sz="1100" dirty="0">
                <a:latin typeface="Consolas" panose="020B0609020204030204" pitchFamily="49" charset="0"/>
              </a:rPr>
              <a:t>Типы данных </a:t>
            </a:r>
            <a:r>
              <a:rPr lang="en-US" sz="1100" dirty="0">
                <a:latin typeface="Consolas" panose="020B0609020204030204" pitchFamily="49" charset="0"/>
              </a:rPr>
              <a:t>Go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├── </a:t>
            </a:r>
            <a:r>
              <a:rPr lang="ru-RU" sz="1100" dirty="0">
                <a:latin typeface="Consolas" panose="020B0609020204030204" pitchFamily="49" charset="0"/>
              </a:rPr>
              <a:t>Базовые типы (</a:t>
            </a:r>
            <a:r>
              <a:rPr lang="en-US" sz="1100" dirty="0">
                <a:latin typeface="Consolas" panose="020B0609020204030204" pitchFamily="49" charset="0"/>
              </a:rPr>
              <a:t>Basic types)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  ├── </a:t>
            </a:r>
            <a:r>
              <a:rPr lang="ru-RU" sz="1100" dirty="0">
                <a:latin typeface="Consolas" panose="020B0609020204030204" pitchFamily="49" charset="0"/>
              </a:rPr>
              <a:t>Числовые типы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</a:t>
            </a:r>
            <a:r>
              <a:rPr lang="ru-RU" sz="1100" dirty="0">
                <a:latin typeface="Consolas" panose="020B0609020204030204" pitchFamily="49" charset="0"/>
              </a:rPr>
              <a:t> </a:t>
            </a:r>
            <a:r>
              <a:rPr lang="en-US" sz="1100" dirty="0">
                <a:latin typeface="Consolas" panose="020B0609020204030204" pitchFamily="49" charset="0"/>
              </a:rPr>
              <a:t>  |</a:t>
            </a:r>
            <a:r>
              <a:rPr lang="ru-RU" sz="1100" dirty="0">
                <a:latin typeface="Consolas" panose="020B0609020204030204" pitchFamily="49" charset="0"/>
              </a:rPr>
              <a:t> </a:t>
            </a:r>
            <a:r>
              <a:rPr lang="en-US" sz="1100" dirty="0">
                <a:latin typeface="Consolas" panose="020B0609020204030204" pitchFamily="49" charset="0"/>
              </a:rPr>
              <a:t>  ├──</a:t>
            </a:r>
            <a:r>
              <a:rPr lang="ru-RU" sz="1100" dirty="0">
                <a:latin typeface="Consolas" panose="020B0609020204030204" pitchFamily="49" charset="0"/>
              </a:rPr>
              <a:t> Целочисленные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</a:t>
            </a:r>
            <a:r>
              <a:rPr lang="ru-RU" sz="1100" dirty="0">
                <a:latin typeface="Consolas" panose="020B0609020204030204" pitchFamily="49" charset="0"/>
              </a:rPr>
              <a:t> </a:t>
            </a:r>
            <a:r>
              <a:rPr lang="en-US" sz="1100" dirty="0">
                <a:latin typeface="Consolas" panose="020B0609020204030204" pitchFamily="49" charset="0"/>
              </a:rPr>
              <a:t>  |</a:t>
            </a:r>
            <a:r>
              <a:rPr lang="ru-RU" sz="1100" dirty="0">
                <a:latin typeface="Consolas" panose="020B0609020204030204" pitchFamily="49" charset="0"/>
              </a:rPr>
              <a:t>   │ </a:t>
            </a:r>
            <a:r>
              <a:rPr lang="en-US" sz="1100" dirty="0">
                <a:latin typeface="Consolas" panose="020B0609020204030204" pitchFamily="49" charset="0"/>
              </a:rPr>
              <a:t>  ├──</a:t>
            </a:r>
            <a:r>
              <a:rPr lang="ru-RU" sz="1100" dirty="0">
                <a:latin typeface="Consolas" panose="020B0609020204030204" pitchFamily="49" charset="0"/>
              </a:rPr>
              <a:t> Знаковые: </a:t>
            </a:r>
            <a:r>
              <a:rPr lang="en-US" sz="1100" dirty="0">
                <a:latin typeface="Consolas" panose="020B0609020204030204" pitchFamily="49" charset="0"/>
              </a:rPr>
              <a:t>int8, int16, int32 (rune), int64, int (</a:t>
            </a:r>
            <a:r>
              <a:rPr lang="ru-RU" sz="1100" dirty="0">
                <a:latin typeface="Consolas" panose="020B0609020204030204" pitchFamily="49" charset="0"/>
              </a:rPr>
              <a:t>зависит от платформы, 32 или 64 бита)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 </a:t>
            </a:r>
            <a:r>
              <a:rPr lang="ru-RU" sz="1100" dirty="0">
                <a:latin typeface="Consolas" panose="020B0609020204030204" pitchFamily="49" charset="0"/>
              </a:rPr>
              <a:t> </a:t>
            </a:r>
            <a:r>
              <a:rPr lang="en-US" sz="1100" dirty="0">
                <a:latin typeface="Consolas" panose="020B0609020204030204" pitchFamily="49" charset="0"/>
              </a:rPr>
              <a:t>|</a:t>
            </a:r>
            <a:r>
              <a:rPr lang="ru-RU" sz="1100" dirty="0">
                <a:latin typeface="Consolas" panose="020B0609020204030204" pitchFamily="49" charset="0"/>
              </a:rPr>
              <a:t>   │   └── Беззнаковые: </a:t>
            </a:r>
            <a:r>
              <a:rPr lang="en-US" sz="1100" dirty="0">
                <a:latin typeface="Consolas" panose="020B0609020204030204" pitchFamily="49" charset="0"/>
              </a:rPr>
              <a:t>uint8 (byte), uint16, uint32, uint64, </a:t>
            </a:r>
            <a:r>
              <a:rPr lang="en-US" sz="1100" dirty="0" err="1">
                <a:latin typeface="Consolas" panose="020B0609020204030204" pitchFamily="49" charset="0"/>
              </a:rPr>
              <a:t>uint</a:t>
            </a:r>
            <a:r>
              <a:rPr lang="en-US" sz="1100" dirty="0">
                <a:latin typeface="Consolas" panose="020B0609020204030204" pitchFamily="49" charset="0"/>
              </a:rPr>
              <a:t>, </a:t>
            </a:r>
            <a:r>
              <a:rPr lang="en-US" sz="1100" dirty="0" err="1">
                <a:latin typeface="Consolas" panose="020B0609020204030204" pitchFamily="49" charset="0"/>
              </a:rPr>
              <a:t>uintptr</a:t>
            </a:r>
            <a:r>
              <a:rPr lang="en-US" sz="1100" dirty="0">
                <a:latin typeface="Consolas" panose="020B0609020204030204" pitchFamily="49" charset="0"/>
              </a:rPr>
              <a:t> (</a:t>
            </a:r>
            <a:r>
              <a:rPr lang="ru-RU" sz="1100" dirty="0">
                <a:latin typeface="Consolas" panose="020B0609020204030204" pitchFamily="49" charset="0"/>
              </a:rPr>
              <a:t>для указателей)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</a:t>
            </a:r>
            <a:r>
              <a:rPr lang="ru-RU" sz="1100" dirty="0">
                <a:latin typeface="Consolas" panose="020B0609020204030204" pitchFamily="49" charset="0"/>
              </a:rPr>
              <a:t> </a:t>
            </a:r>
            <a:r>
              <a:rPr lang="en-US" sz="1100" dirty="0">
                <a:latin typeface="Consolas" panose="020B0609020204030204" pitchFamily="49" charset="0"/>
              </a:rPr>
              <a:t>  |</a:t>
            </a:r>
            <a:r>
              <a:rPr lang="ru-RU" sz="1100" dirty="0">
                <a:latin typeface="Consolas" panose="020B0609020204030204" pitchFamily="49" charset="0"/>
              </a:rPr>
              <a:t> </a:t>
            </a:r>
            <a:r>
              <a:rPr lang="en-US" sz="1100" dirty="0">
                <a:latin typeface="Consolas" panose="020B0609020204030204" pitchFamily="49" charset="0"/>
              </a:rPr>
              <a:t>  ├──</a:t>
            </a:r>
            <a:r>
              <a:rPr lang="ru-RU" sz="1100" dirty="0">
                <a:latin typeface="Consolas" panose="020B0609020204030204" pitchFamily="49" charset="0"/>
              </a:rPr>
              <a:t> С плавающей точкой (</a:t>
            </a:r>
            <a:r>
              <a:rPr lang="en-US" sz="1100" dirty="0">
                <a:latin typeface="Consolas" panose="020B0609020204030204" pitchFamily="49" charset="0"/>
              </a:rPr>
              <a:t>float32, float64)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  |   └── </a:t>
            </a:r>
            <a:r>
              <a:rPr lang="ru-RU" sz="1100" dirty="0">
                <a:latin typeface="Consolas" panose="020B0609020204030204" pitchFamily="49" charset="0"/>
              </a:rPr>
              <a:t>Комплексные (</a:t>
            </a:r>
            <a:r>
              <a:rPr lang="en-US" sz="1100" dirty="0">
                <a:latin typeface="Consolas" panose="020B0609020204030204" pitchFamily="49" charset="0"/>
              </a:rPr>
              <a:t>complex64, complex128)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  ├── </a:t>
            </a:r>
            <a:r>
              <a:rPr lang="ru-RU" sz="1100" dirty="0">
                <a:latin typeface="Consolas" panose="020B0609020204030204" pitchFamily="49" charset="0"/>
              </a:rPr>
              <a:t>Логический (</a:t>
            </a:r>
            <a:r>
              <a:rPr lang="en-US" sz="1100" dirty="0">
                <a:latin typeface="Consolas" panose="020B0609020204030204" pitchFamily="49" charset="0"/>
              </a:rPr>
              <a:t>bool)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  └── </a:t>
            </a:r>
            <a:r>
              <a:rPr lang="ru-RU" sz="1100" dirty="0">
                <a:latin typeface="Consolas" panose="020B0609020204030204" pitchFamily="49" charset="0"/>
              </a:rPr>
              <a:t>Строковый (</a:t>
            </a:r>
            <a:r>
              <a:rPr lang="en-US" sz="1100" dirty="0">
                <a:latin typeface="Consolas" panose="020B0609020204030204" pitchFamily="49" charset="0"/>
              </a:rPr>
              <a:t>string)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├── </a:t>
            </a:r>
            <a:r>
              <a:rPr lang="ru-RU" sz="1100" dirty="0">
                <a:latin typeface="Consolas" panose="020B0609020204030204" pitchFamily="49" charset="0"/>
              </a:rPr>
              <a:t>Составные типы (</a:t>
            </a:r>
            <a:r>
              <a:rPr lang="en-US" sz="1100" dirty="0">
                <a:latin typeface="Consolas" panose="020B0609020204030204" pitchFamily="49" charset="0"/>
              </a:rPr>
              <a:t>Composite types)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  ├── </a:t>
            </a:r>
            <a:r>
              <a:rPr lang="ru-RU" sz="1100" dirty="0">
                <a:latin typeface="Consolas" panose="020B0609020204030204" pitchFamily="49" charset="0"/>
              </a:rPr>
              <a:t>Агрегатные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</a:t>
            </a:r>
            <a:r>
              <a:rPr lang="ru-RU" sz="1100" dirty="0">
                <a:latin typeface="Consolas" panose="020B0609020204030204" pitchFamily="49" charset="0"/>
              </a:rPr>
              <a:t>   │ </a:t>
            </a:r>
            <a:r>
              <a:rPr lang="en-US" sz="1100" dirty="0">
                <a:latin typeface="Consolas" panose="020B0609020204030204" pitchFamily="49" charset="0"/>
              </a:rPr>
              <a:t>  ├──</a:t>
            </a:r>
            <a:r>
              <a:rPr lang="ru-RU" sz="1100" dirty="0">
                <a:latin typeface="Consolas" panose="020B0609020204030204" pitchFamily="49" charset="0"/>
              </a:rPr>
              <a:t> Массивы ([</a:t>
            </a:r>
            <a:r>
              <a:rPr lang="en-US" sz="1100" dirty="0">
                <a:latin typeface="Consolas" panose="020B0609020204030204" pitchFamily="49" charset="0"/>
              </a:rPr>
              <a:t>n]T)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  │   └── </a:t>
            </a:r>
            <a:r>
              <a:rPr lang="ru-RU" sz="1100" dirty="0">
                <a:latin typeface="Consolas" panose="020B0609020204030204" pitchFamily="49" charset="0"/>
              </a:rPr>
              <a:t>Структуры (</a:t>
            </a:r>
            <a:r>
              <a:rPr lang="en-US" sz="1100" dirty="0">
                <a:latin typeface="Consolas" panose="020B0609020204030204" pitchFamily="49" charset="0"/>
              </a:rPr>
              <a:t>struct)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  ├── </a:t>
            </a:r>
            <a:r>
              <a:rPr lang="ru-RU" sz="1100" dirty="0">
                <a:latin typeface="Consolas" panose="020B0609020204030204" pitchFamily="49" charset="0"/>
              </a:rPr>
              <a:t>Ссылочные типы (</a:t>
            </a:r>
            <a:r>
              <a:rPr lang="en-US" sz="1100" dirty="0">
                <a:latin typeface="Consolas" panose="020B0609020204030204" pitchFamily="49" charset="0"/>
              </a:rPr>
              <a:t>Reference types)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  │   ├── </a:t>
            </a:r>
            <a:r>
              <a:rPr lang="ru-RU" sz="1100" dirty="0">
                <a:latin typeface="Consolas" panose="020B0609020204030204" pitchFamily="49" charset="0"/>
              </a:rPr>
              <a:t>Срезы ([]</a:t>
            </a:r>
            <a:r>
              <a:rPr lang="en-US" sz="1100" dirty="0">
                <a:latin typeface="Consolas" panose="020B0609020204030204" pitchFamily="49" charset="0"/>
              </a:rPr>
              <a:t>T)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  │   ├── </a:t>
            </a:r>
            <a:r>
              <a:rPr lang="ru-RU" sz="1100" dirty="0">
                <a:latin typeface="Consolas" panose="020B0609020204030204" pitchFamily="49" charset="0"/>
              </a:rPr>
              <a:t>Карты (</a:t>
            </a:r>
            <a:r>
              <a:rPr lang="en-US" sz="1100" dirty="0">
                <a:latin typeface="Consolas" panose="020B0609020204030204" pitchFamily="49" charset="0"/>
              </a:rPr>
              <a:t>map[K]V)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  │   ├── </a:t>
            </a:r>
            <a:r>
              <a:rPr lang="ru-RU" sz="1100" dirty="0">
                <a:latin typeface="Consolas" panose="020B0609020204030204" pitchFamily="49" charset="0"/>
              </a:rPr>
              <a:t>Каналы (</a:t>
            </a:r>
            <a:r>
              <a:rPr lang="en-US" sz="1100" dirty="0" err="1">
                <a:latin typeface="Consolas" panose="020B0609020204030204" pitchFamily="49" charset="0"/>
              </a:rPr>
              <a:t>chan</a:t>
            </a:r>
            <a:r>
              <a:rPr lang="en-US" sz="1100" dirty="0">
                <a:latin typeface="Consolas" panose="020B0609020204030204" pitchFamily="49" charset="0"/>
              </a:rPr>
              <a:t> T)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  │   └── </a:t>
            </a:r>
            <a:r>
              <a:rPr lang="ru-RU" sz="1100" dirty="0">
                <a:latin typeface="Consolas" panose="020B0609020204030204" pitchFamily="49" charset="0"/>
              </a:rPr>
              <a:t>Функции (</a:t>
            </a:r>
            <a:r>
              <a:rPr lang="en-US" sz="1100" dirty="0" err="1">
                <a:latin typeface="Consolas" panose="020B0609020204030204" pitchFamily="49" charset="0"/>
              </a:rPr>
              <a:t>func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   └── </a:t>
            </a:r>
            <a:r>
              <a:rPr lang="ru-RU" sz="1100" dirty="0">
                <a:latin typeface="Consolas" panose="020B0609020204030204" pitchFamily="49" charset="0"/>
              </a:rPr>
              <a:t>Указатели (*</a:t>
            </a:r>
            <a:r>
              <a:rPr lang="en-US" sz="1100" dirty="0">
                <a:latin typeface="Consolas" panose="020B0609020204030204" pitchFamily="49" charset="0"/>
              </a:rPr>
              <a:t>T)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├── </a:t>
            </a:r>
            <a:r>
              <a:rPr lang="ru-RU" sz="1100" dirty="0">
                <a:latin typeface="Consolas" panose="020B0609020204030204" pitchFamily="49" charset="0"/>
              </a:rPr>
              <a:t>Интерфейсный тип (</a:t>
            </a:r>
            <a:r>
              <a:rPr lang="en-US" sz="1100" dirty="0">
                <a:latin typeface="Consolas" panose="020B0609020204030204" pitchFamily="49" charset="0"/>
              </a:rPr>
              <a:t>Interface type)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|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└── </a:t>
            </a:r>
            <a:r>
              <a:rPr lang="ru-RU" sz="1100" dirty="0">
                <a:latin typeface="Consolas" panose="020B0609020204030204" pitchFamily="49" charset="0"/>
              </a:rPr>
              <a:t>Объявления собственных типов на базе других (</a:t>
            </a:r>
            <a:r>
              <a:rPr lang="en-US" sz="1100" dirty="0">
                <a:latin typeface="Consolas" panose="020B0609020204030204" pitchFamily="49" charset="0"/>
              </a:rPr>
              <a:t>Type declarations)</a:t>
            </a:r>
          </a:p>
        </p:txBody>
      </p:sp>
    </p:spTree>
    <p:extLst>
      <p:ext uri="{BB962C8B-B14F-4D97-AF65-F5344CB8AC3E}">
        <p14:creationId xmlns:p14="http://schemas.microsoft.com/office/powerpoint/2010/main" val="3001550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Спецификаторы типа в </a:t>
            </a:r>
            <a:r>
              <a:rPr lang="en-US" dirty="0"/>
              <a:t>Go</a:t>
            </a:r>
            <a:endParaRPr lang="ru-RU" dirty="0"/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5FA5A6E4-7CB4-469B-89BF-9065DDDE2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0475" y="1440000"/>
            <a:ext cx="10509524" cy="5040000"/>
          </a:xfrm>
        </p:spPr>
        <p:txBody>
          <a:bodyPr>
            <a:normAutofit/>
          </a:bodyPr>
          <a:lstStyle/>
          <a:p>
            <a:endParaRPr lang="en-US" sz="2000" dirty="0">
              <a:latin typeface="Consolas" panose="020B0609020204030204" pitchFamily="49" charset="0"/>
            </a:endParaRPr>
          </a:p>
          <a:p>
            <a:endParaRPr lang="en-US" sz="2000" dirty="0">
              <a:latin typeface="Consolas" panose="020B0609020204030204" pitchFamily="49" charset="0"/>
            </a:endParaRPr>
          </a:p>
          <a:p>
            <a:endParaRPr lang="en-US" sz="2000" dirty="0">
              <a:latin typeface="Consolas" panose="020B0609020204030204" pitchFamily="49" charset="0"/>
            </a:endParaRPr>
          </a:p>
          <a:p>
            <a:r>
              <a:rPr lang="ru-RU" sz="2000" dirty="0">
                <a:latin typeface="Consolas" panose="020B0609020204030204" pitchFamily="49" charset="0"/>
              </a:rPr>
              <a:t>Спецификаторы и модификаторы в </a:t>
            </a:r>
            <a:r>
              <a:rPr lang="en-US" sz="2000" dirty="0">
                <a:latin typeface="Consolas" panose="020B0609020204030204" pitchFamily="49" charset="0"/>
              </a:rPr>
              <a:t>Go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|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└── </a:t>
            </a:r>
            <a:r>
              <a:rPr lang="ru-RU" sz="2000" dirty="0">
                <a:latin typeface="Consolas" panose="020B0609020204030204" pitchFamily="49" charset="0"/>
              </a:rPr>
              <a:t>Спецификаторы объявления (</a:t>
            </a:r>
            <a:r>
              <a:rPr lang="en-US" sz="2000" dirty="0">
                <a:latin typeface="Consolas" panose="020B0609020204030204" pitchFamily="49" charset="0"/>
              </a:rPr>
              <a:t>Declaration specifiers)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├── var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├── const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├── type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└── </a:t>
            </a:r>
            <a:r>
              <a:rPr lang="en-US" sz="2000" dirty="0" err="1">
                <a:latin typeface="Consolas" panose="020B0609020204030204" pitchFamily="49" charset="0"/>
              </a:rPr>
              <a:t>func</a:t>
            </a:r>
            <a:endParaRPr 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43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Переменные</a:t>
            </a:r>
          </a:p>
        </p:txBody>
      </p:sp>
    </p:spTree>
    <p:extLst>
      <p:ext uri="{BB962C8B-B14F-4D97-AF65-F5344CB8AC3E}">
        <p14:creationId xmlns:p14="http://schemas.microsoft.com/office/powerpoint/2010/main" val="336287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Переменные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90454" y="1124744"/>
            <a:ext cx="10666187" cy="5274586"/>
          </a:xfrm>
        </p:spPr>
        <p:txBody>
          <a:bodyPr>
            <a:normAutofit fontScale="92500" lnSpcReduction="10000"/>
          </a:bodyPr>
          <a:lstStyle/>
          <a:p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Явное объявление с типом и инициализатором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age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name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"John"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score, data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ОК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score, data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"20"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score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data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"20"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Явное объявление с типом, без инциализатора (гарантируется дефолтное значение)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age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0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name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""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score, data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ОК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score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data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Явное объявление без типа, но с инициализатором (тип выводится компилятором)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age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name =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"John"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score, data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"2.5"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ОК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score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data =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"2.5"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Короткое объявление (тип выводится компилятором)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.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Только для локальных переменных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score :=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int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pi :=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float64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score, data :=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"2.5"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data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будет создано со значением 2.5,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score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перезаписано на 100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score, data :=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"3.5"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Ошибка. Все переменные уже существуют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254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Переменные</a:t>
            </a:r>
            <a:r>
              <a:rPr lang="en-US" dirty="0"/>
              <a:t> –  </a:t>
            </a:r>
            <a:r>
              <a:rPr lang="ru-RU" dirty="0"/>
              <a:t>групповое объявление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25770" y="1124744"/>
            <a:ext cx="7830871" cy="5274586"/>
          </a:xfrm>
        </p:spPr>
        <p:txBody>
          <a:bodyPr>
            <a:normAutofit/>
          </a:bodyPr>
          <a:lstStyle/>
          <a:p>
            <a:endParaRPr lang="it-IT" sz="20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endParaRPr lang="it-IT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it-IT" sz="20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it-IT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it-IT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pi = </a:t>
            </a:r>
            <a:r>
              <a:rPr lang="it-IT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</a:t>
            </a:r>
            <a:endParaRPr lang="it-IT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_2pi, _3pi = </a:t>
            </a:r>
            <a:r>
              <a:rPr lang="it-IT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it-IT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pi, </a:t>
            </a:r>
            <a:r>
              <a:rPr lang="it-IT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it-IT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pi</a:t>
            </a:r>
          </a:p>
          <a:p>
            <a:r>
              <a:rPr lang="it-IT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score </a:t>
            </a:r>
            <a:r>
              <a:rPr lang="it-IT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it-IT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it-IT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it-IT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data </a:t>
            </a:r>
            <a:r>
              <a:rPr lang="it-IT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endParaRPr lang="it-IT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it-IT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//err := 1 // Ошибка</a:t>
            </a:r>
            <a:endParaRPr lang="it-IT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it-IT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46827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Константы</a:t>
            </a:r>
          </a:p>
        </p:txBody>
      </p:sp>
    </p:spTree>
    <p:extLst>
      <p:ext uri="{BB962C8B-B14F-4D97-AF65-F5344CB8AC3E}">
        <p14:creationId xmlns:p14="http://schemas.microsoft.com/office/powerpoint/2010/main" val="1758975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5361" y="256932"/>
            <a:ext cx="11521280" cy="850106"/>
          </a:xfrm>
        </p:spPr>
        <p:txBody>
          <a:bodyPr/>
          <a:lstStyle/>
          <a:p>
            <a:r>
              <a:rPr lang="ru-RU" dirty="0"/>
              <a:t>Константы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90454" y="1124744"/>
            <a:ext cx="10666187" cy="5274586"/>
          </a:xfrm>
        </p:spPr>
        <p:txBody>
          <a:bodyPr>
            <a:normAutofit/>
          </a:bodyPr>
          <a:lstStyle/>
          <a:p>
            <a:endParaRPr lang="en-US" sz="18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Типизированные константы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Pi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float64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3.14159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явный тип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Prefix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"app_"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Нетипизированные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константы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Pi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3.14159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MaxUsers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AppName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MyApp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Групповое объявление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StatusOK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StatusNotFound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404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StatusError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98263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Константы</a:t>
            </a:r>
            <a:r>
              <a:rPr lang="en-US" dirty="0"/>
              <a:t> – </a:t>
            </a:r>
            <a:r>
              <a:rPr lang="ru-RU" dirty="0"/>
              <a:t>только </a:t>
            </a:r>
            <a:r>
              <a:rPr lang="en-US" dirty="0"/>
              <a:t>compile time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90454" y="1124744"/>
            <a:ext cx="10666187" cy="5274586"/>
          </a:xfrm>
        </p:spPr>
        <p:txBody>
          <a:bodyPr>
            <a:normAutofit/>
          </a:bodyPr>
          <a:lstStyle/>
          <a:p>
            <a:endParaRPr lang="en-US" sz="1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Width  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1920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Height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1080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Pixels = Width * Height           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ДА: Вычисляется на этапе компиляции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alsoValid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"constant string"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ДА: </a:t>
            </a:r>
            <a:r>
              <a:rPr lang="en-US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от строки - константа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dynamicVar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invalid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dynamicVar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 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НЕТ: переменные времени выполнения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alsoInvalid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someVar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    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НЕТ: </a:t>
            </a:r>
            <a:r>
              <a:rPr lang="en-US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от переменной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Функции при объявлении констант использовать нельзя (только некоторые)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389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может быть константой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90454" y="1124744"/>
            <a:ext cx="10666187" cy="5274586"/>
          </a:xfrm>
        </p:spPr>
        <p:txBody>
          <a:bodyPr>
            <a:normAutofit fontScale="92500" lnSpcReduction="20000"/>
          </a:bodyPr>
          <a:lstStyle/>
          <a:p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Допустимые типы для констант: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num    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целочисленная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float  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вещественная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    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строковая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булева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rune    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руна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complex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комплексная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Недопустимые типы: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- Массивы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- Срезы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- Карты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- Структуры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- Указатели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- Функции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- Каналы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- Интерфейсы</a:t>
            </a:r>
          </a:p>
          <a:p>
            <a:endParaRPr lang="ru-RU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Константы могут быть созданы только отдельно. Константных параметров, полей и т.д. нет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317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Нетипизированные</a:t>
            </a:r>
            <a:r>
              <a:rPr lang="ru-RU" dirty="0"/>
              <a:t> константы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90454" y="1124744"/>
            <a:ext cx="10666187" cy="5274586"/>
          </a:xfrm>
        </p:spPr>
        <p:txBody>
          <a:bodyPr>
            <a:normAutofit fontScale="92500" lnSpcReduction="10000"/>
          </a:bodyPr>
          <a:lstStyle/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exactValue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1234567890123456789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Может быть больше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int64!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exactValue2 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exactValue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exactValue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OK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exactValue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 компиляции если не влезает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i64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int64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exactValue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 компиляции если не влезает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f64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float64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exactValue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Может потерять точность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У каждой </a:t>
            </a:r>
            <a:r>
              <a:rPr lang="ru-RU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нетипизированной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константы есть базовый тип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Нетипизированные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константы могут подстраиваться под тип, если он совпадает с базовым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OK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mi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Ошибка. Разные типы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mi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OK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897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Спецификаторы хранения </a:t>
            </a:r>
          </a:p>
        </p:txBody>
      </p:sp>
    </p:spTree>
    <p:extLst>
      <p:ext uri="{BB962C8B-B14F-4D97-AF65-F5344CB8AC3E}">
        <p14:creationId xmlns:p14="http://schemas.microsoft.com/office/powerpoint/2010/main" val="3450697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Спецификаторы хранения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90454" y="1124744"/>
            <a:ext cx="10666187" cy="5274586"/>
          </a:xfrm>
        </p:spPr>
        <p:txBody>
          <a:bodyPr>
            <a:normAutofit/>
          </a:bodyPr>
          <a:lstStyle/>
          <a:p>
            <a:endParaRPr lang="ru-RU" sz="1800" b="0" dirty="0">
              <a:effectLst/>
              <a:latin typeface="Consolas" panose="020B0609020204030204" pitchFamily="49" charset="0"/>
            </a:endParaRPr>
          </a:p>
          <a:p>
            <a:endParaRPr lang="ru-RU" sz="1800" dirty="0">
              <a:latin typeface="Consolas" panose="020B0609020204030204" pitchFamily="49" charset="0"/>
            </a:endParaRPr>
          </a:p>
          <a:p>
            <a:endParaRPr lang="ru-RU" sz="1800" b="0" dirty="0">
              <a:effectLst/>
              <a:latin typeface="Consolas" panose="020B0609020204030204" pitchFamily="49" charset="0"/>
            </a:endParaRPr>
          </a:p>
          <a:p>
            <a:endParaRPr lang="ru-RU" sz="1800" dirty="0">
              <a:latin typeface="Consolas" panose="020B0609020204030204" pitchFamily="49" charset="0"/>
            </a:endParaRPr>
          </a:p>
          <a:p>
            <a:endParaRPr lang="ru-RU" sz="1800" dirty="0">
              <a:latin typeface="Consolas" panose="020B0609020204030204" pitchFamily="49" charset="0"/>
            </a:endParaRPr>
          </a:p>
          <a:p>
            <a:r>
              <a:rPr lang="ru-RU" sz="1800" b="0" dirty="0">
                <a:effectLst/>
                <a:latin typeface="Consolas" panose="020B0609020204030204" pitchFamily="49" charset="0"/>
              </a:rPr>
              <a:t>В </a:t>
            </a:r>
            <a:r>
              <a:rPr lang="en-US" sz="1800" b="0" dirty="0">
                <a:effectLst/>
                <a:latin typeface="Consolas" panose="020B0609020204030204" pitchFamily="49" charset="0"/>
              </a:rPr>
              <a:t>go </a:t>
            </a:r>
            <a:r>
              <a:rPr lang="ru-RU" sz="1800" b="0" dirty="0">
                <a:effectLst/>
                <a:latin typeface="Consolas" panose="020B0609020204030204" pitchFamily="49" charset="0"/>
              </a:rPr>
              <a:t>нет спецификаторов хранения, т.к. в них нет необходимости. </a:t>
            </a:r>
            <a:r>
              <a:rPr lang="ru-RU" sz="1800" dirty="0">
                <a:latin typeface="Consolas" panose="020B0609020204030204" pitchFamily="49" charset="0"/>
              </a:rPr>
              <a:t>Среда исполнения </a:t>
            </a:r>
            <a:r>
              <a:rPr lang="en-US" sz="1800" dirty="0">
                <a:latin typeface="Consolas" panose="020B0609020204030204" pitchFamily="49" charset="0"/>
              </a:rPr>
              <a:t>go </a:t>
            </a:r>
            <a:r>
              <a:rPr lang="ru-RU" sz="1800" dirty="0">
                <a:latin typeface="Consolas" panose="020B0609020204030204" pitchFamily="49" charset="0"/>
              </a:rPr>
              <a:t>сама определяет где создавать переменную на стеке или в куче. За удаление переменных отвечает сборщиком мусора.</a:t>
            </a:r>
            <a:endParaRPr lang="en-US" sz="18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634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</a:t>
            </a: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640" y="1403775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>
                <a:latin typeface="Consolas" panose="020B0609020204030204" pitchFamily="49" charset="0"/>
              </a:rPr>
              <a:t>Ключевое слово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ru-RU" sz="2000" dirty="0">
                <a:latin typeface="Consolas" panose="020B0609020204030204" pitchFamily="49" charset="0"/>
              </a:rPr>
              <a:t>используется для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ru-RU" sz="2000" dirty="0">
                <a:latin typeface="Consolas" panose="020B0609020204030204" pitchFamily="49" charset="0"/>
              </a:rPr>
              <a:t>объявления типов:</a:t>
            </a:r>
            <a:endParaRPr lang="en-US" sz="2000" b="0" dirty="0">
              <a:effectLst/>
              <a:latin typeface="Consolas" panose="020B0609020204030204" pitchFamily="49" charset="0"/>
            </a:endParaRPr>
          </a:p>
          <a:p>
            <a:r>
              <a:rPr lang="ru-RU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Имя </a:t>
            </a:r>
            <a:r>
              <a:rPr lang="ru-RU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... } - создание структуры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Имя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существующий_тип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создание нового типа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Имя =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существующий_тип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создание псевдонима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(Go 1.9+)</a:t>
            </a:r>
          </a:p>
          <a:p>
            <a:r>
              <a:rPr lang="ru-RU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Имя </a:t>
            </a:r>
            <a:r>
              <a:rPr lang="ru-RU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... } - создание интерфейса</a:t>
            </a:r>
          </a:p>
        </p:txBody>
      </p:sp>
    </p:spTree>
    <p:extLst>
      <p:ext uri="{BB962C8B-B14F-4D97-AF65-F5344CB8AC3E}">
        <p14:creationId xmlns:p14="http://schemas.microsoft.com/office/powerpoint/2010/main" val="2784693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Составные типы</a:t>
            </a:r>
          </a:p>
        </p:txBody>
      </p:sp>
    </p:spTree>
    <p:extLst>
      <p:ext uri="{BB962C8B-B14F-4D97-AF65-F5344CB8AC3E}">
        <p14:creationId xmlns:p14="http://schemas.microsoft.com/office/powerpoint/2010/main" val="2822098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Статические массивы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640" y="1403775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Объявление статического массива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ru-RU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 [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размер */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тип */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Примеры объявления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ru-RU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Массив из 5 целых чисел</a:t>
            </a:r>
            <a:endParaRPr lang="en-US" sz="20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temperatures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float64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Массив из 24 чисел с плавающей точкой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// Массив из 50 строк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Размер под статические массивы выделяется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менеджером памяти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для небольших на стеке, для больших в куче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410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 переменной длины (VLA) – в </a:t>
            </a:r>
            <a:r>
              <a:rPr lang="en-US" dirty="0"/>
              <a:t>go </a:t>
            </a:r>
            <a:r>
              <a:rPr lang="ru-RU" dirty="0"/>
              <a:t>не может быть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746" y="1440000"/>
            <a:ext cx="8079252" cy="504000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ru-RU" sz="20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array [size]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array [size]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ОК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array 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ОК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376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 статических массивов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Полная инициализация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numbers 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numbers2 := 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Частичная инициализация (остальные элементы -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zero value)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partial := 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[1, 2, 0, 0, 0]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Автоматическое определение размера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auto_size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[...]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Размер = 4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Инициализация по индексам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sparse := 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 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[100, 0, 0, 400, 0]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Инициализация нулями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zeros 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:= 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    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[0, 0, 0, 0, 0]</a:t>
            </a:r>
            <a:endParaRPr lang="ru-RU" sz="18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zeros2 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:= 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 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[0, 0, 0, 0, 0]</a:t>
            </a:r>
            <a:endParaRPr lang="ru-RU" sz="18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zeros2 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[0, 0, 0, 0, 0]</a:t>
            </a:r>
            <a:endParaRPr lang="ru-RU" sz="18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478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Доступ к элементам статического массива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Чтение значений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first :=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10 (первый элемент)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last  :=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50 (последний элемент)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Запись значений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// Теперь </a:t>
            </a:r>
            <a:r>
              <a:rPr lang="ru-RU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[1] = 25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ru-RU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* </a:t>
            </a:r>
            <a:r>
              <a:rPr lang="ru-RU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[3] = 60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Выход за границы массива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[5] = 100       // Ошибка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[-1] = 100      // Ошибка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619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 размера статического массива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[...]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10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max_size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cap(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10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Размер - часть типа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 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= b  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OK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копирование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 = a  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.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 Разные типы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897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статических массивов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:= 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:= 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 := 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 == b)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true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 == c)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 &gt; c)  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 компиляции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:= 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 == x)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 компиляции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.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Массивы разных размеров нельзя сравнивать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18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Обход статического массива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numbers := [...]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 индексу (для изменения значений использовать этот цикл)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(numbers);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 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"Index %d: %d\n"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numbers[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Range loop (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получаем копии)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index, value :=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numbers 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"Index %d: %d\n"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index, value)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Только значения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_, fruit :=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numbers 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(fruit)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Только индексы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numbers 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957816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захвата переменной в цикле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values := [...]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make([]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values 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append(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может вывести не то, что вы ожидаете!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})</a:t>
            </a:r>
          </a:p>
          <a:p>
            <a:pPr marL="0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values[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Каждый раз будет напечатано 3 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Исправление циклов </a:t>
            </a:r>
            <a:r>
              <a:rPr lang="ru-RU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в Go 1.22: https://go.dev/blog/loopvar-preview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301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статического массива в функцию по значению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Статические массивы передаются по ЗНАЧЕНИЮ (копируются)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modifyArray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изменяется копия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[100, 2, 3]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numbers := 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modifyArray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(numbers)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(numbers)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[1, 2, 3] -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оригинал не изменился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99549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статического массива в функцию по указателю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Передача по указателю,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чтобы избежать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копирования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modifyArrayByPointer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синтаксис такой же!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Эквивалентно: (*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)[0] = 100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numbers := 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modifyArrayByPointer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(&amp;numbers)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(numbers)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[100, 2, 3]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3974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статического массива в функцию - дженерик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20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modifyArrayByPointer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](</a:t>
            </a: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*[N]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Нельзя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382342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Возврат статического массива из функции по значению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newArray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nweArray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[1, 2, 3]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получает копию локального массива </a:t>
            </a:r>
            <a:r>
              <a:rPr lang="en-US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</a:t>
            </a:r>
            <a:endParaRPr lang="en-US" sz="18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Скорее всего они оба будут созданы на стеке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886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Возврат статического массива из функции по указателю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newArray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*[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nweArray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[1, 2, 3]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получает адрес массива </a:t>
            </a:r>
            <a:r>
              <a:rPr lang="en-US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(безопасно, т.к. менеджер памяти рулит процессом)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массив </a:t>
            </a:r>
            <a:r>
              <a:rPr lang="en-US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скорее всего будет создан в куче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826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Слайсы (динамические массивы)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Слайс устроен так: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slice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Pointer </a:t>
            </a:r>
            <a:r>
              <a:rPr lang="en-US" sz="1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uintptr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Указатель на </a:t>
            </a:r>
            <a:r>
              <a:rPr lang="ru-RU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стат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массив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  </a:t>
            </a: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Cap  </a:t>
            </a: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A9B7D77-6DA7-4923-84A3-D225DF875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3180" y="2663915"/>
            <a:ext cx="3868395" cy="247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138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слайса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424" y="1440000"/>
            <a:ext cx="11271575" cy="5040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Литерал слайса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slice1 := []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(slice1), cap(slice1))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5 5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Создание из массива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slice2 :=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элементы с 1 по 3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(slice2), cap(slice2))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3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4</a:t>
            </a:r>
            <a:endParaRPr lang="ru-RU" sz="16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6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Создание из слайса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slice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slice2[</a:t>
            </a:r>
            <a:r>
              <a:rPr lang="ru-RU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ru-RU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элементы с 0 по 1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(slice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cap(slice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4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Использование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make()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slice3 := make([]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  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slice4 := make([]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(slice3), cap(slice3))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3 3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(slice4), cap(slice4))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3 10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729009A1-2616-4CF6-8FAE-117469183705}"/>
              </a:ext>
            </a:extLst>
          </p:cNvPr>
          <p:cNvGrpSpPr/>
          <p:nvPr/>
        </p:nvGrpSpPr>
        <p:grpSpPr>
          <a:xfrm>
            <a:off x="8346250" y="2404708"/>
            <a:ext cx="1800120" cy="360000"/>
            <a:chOff x="6546050" y="2663914"/>
            <a:chExt cx="1800120" cy="36000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C227DA27-247F-4E39-BF4B-5DCDBB266DC6}"/>
                </a:ext>
              </a:extLst>
            </p:cNvPr>
            <p:cNvSpPr/>
            <p:nvPr/>
          </p:nvSpPr>
          <p:spPr>
            <a:xfrm>
              <a:off x="6546050" y="2663914"/>
              <a:ext cx="360000" cy="36000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onsolas" panose="020B0609020204030204" pitchFamily="49" charset="0"/>
                </a:rPr>
                <a:t>10</a:t>
              </a:r>
              <a:endParaRPr lang="ru-RU" sz="1200" dirty="0">
                <a:latin typeface="Consolas" panose="020B0609020204030204" pitchFamily="49" charset="0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42F5115B-6893-4836-9A02-887DE6A4F91B}"/>
                </a:ext>
              </a:extLst>
            </p:cNvPr>
            <p:cNvSpPr/>
            <p:nvPr/>
          </p:nvSpPr>
          <p:spPr>
            <a:xfrm>
              <a:off x="6906090" y="2663914"/>
              <a:ext cx="360000" cy="36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onsolas" panose="020B0609020204030204" pitchFamily="49" charset="0"/>
                </a:rPr>
                <a:t>20</a:t>
              </a:r>
              <a:endParaRPr lang="ru-RU" sz="1200" dirty="0">
                <a:latin typeface="Consolas" panose="020B0609020204030204" pitchFamily="49" charset="0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4CD3BD28-4A9F-45F6-8481-9BC52808B8AB}"/>
                </a:ext>
              </a:extLst>
            </p:cNvPr>
            <p:cNvSpPr/>
            <p:nvPr/>
          </p:nvSpPr>
          <p:spPr>
            <a:xfrm>
              <a:off x="7266130" y="2663914"/>
              <a:ext cx="360000" cy="36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onsolas" panose="020B0609020204030204" pitchFamily="49" charset="0"/>
                </a:rPr>
                <a:t>30</a:t>
              </a:r>
              <a:endParaRPr lang="ru-RU" sz="1200" dirty="0">
                <a:latin typeface="Consolas" panose="020B0609020204030204" pitchFamily="49" charset="0"/>
              </a:endParaRPr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4E703348-D72F-4D45-9D12-6424A9A26BA7}"/>
                </a:ext>
              </a:extLst>
            </p:cNvPr>
            <p:cNvSpPr/>
            <p:nvPr/>
          </p:nvSpPr>
          <p:spPr>
            <a:xfrm>
              <a:off x="7626170" y="2663914"/>
              <a:ext cx="360000" cy="36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onsolas" panose="020B0609020204030204" pitchFamily="49" charset="0"/>
                </a:rPr>
                <a:t>40</a:t>
              </a:r>
              <a:endParaRPr lang="ru-RU" sz="1200" dirty="0">
                <a:latin typeface="Consolas" panose="020B0609020204030204" pitchFamily="49" charset="0"/>
              </a:endParaRP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7B60BA96-D2CC-43D6-B714-68715C7E0608}"/>
                </a:ext>
              </a:extLst>
            </p:cNvPr>
            <p:cNvSpPr/>
            <p:nvPr/>
          </p:nvSpPr>
          <p:spPr>
            <a:xfrm>
              <a:off x="7986170" y="2663914"/>
              <a:ext cx="360000" cy="36000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onsolas" panose="020B0609020204030204" pitchFamily="49" charset="0"/>
                </a:rPr>
                <a:t>50</a:t>
              </a:r>
              <a:endParaRPr lang="ru-RU" sz="1200" dirty="0">
                <a:latin typeface="Consolas" panose="020B0609020204030204" pitchFamily="49" charset="0"/>
              </a:endParaRPr>
            </a:p>
          </p:txBody>
        </p:sp>
      </p:grp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F8A7222-771F-4C04-9FDA-BFDD18EEEE63}"/>
              </a:ext>
            </a:extLst>
          </p:cNvPr>
          <p:cNvSpPr/>
          <p:nvPr/>
        </p:nvSpPr>
        <p:spPr>
          <a:xfrm>
            <a:off x="7266131" y="2404708"/>
            <a:ext cx="468000" cy="360000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latin typeface="Consolas" panose="020B0609020204030204" pitchFamily="49" charset="0"/>
              </a:rPr>
              <a:t>arr</a:t>
            </a:r>
            <a:endParaRPr lang="ru-RU" sz="1200" dirty="0">
              <a:latin typeface="Consolas" panose="020B0609020204030204" pitchFamily="49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E8E43D0-8BE2-4B70-B476-8D04D545E439}"/>
              </a:ext>
            </a:extLst>
          </p:cNvPr>
          <p:cNvSpPr/>
          <p:nvPr/>
        </p:nvSpPr>
        <p:spPr>
          <a:xfrm>
            <a:off x="8706250" y="2764708"/>
            <a:ext cx="1080120" cy="224925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5D53528-C160-4625-8822-9BE2032535E8}"/>
              </a:ext>
            </a:extLst>
          </p:cNvPr>
          <p:cNvSpPr/>
          <p:nvPr/>
        </p:nvSpPr>
        <p:spPr>
          <a:xfrm>
            <a:off x="8706290" y="2764748"/>
            <a:ext cx="1440080" cy="360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ACBCF5F-A377-4722-8ED8-100725C9AF06}"/>
              </a:ext>
            </a:extLst>
          </p:cNvPr>
          <p:cNvSpPr/>
          <p:nvPr/>
        </p:nvSpPr>
        <p:spPr>
          <a:xfrm>
            <a:off x="9093345" y="3172595"/>
            <a:ext cx="693065" cy="360000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</a:rPr>
              <a:t>slice2</a:t>
            </a:r>
            <a:endParaRPr lang="ru-RU" sz="1200" dirty="0">
              <a:latin typeface="Consolas" panose="020B0609020204030204" pitchFamily="49" charset="0"/>
            </a:endParaRP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DAD043E4-0E22-4C90-AACF-538A5E7F9915}"/>
              </a:ext>
            </a:extLst>
          </p:cNvPr>
          <p:cNvCxnSpPr>
            <a:stCxn id="12" idx="3"/>
            <a:endCxn id="4" idx="1"/>
          </p:cNvCxnSpPr>
          <p:nvPr/>
        </p:nvCxnSpPr>
        <p:spPr>
          <a:xfrm>
            <a:off x="7734131" y="2584708"/>
            <a:ext cx="6121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Соединитель: уступ 18">
            <a:extLst>
              <a:ext uri="{FF2B5EF4-FFF2-40B4-BE49-F238E27FC236}">
                <a16:creationId xmlns:a16="http://schemas.microsoft.com/office/drawing/2014/main" id="{B7289DB2-F29D-4689-9DB3-01156ABF5FE1}"/>
              </a:ext>
            </a:extLst>
          </p:cNvPr>
          <p:cNvCxnSpPr>
            <a:cxnSpLocks/>
            <a:stCxn id="15" idx="1"/>
            <a:endCxn id="7" idx="2"/>
          </p:cNvCxnSpPr>
          <p:nvPr/>
        </p:nvCxnSpPr>
        <p:spPr>
          <a:xfrm rot="10800000">
            <a:off x="8886291" y="2764709"/>
            <a:ext cx="207055" cy="587887"/>
          </a:xfrm>
          <a:prstGeom prst="bentConnector2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1082EE1-576D-4EED-A55B-096B1547A472}"/>
              </a:ext>
            </a:extLst>
          </p:cNvPr>
          <p:cNvSpPr txBox="1"/>
          <p:nvPr/>
        </p:nvSpPr>
        <p:spPr>
          <a:xfrm>
            <a:off x="9095825" y="2832984"/>
            <a:ext cx="420555" cy="276999"/>
          </a:xfrm>
          <a:prstGeom prst="rect">
            <a:avLst/>
          </a:prstGeom>
          <a:solidFill>
            <a:schemeClr val="bg1"/>
          </a:solidFill>
        </p:spPr>
        <p:txBody>
          <a:bodyPr wrap="none" lIns="36000" rIns="36000" rtlCol="0">
            <a:spAutoFit/>
          </a:bodyPr>
          <a:lstStyle/>
          <a:p>
            <a:r>
              <a:rPr lang="en-US" sz="1200" dirty="0" err="1"/>
              <a:t>len</a:t>
            </a:r>
            <a:r>
              <a:rPr lang="en-US" sz="1200" dirty="0"/>
              <a:t>=3</a:t>
            </a:r>
            <a:endParaRPr lang="ru-RU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D9F5D5-0F91-4F69-8D57-70ACEFF23072}"/>
              </a:ext>
            </a:extLst>
          </p:cNvPr>
          <p:cNvSpPr txBox="1"/>
          <p:nvPr/>
        </p:nvSpPr>
        <p:spPr>
          <a:xfrm>
            <a:off x="9446668" y="3038785"/>
            <a:ext cx="446523" cy="221018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36000" rtlCol="0">
            <a:spAutoFit/>
          </a:bodyPr>
          <a:lstStyle/>
          <a:p>
            <a:r>
              <a:rPr lang="en-US" sz="1200" dirty="0"/>
              <a:t>cap=4</a:t>
            </a:r>
            <a:endParaRPr lang="ru-RU" sz="1200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D182F7FC-2EB9-4888-8C5B-F955B1A4EEBB}"/>
              </a:ext>
            </a:extLst>
          </p:cNvPr>
          <p:cNvGrpSpPr/>
          <p:nvPr/>
        </p:nvGrpSpPr>
        <p:grpSpPr>
          <a:xfrm>
            <a:off x="8346250" y="3921293"/>
            <a:ext cx="1800120" cy="360000"/>
            <a:chOff x="6546050" y="2663914"/>
            <a:chExt cx="1800120" cy="360000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BC4E683B-105B-4B24-8301-8DAB756DBEF4}"/>
                </a:ext>
              </a:extLst>
            </p:cNvPr>
            <p:cNvSpPr/>
            <p:nvPr/>
          </p:nvSpPr>
          <p:spPr>
            <a:xfrm>
              <a:off x="6546050" y="2663914"/>
              <a:ext cx="360000" cy="36000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onsolas" panose="020B0609020204030204" pitchFamily="49" charset="0"/>
                </a:rPr>
                <a:t>10</a:t>
              </a:r>
              <a:endParaRPr lang="ru-RU" sz="1200" dirty="0">
                <a:latin typeface="Consolas" panose="020B0609020204030204" pitchFamily="49" charset="0"/>
              </a:endParaRPr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7679D6D0-439F-44D2-A4B1-83EC3491C7EF}"/>
                </a:ext>
              </a:extLst>
            </p:cNvPr>
            <p:cNvSpPr/>
            <p:nvPr/>
          </p:nvSpPr>
          <p:spPr>
            <a:xfrm>
              <a:off x="6906090" y="2663914"/>
              <a:ext cx="360000" cy="3600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onsolas" panose="020B0609020204030204" pitchFamily="49" charset="0"/>
                </a:rPr>
                <a:t>20</a:t>
              </a:r>
              <a:endParaRPr lang="ru-RU" sz="1200" dirty="0">
                <a:latin typeface="Consolas" panose="020B0609020204030204" pitchFamily="49" charset="0"/>
              </a:endParaRPr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9CDD3E55-BC83-486A-B531-069FC4D45F9F}"/>
                </a:ext>
              </a:extLst>
            </p:cNvPr>
            <p:cNvSpPr/>
            <p:nvPr/>
          </p:nvSpPr>
          <p:spPr>
            <a:xfrm>
              <a:off x="7266130" y="2663914"/>
              <a:ext cx="360000" cy="3600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onsolas" panose="020B0609020204030204" pitchFamily="49" charset="0"/>
                </a:rPr>
                <a:t>30</a:t>
              </a:r>
              <a:endParaRPr lang="ru-RU" sz="1200" dirty="0">
                <a:latin typeface="Consolas" panose="020B0609020204030204" pitchFamily="49" charset="0"/>
              </a:endParaRPr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01447539-7BE8-44A9-9EBE-8EFB00BA1497}"/>
                </a:ext>
              </a:extLst>
            </p:cNvPr>
            <p:cNvSpPr/>
            <p:nvPr/>
          </p:nvSpPr>
          <p:spPr>
            <a:xfrm>
              <a:off x="7626170" y="2663914"/>
              <a:ext cx="360000" cy="36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onsolas" panose="020B0609020204030204" pitchFamily="49" charset="0"/>
                </a:rPr>
                <a:t>40</a:t>
              </a:r>
              <a:endParaRPr lang="ru-RU" sz="1200" dirty="0">
                <a:latin typeface="Consolas" panose="020B0609020204030204" pitchFamily="49" charset="0"/>
              </a:endParaRPr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74B775BD-97E6-4ACD-BA7D-8DCA6BFF31BC}"/>
                </a:ext>
              </a:extLst>
            </p:cNvPr>
            <p:cNvSpPr/>
            <p:nvPr/>
          </p:nvSpPr>
          <p:spPr>
            <a:xfrm>
              <a:off x="7986170" y="2663914"/>
              <a:ext cx="360000" cy="360000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onsolas" panose="020B0609020204030204" pitchFamily="49" charset="0"/>
                </a:rPr>
                <a:t>50</a:t>
              </a:r>
              <a:endParaRPr lang="ru-RU" sz="1200" dirty="0">
                <a:latin typeface="Consolas" panose="020B0609020204030204" pitchFamily="49" charset="0"/>
              </a:endParaRPr>
            </a:p>
          </p:txBody>
        </p:sp>
      </p:grp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35E71AE-5B3F-4C7D-A248-595A3B0DCD68}"/>
              </a:ext>
            </a:extLst>
          </p:cNvPr>
          <p:cNvSpPr/>
          <p:nvPr/>
        </p:nvSpPr>
        <p:spPr>
          <a:xfrm>
            <a:off x="7266131" y="3921293"/>
            <a:ext cx="468000" cy="360000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latin typeface="Consolas" panose="020B0609020204030204" pitchFamily="49" charset="0"/>
              </a:rPr>
              <a:t>arr</a:t>
            </a:r>
            <a:endParaRPr lang="ru-RU" sz="1200" dirty="0">
              <a:latin typeface="Consolas" panose="020B0609020204030204" pitchFamily="49" charset="0"/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434B9A7-C1FB-403B-974D-D4A5D3DF7C35}"/>
              </a:ext>
            </a:extLst>
          </p:cNvPr>
          <p:cNvSpPr/>
          <p:nvPr/>
        </p:nvSpPr>
        <p:spPr>
          <a:xfrm>
            <a:off x="8706250" y="4281293"/>
            <a:ext cx="720080" cy="224925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8823563-BCAF-4AEE-8FD0-79C440DB2894}"/>
              </a:ext>
            </a:extLst>
          </p:cNvPr>
          <p:cNvSpPr/>
          <p:nvPr/>
        </p:nvSpPr>
        <p:spPr>
          <a:xfrm>
            <a:off x="8706290" y="4281333"/>
            <a:ext cx="1440080" cy="360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6927F203-A57B-44F6-B664-9EF6F19CF760}"/>
              </a:ext>
            </a:extLst>
          </p:cNvPr>
          <p:cNvSpPr/>
          <p:nvPr/>
        </p:nvSpPr>
        <p:spPr>
          <a:xfrm>
            <a:off x="9093345" y="4689180"/>
            <a:ext cx="693065" cy="360000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</a:rPr>
              <a:t>slice</a:t>
            </a:r>
            <a:r>
              <a:rPr lang="ru-RU" sz="1200" dirty="0">
                <a:latin typeface="Consolas" panose="020B0609020204030204" pitchFamily="49" charset="0"/>
              </a:rPr>
              <a:t>3</a:t>
            </a:r>
          </a:p>
        </p:txBody>
      </p: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B73D880A-C4D8-41F1-BF27-E34CEF16E368}"/>
              </a:ext>
            </a:extLst>
          </p:cNvPr>
          <p:cNvCxnSpPr>
            <a:stCxn id="27" idx="3"/>
            <a:endCxn id="20" idx="1"/>
          </p:cNvCxnSpPr>
          <p:nvPr/>
        </p:nvCxnSpPr>
        <p:spPr>
          <a:xfrm>
            <a:off x="7734131" y="4101293"/>
            <a:ext cx="6121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Соединитель: уступ 31">
            <a:extLst>
              <a:ext uri="{FF2B5EF4-FFF2-40B4-BE49-F238E27FC236}">
                <a16:creationId xmlns:a16="http://schemas.microsoft.com/office/drawing/2014/main" id="{5155551E-3185-4DCA-8B34-9584C1A92713}"/>
              </a:ext>
            </a:extLst>
          </p:cNvPr>
          <p:cNvCxnSpPr>
            <a:cxnSpLocks/>
            <a:stCxn id="30" idx="1"/>
            <a:endCxn id="21" idx="2"/>
          </p:cNvCxnSpPr>
          <p:nvPr/>
        </p:nvCxnSpPr>
        <p:spPr>
          <a:xfrm rot="10800000">
            <a:off x="8886291" y="4281294"/>
            <a:ext cx="207055" cy="587887"/>
          </a:xfrm>
          <a:prstGeom prst="bentConnector2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A6684AC-1B0A-4C86-92A3-544D21AD4CD0}"/>
              </a:ext>
            </a:extLst>
          </p:cNvPr>
          <p:cNvSpPr txBox="1"/>
          <p:nvPr/>
        </p:nvSpPr>
        <p:spPr>
          <a:xfrm>
            <a:off x="8922087" y="4364294"/>
            <a:ext cx="420555" cy="257369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36000" rIns="36000" bIns="36000" rtlCol="0">
            <a:spAutoFit/>
          </a:bodyPr>
          <a:lstStyle/>
          <a:p>
            <a:r>
              <a:rPr lang="en-US" sz="1200" dirty="0" err="1"/>
              <a:t>len</a:t>
            </a:r>
            <a:r>
              <a:rPr lang="en-US" sz="1200" dirty="0"/>
              <a:t>=</a:t>
            </a:r>
            <a:r>
              <a:rPr lang="ru-RU" sz="1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043CAA-B7F4-4701-9816-41EA25A0AF31}"/>
              </a:ext>
            </a:extLst>
          </p:cNvPr>
          <p:cNvSpPr txBox="1"/>
          <p:nvPr/>
        </p:nvSpPr>
        <p:spPr>
          <a:xfrm>
            <a:off x="9446668" y="4555370"/>
            <a:ext cx="446523" cy="221018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36000" rtlCol="0">
            <a:spAutoFit/>
          </a:bodyPr>
          <a:lstStyle/>
          <a:p>
            <a:r>
              <a:rPr lang="en-US" sz="1200" dirty="0"/>
              <a:t>cap=4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40635142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слайса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424" y="1440000"/>
            <a:ext cx="11271575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Пустой слайс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slice5 []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nil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слайс (указатель в структуре слайса равен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nil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slice6 := []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        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пустой, но не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nil (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указатель в структуре слайса указывает на базовый адрес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(slice5 ==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nil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true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(slice6 ==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nil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2646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со слайсами – </a:t>
            </a:r>
            <a:r>
              <a:rPr lang="en-US" dirty="0"/>
              <a:t>append</a:t>
            </a: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424" y="1440000"/>
            <a:ext cx="11271575" cy="5040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slice []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Добавление одного элемента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slice = append(slice,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slice = append(slice,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Добавление нескольких элементов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slice = append(slice,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Добавление другого слайса (используем ...)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anotherSlice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[]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slice = append(slice,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anotherSlice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...)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(slice)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[1 2 3 4 5 6 7 8]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Если при добавлении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== cap,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то: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- создаётся новый массив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- элементы копируются в новый массив и указатель слайса перемещается на него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размер нового массива в 2 раза больше старого с понижением коэффициента роста до 1.25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- старый массив может быть удалён сборщиком мусора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если не используется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5416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со слайсами – </a:t>
            </a:r>
            <a:r>
              <a:rPr lang="en-US" dirty="0"/>
              <a:t>copy</a:t>
            </a: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424" y="1440000"/>
            <a:ext cx="11271575" cy="5040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source := []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Неправильное копирование (обе переменные указывают на один массив)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wrongCopy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source</a:t>
            </a:r>
          </a:p>
          <a:p>
            <a:pPr marL="0" indent="0"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wrongCopy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"source:"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source) 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[100 2 3 4 5]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"copy:"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wrongCopy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[100 2 3 4 5]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Правильное копирование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properCopy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make([]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(source))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 := copy(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properCopy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source)</a:t>
            </a:r>
          </a:p>
          <a:p>
            <a:pPr marL="0" indent="0"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properCopy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"source:"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source)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[1 2 3 4 5]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"copy:"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properCopy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[200 2 3 4 5]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Скопировано элементов:"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n)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5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Частичное копирование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small := make([]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copy(small, source)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скопирует только первые 3 элемента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"copy:"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small)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[1 2 3]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2358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со слайсами – </a:t>
            </a:r>
            <a:r>
              <a:rPr lang="en-US" dirty="0"/>
              <a:t>slicing</a:t>
            </a: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424" y="1440000"/>
            <a:ext cx="11271575" cy="5040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slice := []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Базовый синтаксис: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slice[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low:high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sub1 := slice[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элементы с индексом 2, 3, 4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"slice[2:5]:"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sub1)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[2 3 4]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Опускание границ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sub2 := slice[: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от начала до индекса 2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sub3 := slice[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:]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от индекса 7 до конца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sub4 := slice[:]  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полная копия (но тот же базовый массив!)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"slice[:3]:"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sub2)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[0 1 2]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"slice[7:]:"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sub3)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[7 8 9]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"slice[:]:"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sub4)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[0 1 2 3 4 5 6 7 8 9]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 указанием емкости: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slice[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low:high:src_max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шаг!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slice[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Ошибка.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src_max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должен быть &gt;= конечному индексу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sub5 := slice[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=3, cap=3 (5-2)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sub6 := slice[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=3, cap=5 (7-2)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"slice[2:5:5]: , 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(sub5), cap(sub5)) // [2 3 4] 3 3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slice[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]: 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(sub6), cap(sub6))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[2 3 4] 3 5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5329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со слайсами – </a:t>
            </a:r>
            <a:r>
              <a:rPr lang="en-US" dirty="0"/>
              <a:t>slicing</a:t>
            </a: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424" y="1440000"/>
            <a:ext cx="11271575" cy="5040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slice := []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Базовый синтаксис: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slice[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low:high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sub1 := slice[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элементы с индексом 2, 3, 4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"slice[2:5]:"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sub1)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[2 3 4]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Опускание границ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sub2 := slice[: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от начала до индекса 2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sub3 := slice[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:]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от индекса 7 до конца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sub4 := slice[:]  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полная копия (но тот же базовый массив!)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"slice[:3]:"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sub2)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[0 1 2]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"slice[7:]:"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sub3)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[7 8 9]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"slice[:]:"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sub4)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[0 1 2 3 4 5 6 7 8 9]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 указанием емкости: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slice[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low:high:src_max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шаг!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slice[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Ошибка.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src_max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должен быть &gt;= конечному индексу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sub5 := slice[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=3, cap=3 (5-2)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sub6 := slice[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=3, cap=5 (7-2)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"slice[2:5:5]: , 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(sub5), cap(sub5)) // [2 3 4] 3 3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slice[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]: 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(sub6), cap(sub6))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[2 3 4] 3 5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5790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со слайсами – удаление элементов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424" y="1440000"/>
            <a:ext cx="11271575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Массив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[...]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Полный слайс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slice :=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[:]</a:t>
            </a:r>
          </a:p>
          <a:p>
            <a:pPr marL="0" indent="0">
              <a:buNone/>
            </a:pP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Удаляем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n-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й элемент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 :=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slice = append(slice[:n], slice[n+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:]...)</a:t>
            </a: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(slice)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[0 1 2 3 4 5 6 7 8 9]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[0 1 2 3 4 6 7 8 9 9]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0826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Утечка памяти через слайс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424" y="1440000"/>
            <a:ext cx="11271575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processData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[]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data := make([]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1000000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1MB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...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заполняем данными ...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Возвращаем маленький срез, но базовый массив остается в памяти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data[: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УТЕЧКА! весь 1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MB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массив остается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3451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800" y="273601"/>
            <a:ext cx="10515600" cy="725130"/>
          </a:xfrm>
        </p:spPr>
        <p:txBody>
          <a:bodyPr/>
          <a:lstStyle/>
          <a:p>
            <a:r>
              <a:rPr lang="ru-RU" dirty="0"/>
              <a:t>Передача слайсов в функцию</a:t>
            </a:r>
            <a:r>
              <a:rPr lang="en-US" dirty="0"/>
              <a:t> </a:t>
            </a:r>
            <a:r>
              <a:rPr lang="ru-RU" dirty="0"/>
              <a:t>по значению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5" y="1578544"/>
            <a:ext cx="10515599" cy="4608044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endParaRPr lang="ru-RU" sz="1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[]</a:t>
            </a: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копия слайса </a:t>
            </a:r>
            <a:r>
              <a:rPr lang="ru-RU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(т.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е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 копия структуры), но указывает на тот же массив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</a:t>
            </a: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b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337976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800" y="273601"/>
            <a:ext cx="10515600" cy="725130"/>
          </a:xfrm>
        </p:spPr>
        <p:txBody>
          <a:bodyPr/>
          <a:lstStyle/>
          <a:p>
            <a:r>
              <a:rPr lang="ru-RU" dirty="0"/>
              <a:t>Передача слайсов в функцию по значению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0E4D15BE-16AD-EC90-2324-13F155BE450B}"/>
              </a:ext>
            </a:extLst>
          </p:cNvPr>
          <p:cNvSpPr/>
          <p:nvPr/>
        </p:nvSpPr>
        <p:spPr>
          <a:xfrm>
            <a:off x="994008" y="1724824"/>
            <a:ext cx="3174534" cy="4364213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[]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[]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C91663F-5707-214C-1AB5-44695E92CB45}"/>
              </a:ext>
            </a:extLst>
          </p:cNvPr>
          <p:cNvSpPr/>
          <p:nvPr/>
        </p:nvSpPr>
        <p:spPr>
          <a:xfrm>
            <a:off x="4218581" y="1724824"/>
            <a:ext cx="1048743" cy="4364213"/>
          </a:xfrm>
          <a:prstGeom prst="roundRect">
            <a:avLst>
              <a:gd name="adj" fmla="val 4514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</a:rPr>
              <a:t>[4 4 4]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[4 4 4]</a:t>
            </a:r>
            <a:endParaRPr lang="en-US" sz="160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Прямоугольник: скругленные углы 3">
            <a:extLst>
              <a:ext uri="{FF2B5EF4-FFF2-40B4-BE49-F238E27FC236}">
                <a16:creationId xmlns:a16="http://schemas.microsoft.com/office/drawing/2014/main" id="{0E4D15BE-16AD-EC90-2324-13F155BE450B}"/>
              </a:ext>
            </a:extLst>
          </p:cNvPr>
          <p:cNvSpPr/>
          <p:nvPr/>
        </p:nvSpPr>
        <p:spPr>
          <a:xfrm>
            <a:off x="6529067" y="1724823"/>
            <a:ext cx="3175200" cy="4364211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change(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[]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[]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[]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change(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Прямоугольник: скругленные углы 5">
            <a:extLst>
              <a:ext uri="{FF2B5EF4-FFF2-40B4-BE49-F238E27FC236}">
                <a16:creationId xmlns:a16="http://schemas.microsoft.com/office/drawing/2014/main" id="{DC91663F-5707-214C-1AB5-44695E92CB45}"/>
              </a:ext>
            </a:extLst>
          </p:cNvPr>
          <p:cNvSpPr/>
          <p:nvPr/>
        </p:nvSpPr>
        <p:spPr>
          <a:xfrm>
            <a:off x="9771656" y="1724824"/>
            <a:ext cx="1220194" cy="4364211"/>
          </a:xfrm>
          <a:prstGeom prst="roundRect">
            <a:avLst>
              <a:gd name="adj" fmla="val 4514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</a:rPr>
              <a:t>[4 4 4]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[1 2 3]</a:t>
            </a:r>
            <a:endParaRPr lang="en-US" sz="160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8141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800" y="273601"/>
            <a:ext cx="10515600" cy="725130"/>
          </a:xfrm>
        </p:spPr>
        <p:txBody>
          <a:bodyPr/>
          <a:lstStyle/>
          <a:p>
            <a:r>
              <a:rPr lang="ru-RU" dirty="0"/>
              <a:t>Передача слайсов в функцию</a:t>
            </a:r>
          </a:p>
        </p:txBody>
      </p:sp>
      <p:sp>
        <p:nvSpPr>
          <p:cNvPr id="8" name="Прямоугольник: скругленные углы 3">
            <a:extLst>
              <a:ext uri="{FF2B5EF4-FFF2-40B4-BE49-F238E27FC236}">
                <a16:creationId xmlns:a16="http://schemas.microsoft.com/office/drawing/2014/main" id="{0E4D15BE-16AD-EC90-2324-13F155BE450B}"/>
              </a:ext>
            </a:extLst>
          </p:cNvPr>
          <p:cNvSpPr/>
          <p:nvPr/>
        </p:nvSpPr>
        <p:spPr>
          <a:xfrm>
            <a:off x="989728" y="1400173"/>
            <a:ext cx="3175200" cy="4688862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[]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[]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Прямоугольник: скругленные углы 5">
            <a:extLst>
              <a:ext uri="{FF2B5EF4-FFF2-40B4-BE49-F238E27FC236}">
                <a16:creationId xmlns:a16="http://schemas.microsoft.com/office/drawing/2014/main" id="{DC91663F-5707-214C-1AB5-44695E92CB45}"/>
              </a:ext>
            </a:extLst>
          </p:cNvPr>
          <p:cNvSpPr/>
          <p:nvPr/>
        </p:nvSpPr>
        <p:spPr>
          <a:xfrm>
            <a:off x="4232317" y="1400174"/>
            <a:ext cx="1220194" cy="4688862"/>
          </a:xfrm>
          <a:prstGeom prst="roundRect">
            <a:avLst>
              <a:gd name="adj" fmla="val 4514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</a:rPr>
              <a:t>[4 4 4 4]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[1 2 3]</a:t>
            </a:r>
            <a:endParaRPr lang="en-US" sz="160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Прямоугольник: скругленные углы 3">
            <a:extLst>
              <a:ext uri="{FF2B5EF4-FFF2-40B4-BE49-F238E27FC236}">
                <a16:creationId xmlns:a16="http://schemas.microsoft.com/office/drawing/2014/main" id="{4B671247-9D76-4741-8F99-DB7DBE966B28}"/>
              </a:ext>
            </a:extLst>
          </p:cNvPr>
          <p:cNvSpPr/>
          <p:nvPr/>
        </p:nvSpPr>
        <p:spPr>
          <a:xfrm>
            <a:off x="6497403" y="1400175"/>
            <a:ext cx="3175200" cy="4688862"/>
          </a:xfrm>
          <a:prstGeom prst="roundRect">
            <a:avLst>
              <a:gd name="adj" fmla="val 45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[]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[]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Прямоугольник: скругленные углы 5">
            <a:extLst>
              <a:ext uri="{FF2B5EF4-FFF2-40B4-BE49-F238E27FC236}">
                <a16:creationId xmlns:a16="http://schemas.microsoft.com/office/drawing/2014/main" id="{95169407-8CEC-4299-AD30-20DFCECE4236}"/>
              </a:ext>
            </a:extLst>
          </p:cNvPr>
          <p:cNvSpPr/>
          <p:nvPr/>
        </p:nvSpPr>
        <p:spPr>
          <a:xfrm>
            <a:off x="9739992" y="1400174"/>
            <a:ext cx="1458000" cy="4688863"/>
          </a:xfrm>
          <a:prstGeom prst="roundRect">
            <a:avLst>
              <a:gd name="adj" fmla="val 4514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Consolas" panose="020B0609020204030204" pitchFamily="49" charset="0"/>
              </a:rPr>
              <a:t>[4 4 4 4 4]</a:t>
            </a:r>
          </a:p>
          <a:p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[4 4 4 4]</a:t>
            </a:r>
            <a:endParaRPr lang="en-US" sz="160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1532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800" y="273601"/>
            <a:ext cx="10515600" cy="725130"/>
          </a:xfrm>
        </p:spPr>
        <p:txBody>
          <a:bodyPr/>
          <a:lstStyle/>
          <a:p>
            <a:r>
              <a:rPr lang="ru-RU" dirty="0"/>
              <a:t>Передача слайсов в функцию</a:t>
            </a:r>
            <a:r>
              <a:rPr lang="en-US" dirty="0"/>
              <a:t> </a:t>
            </a:r>
            <a:r>
              <a:rPr lang="ru-RU" dirty="0"/>
              <a:t>по указателю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5" y="1578544"/>
            <a:ext cx="10515599" cy="46080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change(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*[]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*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[]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[4, 4, 4]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[]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change(&amp;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[4, 4, 4]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Как правило от передачи слайсов по указателю нет особенной пользы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8353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800" y="273601"/>
            <a:ext cx="10515600" cy="725130"/>
          </a:xfrm>
        </p:spPr>
        <p:txBody>
          <a:bodyPr/>
          <a:lstStyle/>
          <a:p>
            <a:r>
              <a:rPr lang="ru-RU" dirty="0"/>
              <a:t>Возврат слайсов из функции</a:t>
            </a:r>
            <a:r>
              <a:rPr lang="en-US" dirty="0"/>
              <a:t> </a:t>
            </a:r>
            <a:r>
              <a:rPr lang="ru-RU" dirty="0"/>
              <a:t>по значению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5" y="1578544"/>
            <a:ext cx="10515599" cy="46080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nweArray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[]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[:]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nweArray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[1, 2, 3]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Безопасно. Массив будет жить, пока на него ссылается слайс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5099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4CCAD-D8B7-4D20-C334-518A915F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800" y="273601"/>
            <a:ext cx="10515600" cy="725130"/>
          </a:xfrm>
        </p:spPr>
        <p:txBody>
          <a:bodyPr/>
          <a:lstStyle/>
          <a:p>
            <a:r>
              <a:rPr lang="ru-RU" dirty="0"/>
              <a:t>Возврат слайсов из функции</a:t>
            </a:r>
            <a:r>
              <a:rPr lang="en-US" dirty="0"/>
              <a:t> </a:t>
            </a:r>
            <a:r>
              <a:rPr lang="ru-RU" dirty="0"/>
              <a:t>по указателю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A9400-BB26-B88C-DC7D-CC0DAFCB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65" y="1578544"/>
            <a:ext cx="10515599" cy="46080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nweArray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*[]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slise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[:]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slise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nweArray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[1, 2, 3]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Безопасно. Массив будет жить, пока на него ссылается слайс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// Не имеет практической пользы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4525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Многомерные статические массивы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Объявление 3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x4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матрицы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matrix [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Инициализация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matrix = [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Трехмерный массив (куб 2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x3x4)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cube := [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},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23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},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Автоматический подсчет размера (только для первого индекса)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autoMatrix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[...][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 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[3][2]int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Доступ к элементам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 := matrix[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7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matrix[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изменяем элемент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1093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Размещение многомерного статического массива в памяти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Двумерный массив (матрица 3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x4)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matrix = 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Элементы расположены в памяти</a:t>
            </a:r>
            <a:endParaRPr lang="ru-RU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Трехмерный массив (куб 2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x3x4)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cube := 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},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},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dirty="0">
                <a:solidFill>
                  <a:srgbClr val="008000"/>
                </a:solidFill>
                <a:latin typeface="Consolas" panose="020B0609020204030204" pitchFamily="49" charset="0"/>
              </a:rPr>
              <a:t>Элементы расположены в памяти</a:t>
            </a:r>
            <a:endParaRPr lang="ru-RU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2637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Многомерные слайсы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Создание 2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слайса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rows, cols :=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matrix := make([][]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rows)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matrix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matrix[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make([]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cols)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j :=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matrix[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matrix[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][j] =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j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Матрица 3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x4:"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_, row :=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matrix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(row)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Слайс слайсов (нерегулярная матрица)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jagged := [][]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"\n</a:t>
            </a:r>
            <a:r>
              <a:rPr lang="ru-RU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Рваный массив:"</a:t>
            </a:r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_, row :=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jagged 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(row)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733584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Строки</a:t>
            </a:r>
          </a:p>
        </p:txBody>
      </p:sp>
    </p:spTree>
    <p:extLst>
      <p:ext uri="{BB962C8B-B14F-4D97-AF65-F5344CB8AC3E}">
        <p14:creationId xmlns:p14="http://schemas.microsoft.com/office/powerpoint/2010/main" val="34275380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Строка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800" dirty="0">
                <a:solidFill>
                  <a:srgbClr val="008000"/>
                </a:solidFill>
                <a:latin typeface="Consolas" panose="020B0609020204030204" pitchFamily="49" charset="0"/>
              </a:rPr>
              <a:t>Строка устроена так:</a:t>
            </a:r>
          </a:p>
          <a:p>
            <a:pPr marL="0" indent="0">
              <a:spcBef>
                <a:spcPts val="0"/>
              </a:spcBef>
              <a:buNone/>
            </a:pPr>
            <a:endParaRPr lang="ru-R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Pointer </a:t>
            </a:r>
            <a:r>
              <a:rPr lang="en-US" sz="18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uintptr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Указатель на массив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байт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  </a:t>
            </a: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0FC5DE1-5C92-4118-B305-538523538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160" y="2843935"/>
            <a:ext cx="3871427" cy="247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6145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и изменение строка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18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8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8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Создаём строку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Пустая строка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str1 =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str2 :=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"World"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Длина строки (%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s): %d\n"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str2,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(str2))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5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str2[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'h'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ОШИБКА: строка - это неизменяемая последовательность байт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705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Строка </a:t>
            </a:r>
            <a:r>
              <a:rPr lang="en-US" dirty="0"/>
              <a:t>-&gt;</a:t>
            </a:r>
            <a:r>
              <a:rPr lang="ru-RU" dirty="0"/>
              <a:t> Массив байт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 :=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Преобразование в массив байт фиксированного размера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byteArr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byte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copy(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byteArr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[:], str)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Копируем содержимое строки в массив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Массив байт: %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v\n"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byteArr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[72 101 108 108 111]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Автоматическое преобразование в срез байт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byteSlice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(str)</a:t>
            </a:r>
          </a:p>
          <a:p>
            <a:pPr marL="0" indent="0"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Срез байт: %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v\n"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byteSlice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[72 101 108 108 111]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Изменяем срез байт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byteSlice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104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'h'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Измененный срез: %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v\n"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byteSlice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[104 101 108 108 111]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Оригинальная строка: %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s\n"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str)  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"Hello" -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изменилась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1061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 байт </a:t>
            </a:r>
            <a:r>
              <a:rPr lang="en-US" dirty="0"/>
              <a:t>-&gt;</a:t>
            </a:r>
            <a:r>
              <a:rPr lang="ru-RU" dirty="0"/>
              <a:t> Строка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Из массива байт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byteArray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65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66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67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'A', 'B', 'C'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str1 :=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byteArray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[:])</a:t>
            </a:r>
          </a:p>
          <a:p>
            <a:pPr marL="0" indent="0"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(str1)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"ABC"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Из среза байт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byteSlice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[]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108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108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"Hello"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str2 :=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byteSlice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(str2)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"Hello"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Прямое создание из массива (неявное преобразование)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str3 :=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byteArray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[:])</a:t>
            </a:r>
          </a:p>
          <a:p>
            <a:pPr marL="0" indent="0"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(str3)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"ABC"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478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Итерирование по массиву байт строки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 :=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Доступ к отдельным байтам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Функция </a:t>
            </a:r>
            <a:r>
              <a:rPr lang="en-US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возвращает длину в байтах!</a:t>
            </a:r>
            <a:endParaRPr lang="en-US" sz="1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(str);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 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"str[%d] = %d (%c)\n"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str[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str[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00785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новой строки как слайса байт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 :=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h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ello, world"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str2 := str[: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hello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str3 := str[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:] 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world</a:t>
            </a:r>
            <a:endParaRPr lang="ru-RU" sz="14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4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4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4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4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4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1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 :=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"Hello, </a:t>
            </a:r>
            <a:r>
              <a:rPr lang="ja-JP" alt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世界</a:t>
            </a:r>
            <a:r>
              <a:rPr lang="en-US" altLang="ja-JP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ja-JP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str2 := str[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��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str3 := str[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 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ja-JP" alt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世</a:t>
            </a:r>
            <a:endParaRPr lang="ja-JP" alt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Такой синтаксис вырезает последовательности байт, но не символов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 символ может быть закодирован последовательностью из нескольких байт 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D42A0A3-FC4F-42B1-A333-1E9287268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515" y="2348880"/>
            <a:ext cx="847725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39088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Строка</a:t>
            </a:r>
            <a:r>
              <a:rPr lang="en-US" dirty="0"/>
              <a:t> </a:t>
            </a:r>
            <a:r>
              <a:rPr lang="ru-RU" dirty="0"/>
              <a:t>--</a:t>
            </a:r>
            <a:r>
              <a:rPr lang="en-US" dirty="0"/>
              <a:t>&gt;</a:t>
            </a:r>
            <a:r>
              <a:rPr lang="ru-RU" dirty="0"/>
              <a:t> Слайс рун --</a:t>
            </a:r>
            <a:r>
              <a:rPr lang="en-US" dirty="0"/>
              <a:t>&gt; </a:t>
            </a:r>
            <a:r>
              <a:rPr lang="ru-RU" dirty="0"/>
              <a:t>Строка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 :=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"Hello, </a:t>
            </a:r>
            <a:r>
              <a:rPr lang="ja-JP" alt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世界</a:t>
            </a:r>
            <a:r>
              <a:rPr lang="en-US" altLang="ja-JP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ja-JP" alt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runes := []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rune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(str)</a:t>
            </a: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Срез рун: %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v\n"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runes)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[72 101 108 108 111 44 32 19990 30028]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Длина в рунах: %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d\n"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(runes))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9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Обратно в строку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newStr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(runes)</a:t>
            </a:r>
          </a:p>
          <a:p>
            <a:pPr marL="0" indent="0"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newStr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"Hello, </a:t>
            </a:r>
            <a:r>
              <a:rPr lang="ja-JP" alt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世界</a:t>
            </a:r>
            <a:r>
              <a:rPr lang="en-US" altLang="ja-JP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</a:t>
            </a:r>
            <a:endParaRPr lang="ja-JP" alt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ja-JP" alt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Изменение через руны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runes[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М'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runes[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И'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modifiedStr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(runes)</a:t>
            </a:r>
          </a:p>
          <a:p>
            <a:pPr marL="0" indent="0">
              <a:buNone/>
            </a:pP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modifiedStr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"Hello,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МИ"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5259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Итерирование по рунам строки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unicode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/utf8"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(utf8.RuneCountInString(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мир"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мир"</a:t>
            </a: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3 6</a:t>
            </a:r>
            <a:endParaRPr lang="ru-RU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(utf8.RuneCountInString(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ja-JP" alt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世界</a:t>
            </a:r>
            <a:r>
              <a:rPr lang="en-US" altLang="ja-JP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ja-JP" alt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世界</a:t>
            </a:r>
            <a:r>
              <a:rPr lang="en-US" altLang="ja-JP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altLang="ja-JP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 6</a:t>
            </a:r>
            <a:endParaRPr lang="ja-JP" alt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ja-JP" alt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ja-JP" alt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 :=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"Hello, </a:t>
            </a:r>
            <a:r>
              <a:rPr lang="ja-JP" alt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世界</a:t>
            </a:r>
            <a:r>
              <a:rPr lang="en-US" altLang="ja-JP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ja-JP" alt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ja-JP" alt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_, r :=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 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"%c 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r)  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H e l </a:t>
            </a:r>
            <a:r>
              <a:rPr lang="en-US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o ,   </a:t>
            </a:r>
            <a:r>
              <a:rPr lang="ja-JP" alt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世 界</a:t>
            </a:r>
            <a:endParaRPr lang="ja-JP" alt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ja-JP" alt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ja-JP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077654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Сборка строки из кусочков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29A454D0-EF88-4F11-B718-51B45AF2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999" y="1440000"/>
            <a:ext cx="10800000" cy="5040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"strings"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runes := []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rune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П'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'р'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'и'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'в'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'е'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'т'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pPr marL="0" indent="0"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str1 :=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(runes);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 {  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str1 = str1 +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(runes[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 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Быстрее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builder :=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strings.Builder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  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(runes);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 {  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builder.WriteRune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(runes[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 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 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str2 :=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builder.String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(str1, str2)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25724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Структуры</a:t>
            </a:r>
          </a:p>
        </p:txBody>
      </p:sp>
    </p:spTree>
    <p:extLst>
      <p:ext uri="{BB962C8B-B14F-4D97-AF65-F5344CB8AC3E}">
        <p14:creationId xmlns:p14="http://schemas.microsoft.com/office/powerpoint/2010/main" val="5495523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Consolas" panose="020B0609020204030204" pitchFamily="49" charset="0"/>
              </a:rPr>
              <a:t>Хранить в программе описание характеристик некоторого объекта</a:t>
            </a:r>
          </a:p>
          <a:p>
            <a:endParaRPr lang="ru-RU" dirty="0">
              <a:latin typeface="Consolas" panose="020B0609020204030204" pitchFamily="49" charset="0"/>
            </a:endParaRPr>
          </a:p>
          <a:p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1450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</a:t>
            </a:r>
            <a:r>
              <a:rPr lang="en-US" dirty="0"/>
              <a:t>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aliceBirthYear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aliceBirthMonth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aliceBirthDay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aliceHeight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float64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aliceWeight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float64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bobBirthYear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bobBirthMonth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bobBirthDay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bobHeight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float64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bobWeight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float64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5737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</a:t>
            </a:r>
            <a:r>
              <a:rPr lang="en-US" dirty="0"/>
              <a:t>I - </a:t>
            </a:r>
            <a:r>
              <a:rPr lang="ru-RU" dirty="0"/>
              <a:t>Проблемы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10137625" cy="4525963"/>
          </a:xfrm>
        </p:spPr>
        <p:txBody>
          <a:bodyPr/>
          <a:lstStyle/>
          <a:p>
            <a:r>
              <a:rPr lang="ru-RU" dirty="0">
                <a:latin typeface="Consolas" panose="020B0609020204030204" pitchFamily="49" charset="0"/>
              </a:rPr>
              <a:t>Для каждого человека нужно создавать по пять отдельных переменных – </a:t>
            </a:r>
            <a:r>
              <a:rPr lang="ru-RU" dirty="0">
                <a:solidFill>
                  <a:srgbClr val="FF0000"/>
                </a:solidFill>
                <a:latin typeface="Consolas" panose="020B0609020204030204" pitchFamily="49" charset="0"/>
              </a:rPr>
              <a:t>долго, могут быть опечатки</a:t>
            </a:r>
          </a:p>
          <a:p>
            <a:endParaRPr lang="ru-RU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atinLnBrk="1"/>
            <a:r>
              <a:rPr lang="ru-RU" dirty="0">
                <a:latin typeface="Consolas" panose="020B0609020204030204" pitchFamily="49" charset="0"/>
              </a:rPr>
              <a:t>Чтобы передать в функцию, нужно перечислить все аргументы – </a:t>
            </a:r>
            <a:r>
              <a:rPr lang="ru-RU" dirty="0">
                <a:solidFill>
                  <a:srgbClr val="FF0000"/>
                </a:solidFill>
                <a:latin typeface="Consolas" panose="020B0609020204030204" pitchFamily="49" charset="0"/>
              </a:rPr>
              <a:t>можно перепутать порядок</a:t>
            </a:r>
            <a:br>
              <a:rPr lang="ru-RU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br>
              <a:rPr lang="ru-RU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aliceBirthYear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aliceBirthMonth</a:t>
            </a:r>
            <a:r>
              <a:rPr lang="en-US" dirty="0">
                <a:latin typeface="Consolas" panose="020B0609020204030204" pitchFamily="49" charset="0"/>
              </a:rPr>
              <a:t>,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</a:t>
            </a:r>
            <a:r>
              <a:rPr lang="en-US" dirty="0" err="1">
                <a:latin typeface="Consolas" panose="020B0609020204030204" pitchFamily="49" charset="0"/>
              </a:rPr>
              <a:t>aliceBirthDay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aliceHeight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aliceWeight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;</a:t>
            </a:r>
            <a:endParaRPr lang="ru-RU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latinLnBrk="1"/>
            <a:endParaRPr lang="ru-RU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latinLnBrk="1"/>
            <a:r>
              <a:rPr lang="ru-RU" dirty="0">
                <a:latin typeface="Consolas" panose="020B0609020204030204" pitchFamily="49" charset="0"/>
              </a:rPr>
              <a:t>Как вернуть из функции?</a:t>
            </a:r>
          </a:p>
        </p:txBody>
      </p:sp>
    </p:spTree>
    <p:extLst>
      <p:ext uri="{BB962C8B-B14F-4D97-AF65-F5344CB8AC3E}">
        <p14:creationId xmlns:p14="http://schemas.microsoft.com/office/powerpoint/2010/main" val="16701100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</a:t>
            </a:r>
            <a:r>
              <a:rPr lang="en-US" dirty="0"/>
              <a:t>II - </a:t>
            </a:r>
            <a:r>
              <a:rPr lang="ru-RU" dirty="0"/>
              <a:t>Структуры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human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Свой тип данных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aliceBirthYear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aliceBirthMonth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aliceBirthDay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aliceHeight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float64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aliceWeight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float64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human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Создаём переменные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07271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</a:t>
            </a:r>
            <a:r>
              <a:rPr lang="en-US" dirty="0"/>
              <a:t>II - </a:t>
            </a:r>
            <a:r>
              <a:rPr lang="ru-RU" dirty="0"/>
              <a:t>Структуры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aliceBirthYear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aliceBirthMonth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aliceBirthDay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aliceHeight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float64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aliceWeight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float64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56970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</a:t>
            </a:r>
            <a:r>
              <a:rPr lang="en-US" dirty="0"/>
              <a:t>II - </a:t>
            </a:r>
            <a:r>
              <a:rPr lang="ru-RU" dirty="0"/>
              <a:t>Структуры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alice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aliceBirthYear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aliceBirthMonth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aliceBirthDay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aliceHeight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float64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aliceWeight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float64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Тут обязательно значения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566456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можно объявлять структуры?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ru-RU" sz="2900" dirty="0">
                <a:latin typeface="Consolas" panose="020B0609020204030204" pitchFamily="49" charset="0"/>
              </a:rPr>
              <a:t>Внутри функций</a:t>
            </a:r>
            <a:br>
              <a:rPr lang="en-US" sz="2900" dirty="0">
                <a:latin typeface="Consolas" panose="020B0609020204030204" pitchFamily="49" charset="0"/>
              </a:rPr>
            </a:br>
            <a:r>
              <a:rPr lang="en-US" sz="2900" dirty="0" err="1">
                <a:solidFill>
                  <a:srgbClr val="0000FF"/>
                </a:solidFill>
                <a:latin typeface="Consolas" panose="020B0609020204030204" pitchFamily="49" charset="0"/>
              </a:rPr>
              <a:t>func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900" dirty="0">
                <a:solidFill>
                  <a:srgbClr val="795E26"/>
                </a:solidFill>
                <a:latin typeface="Consolas" panose="020B0609020204030204" pitchFamily="49" charset="0"/>
              </a:rPr>
              <a:t>foo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sz="2900" dirty="0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900" dirty="0">
                <a:solidFill>
                  <a:srgbClr val="267F99"/>
                </a:solidFill>
                <a:latin typeface="Consolas" panose="020B0609020204030204" pitchFamily="49" charset="0"/>
              </a:rPr>
              <a:t>num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9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400050" lvl="1" indent="0">
              <a:buNone/>
            </a:pP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9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9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endParaRPr lang="en-US" sz="2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00050" lvl="1" indent="0">
              <a:buNone/>
            </a:pP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endParaRPr lang="en-US" sz="2900" dirty="0">
              <a:latin typeface="Consolas" panose="020B0609020204030204" pitchFamily="49" charset="0"/>
            </a:endParaRPr>
          </a:p>
          <a:p>
            <a:r>
              <a:rPr lang="ru-RU" sz="2900" dirty="0">
                <a:latin typeface="Consolas" panose="020B0609020204030204" pitchFamily="49" charset="0"/>
              </a:rPr>
              <a:t>Вне функций</a:t>
            </a:r>
            <a:endParaRPr lang="en-US" sz="2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900" dirty="0">
                <a:solidFill>
                  <a:srgbClr val="0000FF"/>
                </a:solidFill>
                <a:latin typeface="Consolas" panose="020B0609020204030204" pitchFamily="49" charset="0"/>
              </a:rPr>
              <a:t>    type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900" dirty="0">
                <a:solidFill>
                  <a:srgbClr val="267F99"/>
                </a:solidFill>
                <a:latin typeface="Consolas" panose="020B0609020204030204" pitchFamily="49" charset="0"/>
              </a:rPr>
              <a:t>num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9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400050" lvl="1" indent="0">
              <a:buNone/>
            </a:pP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9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9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endParaRPr lang="en-US" sz="2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b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900" dirty="0" err="1">
                <a:solidFill>
                  <a:srgbClr val="0000FF"/>
                </a:solidFill>
                <a:latin typeface="Consolas" panose="020B0609020204030204" pitchFamily="49" charset="0"/>
              </a:rPr>
              <a:t>func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900" dirty="0">
                <a:solidFill>
                  <a:srgbClr val="795E26"/>
                </a:solidFill>
                <a:latin typeface="Consolas" panose="020B0609020204030204" pitchFamily="49" charset="0"/>
              </a:rPr>
              <a:t>foo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lang="en-US" sz="2900" dirty="0">
              <a:latin typeface="Consolas" panose="020B0609020204030204" pitchFamily="49" charset="0"/>
            </a:endParaRPr>
          </a:p>
          <a:p>
            <a:r>
              <a:rPr lang="ru-RU" sz="2900" dirty="0">
                <a:latin typeface="Consolas" panose="020B0609020204030204" pitchFamily="49" charset="0"/>
              </a:rPr>
              <a:t>Внутри других структур</a:t>
            </a:r>
            <a:endParaRPr lang="en-US" sz="2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900" dirty="0">
                <a:solidFill>
                  <a:srgbClr val="0000FF"/>
                </a:solidFill>
                <a:latin typeface="Consolas" panose="020B0609020204030204" pitchFamily="49" charset="0"/>
              </a:rPr>
              <a:t>    type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900" dirty="0">
                <a:solidFill>
                  <a:srgbClr val="267F99"/>
                </a:solidFill>
                <a:latin typeface="Consolas" panose="020B0609020204030204" pitchFamily="49" charset="0"/>
              </a:rPr>
              <a:t>num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9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        j </a:t>
            </a:r>
            <a:r>
              <a:rPr lang="en-US" sz="29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    </a:t>
            </a:r>
            <a:r>
              <a:rPr lang="en-US" sz="2900" dirty="0" err="1">
                <a:solidFill>
                  <a:srgbClr val="000000"/>
                </a:solidFill>
                <a:latin typeface="Consolas" panose="020B0609020204030204" pitchFamily="49" charset="0"/>
              </a:rPr>
              <a:t>val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9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endParaRPr lang="en-US" sz="2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        }</a:t>
            </a:r>
          </a:p>
          <a:p>
            <a:pPr marL="0" indent="0">
              <a:buNone/>
            </a:pP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        </a:t>
            </a:r>
            <a:r>
              <a:rPr lang="en-US" sz="29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9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endParaRPr lang="en-US" sz="2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9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1083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может быть членом структуры?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Consolas" panose="020B0609020204030204" pitchFamily="49" charset="0"/>
              </a:rPr>
              <a:t>Если можно создать переменную этого типа, то это может быть членом структуры</a:t>
            </a:r>
          </a:p>
          <a:p>
            <a:pPr marL="0" indent="0">
              <a:buNone/>
            </a:pP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Например:</a:t>
            </a:r>
          </a:p>
          <a:p>
            <a:r>
              <a:rPr lang="ru-RU" dirty="0">
                <a:latin typeface="Consolas" panose="020B0609020204030204" pitchFamily="49" charset="0"/>
              </a:rPr>
              <a:t>Примитивные типы: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float64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byte</a:t>
            </a:r>
            <a:r>
              <a:rPr lang="en-US" dirty="0">
                <a:latin typeface="Consolas" panose="020B0609020204030204" pitchFamily="49" charset="0"/>
              </a:rPr>
              <a:t> ...</a:t>
            </a:r>
          </a:p>
          <a:p>
            <a:r>
              <a:rPr lang="ru-RU" dirty="0">
                <a:latin typeface="Consolas" panose="020B0609020204030204" pitchFamily="49" charset="0"/>
              </a:rPr>
              <a:t>Другие структуры</a:t>
            </a:r>
            <a:r>
              <a:rPr lang="en-US" dirty="0">
                <a:latin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Массивы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latin typeface="Consolas" panose="020B0609020204030204" pitchFamily="49" charset="0"/>
              </a:rPr>
              <a:t>Строки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</a:rPr>
              <a:t>...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3940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Имена полей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DataOut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Year 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Month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Day  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DataIn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year 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month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day  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Поля структуры </a:t>
            </a:r>
            <a:r>
              <a:rPr lang="en-US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DataIn</a:t>
            </a:r>
            <a:r>
              <a:rPr lang="ru-RU" sz="1600" dirty="0">
                <a:solidFill>
                  <a:srgbClr val="267F99"/>
                </a:solidFill>
                <a:latin typeface="Consolas" panose="020B0609020204030204" pitchFamily="49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видны только в этом пакете, т.е. их можно назвать приватными полями.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Поля структуры </a:t>
            </a:r>
            <a:r>
              <a:rPr lang="en-US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DataOut</a:t>
            </a:r>
            <a:r>
              <a:rPr lang="ru-RU" sz="1600" dirty="0">
                <a:solidFill>
                  <a:srgbClr val="267F99"/>
                </a:solidFill>
                <a:latin typeface="Consolas" panose="020B0609020204030204" pitchFamily="49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видны за пределами пакета, т.е. их можно назвать публичными полями.</a:t>
            </a:r>
          </a:p>
        </p:txBody>
      </p:sp>
    </p:spTree>
    <p:extLst>
      <p:ext uri="{BB962C8B-B14F-4D97-AF65-F5344CB8AC3E}">
        <p14:creationId xmlns:p14="http://schemas.microsoft.com/office/powerpoint/2010/main" val="149212770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работать со структурой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Year  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Month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Day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Data</a:t>
            </a:r>
          </a:p>
          <a:p>
            <a:pPr marL="0" indent="0">
              <a:buNone/>
            </a:pP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now.Year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2018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now.Day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now.Month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9084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работать со структурой </a:t>
            </a:r>
            <a:r>
              <a:rPr lang="en-US" dirty="0"/>
              <a:t>(</a:t>
            </a:r>
            <a:r>
              <a:rPr lang="ru-RU" dirty="0"/>
              <a:t>указатель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Year  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Month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Day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*Data =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(Data)</a:t>
            </a:r>
          </a:p>
          <a:p>
            <a:pPr marL="0" indent="0">
              <a:buNone/>
            </a:pP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now.Year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2018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now.Day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now.Month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5278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работать со структурой </a:t>
            </a:r>
            <a:r>
              <a:rPr lang="en-US" dirty="0"/>
              <a:t>(</a:t>
            </a:r>
            <a:r>
              <a:rPr lang="ru-RU" dirty="0"/>
              <a:t>указатель </a:t>
            </a:r>
            <a:r>
              <a:rPr lang="en-US" dirty="0"/>
              <a:t>II)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Year  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Month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Day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*Data = &amp;Data{}</a:t>
            </a:r>
          </a:p>
          <a:p>
            <a:pPr marL="0" indent="0">
              <a:buNone/>
            </a:pP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now.Year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2018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now.Day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now.Month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49972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работать со структурой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now.Year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now.Year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2019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now.Day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   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9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now.Month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now.Day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now.Year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2028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now.Month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5330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 структуры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847244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267F99"/>
                </a:solidFill>
                <a:latin typeface="Consolas" panose="020B0609020204030204" pitchFamily="49" charset="0"/>
              </a:rPr>
              <a:t>Employee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    id   </a:t>
            </a:r>
            <a:r>
              <a:rPr lang="en-US" sz="22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    age  </a:t>
            </a:r>
            <a:r>
              <a:rPr lang="en-US" sz="22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    wage </a:t>
            </a:r>
            <a:r>
              <a:rPr lang="en-US" sz="2200" dirty="0">
                <a:solidFill>
                  <a:srgbClr val="267F99"/>
                </a:solidFill>
                <a:latin typeface="Consolas" panose="020B0609020204030204" pitchFamily="49" charset="0"/>
              </a:rPr>
              <a:t>float64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200" dirty="0">
                <a:solidFill>
                  <a:srgbClr val="008000"/>
                </a:solidFill>
                <a:latin typeface="Consolas" panose="020B0609020204030204" pitchFamily="49" charset="0"/>
              </a:rPr>
              <a:t>// Значения по умолчанию 0. Поменять нельзя</a:t>
            </a:r>
            <a:endParaRPr lang="en-US" sz="22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1080"/>
                </a:solidFill>
                <a:latin typeface="Consolas" panose="020B0609020204030204" pitchFamily="49" charset="0"/>
              </a:rPr>
              <a:t>Kate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Employee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1080"/>
                </a:solidFill>
                <a:latin typeface="Consolas" panose="020B0609020204030204" pitchFamily="49" charset="0"/>
              </a:rPr>
              <a:t>frank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= Employee{}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1080"/>
                </a:solidFill>
                <a:latin typeface="Consolas" panose="020B0609020204030204" pitchFamily="49" charset="0"/>
              </a:rPr>
              <a:t>joe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= Employee{</a:t>
            </a:r>
            <a:r>
              <a:rPr lang="en-US" sz="2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200" dirty="0">
                <a:solidFill>
                  <a:srgbClr val="098658"/>
                </a:solidFill>
                <a:latin typeface="Consolas" panose="020B0609020204030204" pitchFamily="49" charset="0"/>
              </a:rPr>
              <a:t>32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200" dirty="0">
                <a:solidFill>
                  <a:srgbClr val="098658"/>
                </a:solidFill>
                <a:latin typeface="Consolas" panose="020B0609020204030204" pitchFamily="49" charset="0"/>
              </a:rPr>
              <a:t>60000.0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ru-RU" sz="22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ru-RU" sz="2200" dirty="0">
                <a:solidFill>
                  <a:srgbClr val="008000"/>
                </a:solidFill>
                <a:latin typeface="Consolas" panose="020B0609020204030204" pitchFamily="49" charset="0"/>
              </a:rPr>
              <a:t>// Нужны все</a:t>
            </a:r>
            <a:r>
              <a:rPr lang="en-US" sz="2200" dirty="0">
                <a:solidFill>
                  <a:srgbClr val="008000"/>
                </a:solidFill>
                <a:latin typeface="Consolas" panose="020B0609020204030204" pitchFamily="49" charset="0"/>
              </a:rPr>
              <a:t>!!!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1080"/>
                </a:solidFill>
                <a:latin typeface="Consolas" panose="020B0609020204030204" pitchFamily="49" charset="0"/>
              </a:rPr>
              <a:t>john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= Employee{id: </a:t>
            </a:r>
            <a:r>
              <a:rPr lang="en-US" sz="2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, wage: </a:t>
            </a:r>
            <a:r>
              <a:rPr lang="en-US" sz="2200" dirty="0">
                <a:solidFill>
                  <a:srgbClr val="098658"/>
                </a:solidFill>
                <a:latin typeface="Consolas" panose="020B0609020204030204" pitchFamily="49" charset="0"/>
              </a:rPr>
              <a:t>60000.0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6018125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 слайса структур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8217405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location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name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lat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float64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long 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float64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locations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:= []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location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{name: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"Bradbury Landing"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lat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 -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4.5895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long: 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137.4417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{name: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"Columbia"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lat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 -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14.5684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long: 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175.472636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{name: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"Challenger"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lat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 -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1.9462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long: </a:t>
            </a:r>
            <a:r>
              <a:rPr lang="en-US" sz="1800" dirty="0">
                <a:solidFill>
                  <a:srgbClr val="098658"/>
                </a:solidFill>
                <a:latin typeface="Consolas" panose="020B0609020204030204" pitchFamily="49" charset="0"/>
              </a:rPr>
              <a:t>354.4734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5721699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Присваивание значений структурам  </a:t>
            </a:r>
            <a:r>
              <a:rPr lang="en-US" dirty="0"/>
              <a:t>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795637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id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age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wage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float64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joe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Employee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joe.id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joe.age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joe.wage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60000.0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69108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Присваивание значений структурам  </a:t>
            </a:r>
            <a:r>
              <a:rPr lang="en-US" dirty="0"/>
              <a:t>II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808239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267F99"/>
                </a:solidFill>
                <a:latin typeface="Consolas" panose="020B0609020204030204" pitchFamily="49" charset="0"/>
              </a:rPr>
              <a:t>Employee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    id   </a:t>
            </a:r>
            <a:r>
              <a:rPr lang="en-US" sz="23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endParaRPr lang="en-US" sz="2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    age  </a:t>
            </a:r>
            <a:r>
              <a:rPr lang="en-US" sz="23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endParaRPr lang="en-US" sz="2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    wage </a:t>
            </a:r>
            <a:r>
              <a:rPr lang="en-US" sz="2300" dirty="0">
                <a:solidFill>
                  <a:srgbClr val="267F99"/>
                </a:solidFill>
                <a:latin typeface="Consolas" panose="020B0609020204030204" pitchFamily="49" charset="0"/>
              </a:rPr>
              <a:t>float64</a:t>
            </a:r>
            <a:endParaRPr lang="en-US" sz="2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sz="2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3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001080"/>
                </a:solidFill>
                <a:latin typeface="Consolas" panose="020B0609020204030204" pitchFamily="49" charset="0"/>
              </a:rPr>
              <a:t>joe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300" dirty="0">
                <a:solidFill>
                  <a:srgbClr val="001080"/>
                </a:solidFill>
                <a:latin typeface="Consolas" panose="020B0609020204030204" pitchFamily="49" charset="0"/>
              </a:rPr>
              <a:t>mike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= Employee{</a:t>
            </a:r>
            <a:r>
              <a:rPr lang="en-US" sz="23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3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300" dirty="0">
                <a:solidFill>
                  <a:srgbClr val="098658"/>
                </a:solidFill>
                <a:latin typeface="Consolas" panose="020B0609020204030204" pitchFamily="49" charset="0"/>
              </a:rPr>
              <a:t>3.0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}, Employee{}</a:t>
            </a:r>
          </a:p>
          <a:p>
            <a:pPr marL="0" indent="0">
              <a:buNone/>
            </a:pPr>
            <a:r>
              <a:rPr lang="en-US" sz="2300" dirty="0">
                <a:solidFill>
                  <a:srgbClr val="001080"/>
                </a:solidFill>
                <a:latin typeface="Consolas" panose="020B0609020204030204" pitchFamily="49" charset="0"/>
              </a:rPr>
              <a:t>mike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= joe </a:t>
            </a:r>
            <a:r>
              <a:rPr lang="en-US" sz="23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300" dirty="0">
                <a:solidFill>
                  <a:srgbClr val="008000"/>
                </a:solidFill>
                <a:latin typeface="Consolas" panose="020B0609020204030204" pitchFamily="49" charset="0"/>
              </a:rPr>
              <a:t>Копирование значений </a:t>
            </a:r>
            <a:r>
              <a:rPr lang="en-US" sz="2300" dirty="0">
                <a:solidFill>
                  <a:srgbClr val="008000"/>
                </a:solidFill>
                <a:latin typeface="Consolas" panose="020B0609020204030204" pitchFamily="49" charset="0"/>
              </a:rPr>
              <a:t>joe </a:t>
            </a:r>
            <a:r>
              <a:rPr lang="ru-RU" sz="2300" dirty="0">
                <a:solidFill>
                  <a:srgbClr val="008000"/>
                </a:solidFill>
                <a:latin typeface="Consolas" panose="020B0609020204030204" pitchFamily="49" charset="0"/>
              </a:rPr>
              <a:t>в </a:t>
            </a:r>
            <a:r>
              <a:rPr lang="en-US" sz="2300" dirty="0">
                <a:solidFill>
                  <a:srgbClr val="008000"/>
                </a:solidFill>
                <a:latin typeface="Consolas" panose="020B0609020204030204" pitchFamily="49" charset="0"/>
              </a:rPr>
              <a:t>mike</a:t>
            </a:r>
            <a:endParaRPr lang="en-US" sz="2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300" dirty="0">
                <a:solidFill>
                  <a:srgbClr val="001080"/>
                </a:solidFill>
                <a:latin typeface="Consolas" panose="020B0609020204030204" pitchFamily="49" charset="0"/>
              </a:rPr>
              <a:t>joe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= Employee{</a:t>
            </a:r>
            <a:r>
              <a:rPr lang="en-US" sz="23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300" dirty="0">
                <a:solidFill>
                  <a:srgbClr val="098658"/>
                </a:solidFill>
                <a:latin typeface="Consolas" panose="020B0609020204030204" pitchFamily="49" charset="0"/>
              </a:rPr>
              <a:t>22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300" dirty="0">
                <a:solidFill>
                  <a:srgbClr val="098658"/>
                </a:solidFill>
                <a:latin typeface="Consolas" panose="020B0609020204030204" pitchFamily="49" charset="0"/>
              </a:rPr>
              <a:t>6.3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9542927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структуры как параметр в функцию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8127395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id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age  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wage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float64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printInformation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(employee Employee)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"ID: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employee.id)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"Age: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employee.age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"Wage: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employee.wage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7036046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Передача структуры как параметр в функцию</a:t>
            </a:r>
            <a:r>
              <a:rPr lang="en-US" dirty="0"/>
              <a:t> (</a:t>
            </a:r>
            <a:r>
              <a:rPr lang="ru-RU" dirty="0"/>
              <a:t>указатель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8127395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id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age  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wage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float64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printInformationPtr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(employee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Employee)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"ID: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employee.id)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"Age: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employee.age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"Wage: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employee.wage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0234557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структуры как параметр в функцию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8127395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john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Employee{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24.15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printInformation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(john)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printInformation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(Employee{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24.15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printInformationPtr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(&amp;john)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0482433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структуры как параметр в функцию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053237"/>
              </p:ext>
            </p:extLst>
          </p:nvPr>
        </p:nvGraphicFramePr>
        <p:xfrm>
          <a:off x="2425249" y="1686335"/>
          <a:ext cx="7496176" cy="3200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12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53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Program</a:t>
                      </a:r>
                      <a:endParaRPr lang="ru-RU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_</a:t>
                      </a:r>
                      <a:endParaRPr lang="ru-RU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□</a:t>
                      </a:r>
                      <a:endParaRPr lang="ru-RU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ru-RU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2000">
                <a:tc gridSpan="4"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ID:  14</a:t>
                      </a:r>
                    </a:p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Age:  32</a:t>
                      </a:r>
                    </a:p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Wage:  24.15</a:t>
                      </a:r>
                    </a:p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ID:  14</a:t>
                      </a:r>
                    </a:p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Age:  32</a:t>
                      </a:r>
                    </a:p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Wage:  24.15</a:t>
                      </a:r>
                    </a:p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ID:  14</a:t>
                      </a:r>
                    </a:p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Age:  32</a:t>
                      </a:r>
                    </a:p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Wage:  24.15</a:t>
                      </a:r>
                    </a:p>
                    <a:p>
                      <a:r>
                        <a:rPr lang="en-US" dirty="0" err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Для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продолжения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нажмите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любую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клавишу</a:t>
                      </a:r>
                      <a:r>
                        <a:rPr lang="en-US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. . .</a:t>
                      </a:r>
                      <a:endParaRPr lang="ru-RU" dirty="0">
                        <a:solidFill>
                          <a:schemeClr val="bg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2882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Возврат структур из функций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8127395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267F99"/>
                </a:solidFill>
                <a:latin typeface="Consolas" panose="020B0609020204030204" pitchFamily="49" charset="0"/>
              </a:rPr>
              <a:t>Point3d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    x, y, z </a:t>
            </a:r>
            <a:r>
              <a:rPr lang="en-US" sz="2100" dirty="0">
                <a:solidFill>
                  <a:srgbClr val="267F99"/>
                </a:solidFill>
                <a:latin typeface="Consolas" panose="020B0609020204030204" pitchFamily="49" charset="0"/>
              </a:rPr>
              <a:t>float64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100" dirty="0" err="1">
                <a:solidFill>
                  <a:srgbClr val="0000FF"/>
                </a:solidFill>
                <a:latin typeface="Consolas" panose="020B0609020204030204" pitchFamily="49" charset="0"/>
              </a:rPr>
              <a:t>func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 err="1">
                <a:solidFill>
                  <a:srgbClr val="795E26"/>
                </a:solidFill>
                <a:latin typeface="Consolas" panose="020B0609020204030204" pitchFamily="49" charset="0"/>
              </a:rPr>
              <a:t>getZeroPoint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() Point3d {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1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Point3d{</a:t>
            </a:r>
            <a:r>
              <a:rPr lang="en-US" sz="2100" dirty="0">
                <a:solidFill>
                  <a:srgbClr val="098658"/>
                </a:solidFill>
                <a:latin typeface="Consolas" panose="020B0609020204030204" pitchFamily="49" charset="0"/>
              </a:rPr>
              <a:t>0.0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100" dirty="0">
                <a:solidFill>
                  <a:srgbClr val="098658"/>
                </a:solidFill>
                <a:latin typeface="Consolas" panose="020B0609020204030204" pitchFamily="49" charset="0"/>
              </a:rPr>
              <a:t>0.0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100" dirty="0">
                <a:solidFill>
                  <a:srgbClr val="098658"/>
                </a:solidFill>
                <a:latin typeface="Consolas" panose="020B0609020204030204" pitchFamily="49" charset="0"/>
              </a:rPr>
              <a:t>0.0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100" dirty="0" err="1">
                <a:solidFill>
                  <a:srgbClr val="0000FF"/>
                </a:solidFill>
                <a:latin typeface="Consolas" panose="020B0609020204030204" pitchFamily="49" charset="0"/>
              </a:rPr>
              <a:t>func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100" dirty="0">
                <a:solidFill>
                  <a:srgbClr val="001080"/>
                </a:solidFill>
                <a:latin typeface="Consolas" panose="020B0609020204030204" pitchFamily="49" charset="0"/>
              </a:rPr>
              <a:t>zero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:= </a:t>
            </a:r>
            <a:r>
              <a:rPr lang="en-US" sz="2100" dirty="0" err="1">
                <a:solidFill>
                  <a:srgbClr val="795E26"/>
                </a:solidFill>
                <a:latin typeface="Consolas" panose="020B0609020204030204" pitchFamily="49" charset="0"/>
              </a:rPr>
              <a:t>getZeroPoint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100" dirty="0" err="1">
                <a:solidFill>
                  <a:srgbClr val="000000"/>
                </a:solidFill>
                <a:latin typeface="Consolas" panose="020B0609020204030204" pitchFamily="49" charset="0"/>
              </a:rPr>
              <a:t>fmt.</a:t>
            </a:r>
            <a:r>
              <a:rPr lang="en-US" sz="21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(zero)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4739333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</a:t>
            </a:r>
            <a:r>
              <a:rPr lang="en-US" dirty="0"/>
              <a:t>String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8127395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267F99"/>
                </a:solidFill>
                <a:latin typeface="Consolas" panose="020B0609020204030204" pitchFamily="49" charset="0"/>
              </a:rPr>
              <a:t>Point3d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    x, y, z </a:t>
            </a:r>
            <a:r>
              <a:rPr lang="en-US" sz="2100" dirty="0">
                <a:solidFill>
                  <a:srgbClr val="267F99"/>
                </a:solidFill>
                <a:latin typeface="Consolas" panose="020B0609020204030204" pitchFamily="49" charset="0"/>
              </a:rPr>
              <a:t>float64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ru-RU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100" dirty="0" err="1">
                <a:solidFill>
                  <a:srgbClr val="0000FF"/>
                </a:solidFill>
                <a:latin typeface="Consolas" panose="020B0609020204030204" pitchFamily="49" charset="0"/>
              </a:rPr>
              <a:t>func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(b Point3d) </a:t>
            </a:r>
            <a:r>
              <a:rPr lang="en-US" sz="2100" dirty="0">
                <a:solidFill>
                  <a:srgbClr val="795E26"/>
                </a:solidFill>
                <a:latin typeface="Consolas" panose="020B0609020204030204" pitchFamily="49" charset="0"/>
              </a:rPr>
              <a:t>String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21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1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A31515"/>
                </a:solidFill>
                <a:latin typeface="Consolas" panose="020B0609020204030204" pitchFamily="49" charset="0"/>
              </a:rPr>
              <a:t>"Point3d"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100" dirty="0" err="1">
                <a:solidFill>
                  <a:srgbClr val="0000FF"/>
                </a:solidFill>
                <a:latin typeface="Consolas" panose="020B0609020204030204" pitchFamily="49" charset="0"/>
              </a:rPr>
              <a:t>func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1080"/>
                </a:solidFill>
                <a:latin typeface="Consolas" panose="020B0609020204030204" pitchFamily="49" charset="0"/>
              </a:rPr>
              <a:t>zero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Point3d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100" dirty="0" err="1">
                <a:solidFill>
                  <a:srgbClr val="000000"/>
                </a:solidFill>
                <a:latin typeface="Consolas" panose="020B0609020204030204" pitchFamily="49" charset="0"/>
              </a:rPr>
              <a:t>fmt.</a:t>
            </a:r>
            <a:r>
              <a:rPr lang="en-US" sz="21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(zero)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8261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Дополнительные сведения</a:t>
            </a:r>
          </a:p>
        </p:txBody>
      </p:sp>
    </p:spTree>
    <p:extLst>
      <p:ext uri="{BB962C8B-B14F-4D97-AF65-F5344CB8AC3E}">
        <p14:creationId xmlns:p14="http://schemas.microsoft.com/office/powerpoint/2010/main" val="304360826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Разные типы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835242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267F99"/>
                </a:solidFill>
                <a:latin typeface="Consolas" panose="020B0609020204030204" pitchFamily="49" charset="0"/>
              </a:rPr>
              <a:t>Point3d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    x, y, z </a:t>
            </a:r>
            <a:r>
              <a:rPr lang="en-US" sz="1900" dirty="0">
                <a:solidFill>
                  <a:srgbClr val="267F99"/>
                </a:solidFill>
                <a:latin typeface="Consolas" panose="020B0609020204030204" pitchFamily="49" charset="0"/>
              </a:rPr>
              <a:t>float64</a:t>
            </a: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latinLnBrk="1">
              <a:buNone/>
            </a:pPr>
            <a:endParaRPr lang="ru-RU" sz="1900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267F99"/>
                </a:solidFill>
                <a:latin typeface="Consolas" panose="020B0609020204030204" pitchFamily="49" charset="0"/>
              </a:rPr>
              <a:t>Vector3d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    x, y, z </a:t>
            </a:r>
            <a:r>
              <a:rPr lang="en-US" sz="1900" dirty="0">
                <a:solidFill>
                  <a:srgbClr val="267F99"/>
                </a:solidFill>
                <a:latin typeface="Consolas" panose="020B0609020204030204" pitchFamily="49" charset="0"/>
              </a:rPr>
              <a:t>float64</a:t>
            </a: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latinLnBrk="1">
              <a:buNone/>
            </a:pPr>
            <a:endParaRPr lang="en-US" sz="1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900" dirty="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ru-RU" sz="1900" dirty="0">
                <a:solidFill>
                  <a:srgbClr val="000000"/>
                </a:solidFill>
                <a:latin typeface="Consolas" panose="020B0609020204030204" pitchFamily="49" charset="0"/>
              </a:rPr>
              <a:t> := Point3d{ </a:t>
            </a:r>
            <a:r>
              <a:rPr lang="ru-RU" sz="1900" dirty="0">
                <a:solidFill>
                  <a:srgbClr val="098658"/>
                </a:solidFill>
                <a:latin typeface="Consolas" panose="020B0609020204030204" pitchFamily="49" charset="0"/>
              </a:rPr>
              <a:t>0.0</a:t>
            </a:r>
            <a:r>
              <a:rPr lang="ru-RU" sz="19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ru-RU" sz="1900" dirty="0">
                <a:solidFill>
                  <a:srgbClr val="098658"/>
                </a:solidFill>
                <a:latin typeface="Consolas" panose="020B0609020204030204" pitchFamily="49" charset="0"/>
              </a:rPr>
              <a:t>0.0</a:t>
            </a:r>
            <a:r>
              <a:rPr lang="ru-RU" sz="19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ru-RU" sz="1900" dirty="0">
                <a:solidFill>
                  <a:srgbClr val="098658"/>
                </a:solidFill>
                <a:latin typeface="Consolas" panose="020B0609020204030204" pitchFamily="49" charset="0"/>
              </a:rPr>
              <a:t>0.0</a:t>
            </a:r>
            <a:r>
              <a:rPr lang="ru-RU" sz="19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pPr marL="0" indent="0">
              <a:buNone/>
            </a:pPr>
            <a:r>
              <a:rPr lang="ru-RU" sz="19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ru-RU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900" dirty="0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ru-RU" sz="1900" dirty="0">
                <a:solidFill>
                  <a:srgbClr val="000000"/>
                </a:solidFill>
                <a:latin typeface="Consolas" panose="020B0609020204030204" pitchFamily="49" charset="0"/>
              </a:rPr>
              <a:t> Vector3d</a:t>
            </a:r>
          </a:p>
          <a:p>
            <a:pPr marL="0" indent="0">
              <a:buNone/>
            </a:pPr>
            <a:r>
              <a:rPr lang="ru-RU" sz="1900" dirty="0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ru-RU" sz="1900" dirty="0">
                <a:solidFill>
                  <a:srgbClr val="000000"/>
                </a:solidFill>
                <a:latin typeface="Consolas" panose="020B0609020204030204" pitchFamily="49" charset="0"/>
              </a:rPr>
              <a:t> = p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900" dirty="0">
                <a:solidFill>
                  <a:srgbClr val="008000"/>
                </a:solidFill>
                <a:latin typeface="Consolas" panose="020B0609020204030204" pitchFamily="49" charset="0"/>
              </a:rPr>
              <a:t>// Ошибка. У v и p разные типы, но можно преобразовать</a:t>
            </a:r>
            <a:endParaRPr lang="ru-RU" sz="19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98021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структур</a:t>
            </a:r>
            <a:r>
              <a:rPr lang="en-US" dirty="0"/>
              <a:t> 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835242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267F99"/>
                </a:solidFill>
                <a:latin typeface="Consolas" panose="020B0609020204030204" pitchFamily="49" charset="0"/>
              </a:rPr>
              <a:t>Point3d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    x, y, z </a:t>
            </a:r>
            <a:r>
              <a:rPr lang="en-US" sz="1900" dirty="0">
                <a:solidFill>
                  <a:srgbClr val="267F99"/>
                </a:solidFill>
                <a:latin typeface="Consolas" panose="020B0609020204030204" pitchFamily="49" charset="0"/>
              </a:rPr>
              <a:t>float64</a:t>
            </a: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latinLnBrk="1">
              <a:buNone/>
            </a:pPr>
            <a:endParaRPr lang="ru-RU" sz="1900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267F99"/>
                </a:solidFill>
                <a:latin typeface="Consolas" panose="020B0609020204030204" pitchFamily="49" charset="0"/>
              </a:rPr>
              <a:t>Vector3d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    x, y, z </a:t>
            </a:r>
            <a:r>
              <a:rPr lang="en-US" sz="1900" dirty="0">
                <a:solidFill>
                  <a:srgbClr val="267F99"/>
                </a:solidFill>
                <a:latin typeface="Consolas" panose="020B0609020204030204" pitchFamily="49" charset="0"/>
              </a:rPr>
              <a:t>float64</a:t>
            </a: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latinLnBrk="1">
              <a:buNone/>
            </a:pPr>
            <a:endParaRPr lang="en-US" sz="1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900" dirty="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ru-RU" sz="1900" dirty="0">
                <a:solidFill>
                  <a:srgbClr val="000000"/>
                </a:solidFill>
                <a:latin typeface="Consolas" panose="020B0609020204030204" pitchFamily="49" charset="0"/>
              </a:rPr>
              <a:t> := Point3d{ </a:t>
            </a:r>
            <a:r>
              <a:rPr lang="ru-RU" sz="1900" dirty="0">
                <a:solidFill>
                  <a:srgbClr val="098658"/>
                </a:solidFill>
                <a:latin typeface="Consolas" panose="020B0609020204030204" pitchFamily="49" charset="0"/>
              </a:rPr>
              <a:t>0.0</a:t>
            </a:r>
            <a:r>
              <a:rPr lang="ru-RU" sz="19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ru-RU" sz="1900" dirty="0">
                <a:solidFill>
                  <a:srgbClr val="098658"/>
                </a:solidFill>
                <a:latin typeface="Consolas" panose="020B0609020204030204" pitchFamily="49" charset="0"/>
              </a:rPr>
              <a:t>0.0</a:t>
            </a:r>
            <a:r>
              <a:rPr lang="ru-RU" sz="19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ru-RU" sz="1900" dirty="0">
                <a:solidFill>
                  <a:srgbClr val="098658"/>
                </a:solidFill>
                <a:latin typeface="Consolas" panose="020B0609020204030204" pitchFamily="49" charset="0"/>
              </a:rPr>
              <a:t>0.0</a:t>
            </a:r>
            <a:r>
              <a:rPr lang="ru-RU" sz="19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pPr marL="0" indent="0">
              <a:buNone/>
            </a:pPr>
            <a:r>
              <a:rPr lang="ru-RU" sz="19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ru-RU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900" dirty="0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ru-RU" sz="1900" dirty="0">
                <a:solidFill>
                  <a:srgbClr val="000000"/>
                </a:solidFill>
                <a:latin typeface="Consolas" panose="020B0609020204030204" pitchFamily="49" charset="0"/>
              </a:rPr>
              <a:t> Vector3d</a:t>
            </a:r>
          </a:p>
          <a:p>
            <a:pPr marL="0" indent="0">
              <a:buNone/>
            </a:pPr>
            <a:r>
              <a:rPr lang="ru-RU" sz="1900" dirty="0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ru-RU" sz="1900" dirty="0">
                <a:solidFill>
                  <a:srgbClr val="000000"/>
                </a:solidFill>
                <a:latin typeface="Consolas" panose="020B0609020204030204" pitchFamily="49" charset="0"/>
              </a:rPr>
              <a:t> = Vector3d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u-RU" sz="1900" dirty="0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9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900" dirty="0">
                <a:solidFill>
                  <a:srgbClr val="008000"/>
                </a:solidFill>
                <a:latin typeface="Consolas" panose="020B0609020204030204" pitchFamily="49" charset="0"/>
              </a:rPr>
              <a:t>OK</a:t>
            </a:r>
            <a:r>
              <a:rPr lang="ru-RU" sz="1900" dirty="0">
                <a:solidFill>
                  <a:srgbClr val="008000"/>
                </a:solidFill>
                <a:latin typeface="Consolas" panose="020B0609020204030204" pitchFamily="49" charset="0"/>
              </a:rPr>
              <a:t>. Одинаковый базовый тип</a:t>
            </a:r>
            <a:endParaRPr lang="ru-RU" sz="19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27788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структур</a:t>
            </a:r>
            <a:r>
              <a:rPr lang="en-US" dirty="0"/>
              <a:t> II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8352426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267F99"/>
                </a:solidFill>
                <a:latin typeface="Consolas" panose="020B0609020204030204" pitchFamily="49" charset="0"/>
              </a:rPr>
              <a:t>Point3d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x    </a:t>
            </a:r>
            <a:r>
              <a:rPr lang="en-US" sz="1900" dirty="0">
                <a:solidFill>
                  <a:srgbClr val="267F99"/>
                </a:solidFill>
                <a:latin typeface="Consolas" panose="020B0609020204030204" pitchFamily="49" charset="0"/>
              </a:rPr>
              <a:t>float64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json:"x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"`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y, z </a:t>
            </a:r>
            <a:r>
              <a:rPr lang="en-US" sz="1900" dirty="0">
                <a:solidFill>
                  <a:srgbClr val="267F99"/>
                </a:solidFill>
                <a:latin typeface="Consolas" panose="020B0609020204030204" pitchFamily="49" charset="0"/>
              </a:rPr>
              <a:t>float64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267F99"/>
                </a:solidFill>
                <a:latin typeface="Consolas" panose="020B0609020204030204" pitchFamily="49" charset="0"/>
              </a:rPr>
              <a:t>Vector3d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x    </a:t>
            </a:r>
            <a:r>
              <a:rPr lang="en-US" sz="1900" dirty="0">
                <a:solidFill>
                  <a:srgbClr val="267F99"/>
                </a:solidFill>
                <a:latin typeface="Consolas" panose="020B0609020204030204" pitchFamily="49" charset="0"/>
              </a:rPr>
              <a:t>float64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y, z </a:t>
            </a:r>
            <a:r>
              <a:rPr lang="en-US" sz="1900" dirty="0">
                <a:solidFill>
                  <a:srgbClr val="267F99"/>
                </a:solidFill>
                <a:latin typeface="Consolas" panose="020B0609020204030204" pitchFamily="49" charset="0"/>
              </a:rPr>
              <a:t>float64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 latinLnBrk="1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:= Point3d{ </a:t>
            </a:r>
            <a:r>
              <a:rPr lang="ru-RU" sz="2000" dirty="0">
                <a:solidFill>
                  <a:srgbClr val="098658"/>
                </a:solidFill>
                <a:latin typeface="Consolas" panose="020B0609020204030204" pitchFamily="49" charset="0"/>
              </a:rPr>
              <a:t>0.0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ru-RU" sz="2000" dirty="0">
                <a:solidFill>
                  <a:srgbClr val="098658"/>
                </a:solidFill>
                <a:latin typeface="Consolas" panose="020B0609020204030204" pitchFamily="49" charset="0"/>
              </a:rPr>
              <a:t>0.0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ru-RU" sz="2000" dirty="0">
                <a:solidFill>
                  <a:srgbClr val="098658"/>
                </a:solidFill>
                <a:latin typeface="Consolas" panose="020B0609020204030204" pitchFamily="49" charset="0"/>
              </a:rPr>
              <a:t>0.0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pPr marL="0" indent="0">
              <a:buNone/>
            </a:pPr>
            <a:r>
              <a:rPr lang="ru-RU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Vector3d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= Vector3d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OK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. Одинаковый базовый тип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61801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структур </a:t>
            </a:r>
            <a:r>
              <a:rPr lang="en-US" dirty="0"/>
              <a:t>III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835242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267F99"/>
                </a:solidFill>
                <a:latin typeface="Consolas" panose="020B0609020204030204" pitchFamily="49" charset="0"/>
              </a:rPr>
              <a:t>Point3d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    x, y, z </a:t>
            </a:r>
            <a:r>
              <a:rPr lang="en-US" sz="1900" dirty="0">
                <a:solidFill>
                  <a:srgbClr val="267F99"/>
                </a:solidFill>
                <a:latin typeface="Consolas" panose="020B0609020204030204" pitchFamily="49" charset="0"/>
              </a:rPr>
              <a:t>float64</a:t>
            </a: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latinLnBrk="1">
              <a:buNone/>
            </a:pPr>
            <a:endParaRPr lang="ru-RU" sz="1900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267F99"/>
                </a:solidFill>
                <a:latin typeface="Consolas" panose="020B0609020204030204" pitchFamily="49" charset="0"/>
              </a:rPr>
              <a:t>Vector3d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    x, y, z, u </a:t>
            </a:r>
            <a:r>
              <a:rPr lang="en-US" sz="1900" dirty="0">
                <a:solidFill>
                  <a:srgbClr val="267F99"/>
                </a:solidFill>
                <a:latin typeface="Consolas" panose="020B0609020204030204" pitchFamily="49" charset="0"/>
              </a:rPr>
              <a:t>float64</a:t>
            </a:r>
            <a:endParaRPr lang="en-US" sz="1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latinLnBrk="1">
              <a:buNone/>
            </a:pPr>
            <a:endParaRPr lang="en-US" sz="19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900" dirty="0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ru-RU" sz="1900" dirty="0">
                <a:solidFill>
                  <a:srgbClr val="000000"/>
                </a:solidFill>
                <a:latin typeface="Consolas" panose="020B0609020204030204" pitchFamily="49" charset="0"/>
              </a:rPr>
              <a:t> := Point3d{ </a:t>
            </a:r>
            <a:r>
              <a:rPr lang="ru-RU" sz="1900" dirty="0">
                <a:solidFill>
                  <a:srgbClr val="098658"/>
                </a:solidFill>
                <a:latin typeface="Consolas" panose="020B0609020204030204" pitchFamily="49" charset="0"/>
              </a:rPr>
              <a:t>0.0</a:t>
            </a:r>
            <a:r>
              <a:rPr lang="ru-RU" sz="19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ru-RU" sz="1900" dirty="0">
                <a:solidFill>
                  <a:srgbClr val="098658"/>
                </a:solidFill>
                <a:latin typeface="Consolas" panose="020B0609020204030204" pitchFamily="49" charset="0"/>
              </a:rPr>
              <a:t>0.0</a:t>
            </a:r>
            <a:r>
              <a:rPr lang="ru-RU" sz="19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ru-RU" sz="1900" dirty="0">
                <a:solidFill>
                  <a:srgbClr val="098658"/>
                </a:solidFill>
                <a:latin typeface="Consolas" panose="020B0609020204030204" pitchFamily="49" charset="0"/>
              </a:rPr>
              <a:t>0.0</a:t>
            </a:r>
            <a:r>
              <a:rPr lang="ru-RU" sz="19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pPr marL="0" indent="0">
              <a:buNone/>
            </a:pPr>
            <a:r>
              <a:rPr lang="ru-RU" sz="19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ru-RU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900" dirty="0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ru-RU" sz="1900" dirty="0">
                <a:solidFill>
                  <a:srgbClr val="000000"/>
                </a:solidFill>
                <a:latin typeface="Consolas" panose="020B0609020204030204" pitchFamily="49" charset="0"/>
              </a:rPr>
              <a:t> Vector3d</a:t>
            </a:r>
          </a:p>
          <a:p>
            <a:pPr marL="0" indent="0">
              <a:buNone/>
            </a:pPr>
            <a:r>
              <a:rPr lang="ru-RU" sz="1900" dirty="0">
                <a:solidFill>
                  <a:srgbClr val="001080"/>
                </a:solidFill>
                <a:latin typeface="Consolas" panose="020B0609020204030204" pitchFamily="49" charset="0"/>
              </a:rPr>
              <a:t>v</a:t>
            </a:r>
            <a:r>
              <a:rPr lang="ru-RU" sz="1900" dirty="0">
                <a:solidFill>
                  <a:srgbClr val="000000"/>
                </a:solidFill>
                <a:latin typeface="Consolas" panose="020B0609020204030204" pitchFamily="49" charset="0"/>
              </a:rPr>
              <a:t> = Vector3d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u-RU" sz="1900" dirty="0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sz="1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900" dirty="0">
                <a:solidFill>
                  <a:srgbClr val="008000"/>
                </a:solidFill>
                <a:latin typeface="Consolas" panose="020B0609020204030204" pitchFamily="49" charset="0"/>
              </a:rPr>
              <a:t>// Ошибка. Разный базовый тип</a:t>
            </a:r>
            <a:endParaRPr lang="ru-RU" sz="19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58008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Вложенные структуры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8127395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Employee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id   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int16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age  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int32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wage 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float64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Company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CEO               Employee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CEO –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это структура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numberOfEmployees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1080"/>
                </a:solidFill>
                <a:latin typeface="Consolas" panose="020B0609020204030204" pitchFamily="49" charset="0"/>
              </a:rPr>
              <a:t>myCompany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Company{Employee{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42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60000.0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}, 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fmt.</a:t>
            </a:r>
            <a:r>
              <a:rPr lang="en-US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(myCompany.CEO.id)</a:t>
            </a:r>
          </a:p>
          <a:p>
            <a:pPr marL="0" indent="0" latinLnBrk="1">
              <a:buNone/>
            </a:pPr>
            <a:endParaRPr lang="en-US" sz="2000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25189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Встроенные поля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8127395" cy="47091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Person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Name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Age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Employee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Person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Имя типа или указатель на тип. Без повторов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Position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e := Employee{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Person: Person{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Name: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Age: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Position: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"boss"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(e)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e.Position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ОК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e.Person.Name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e.Person.Age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e.Position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ОК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489944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 слайса и карты анонимных структур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268761"/>
            <a:ext cx="8127395" cy="50855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employees := []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ID  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Name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"Bob"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employeeMap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:=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Name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Age  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{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{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"Bob"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6283475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Размер структуры</a:t>
            </a:r>
            <a:r>
              <a:rPr lang="en-US" dirty="0"/>
              <a:t> </a:t>
            </a:r>
            <a:r>
              <a:rPr lang="ru-RU" dirty="0"/>
              <a:t>и выравнивание</a:t>
            </a:r>
            <a:r>
              <a:rPr lang="en-US" dirty="0"/>
              <a:t>  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8127395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Point3d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x 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int16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Sizeof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: 2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y 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int32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Sizeof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: 4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z 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float64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Sizeof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: 8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zero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Point3d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fmt.</a:t>
            </a:r>
            <a:r>
              <a:rPr lang="en-US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unsafe.</a:t>
            </a:r>
            <a:r>
              <a:rPr lang="en-US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Sizeof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(zero))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16  != ( 2 + 4 + 8 )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latinLnBrk="1">
              <a:buNone/>
            </a:pPr>
            <a:endParaRPr lang="ru-RU" sz="2000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66565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Размер структуры</a:t>
            </a:r>
            <a:r>
              <a:rPr lang="en-US" dirty="0"/>
              <a:t> </a:t>
            </a:r>
            <a:r>
              <a:rPr lang="ru-RU" dirty="0"/>
              <a:t>и выравнивание</a:t>
            </a:r>
            <a:r>
              <a:rPr lang="en-US" dirty="0"/>
              <a:t>  II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8127395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Point3d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x 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int16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 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Sizeof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: 2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z 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float64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Sizeof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: 8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y 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int32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 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Sizeof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: 4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zero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Point3d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fmt.</a:t>
            </a:r>
            <a:r>
              <a:rPr lang="en-US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unsafe.</a:t>
            </a:r>
            <a:r>
              <a:rPr lang="en-US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Sizeof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(zero))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24  != ( 2 + 4 + 8 )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4103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Размер структуры</a:t>
            </a:r>
            <a:r>
              <a:rPr lang="en-US" dirty="0"/>
              <a:t> </a:t>
            </a:r>
            <a:r>
              <a:rPr lang="ru-RU" dirty="0"/>
              <a:t>и выравнивание</a:t>
            </a:r>
            <a:r>
              <a:rPr lang="en-US" dirty="0"/>
              <a:t>  II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600207"/>
            <a:ext cx="8127395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Point3d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x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int16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y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int32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z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float64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latinLnBrk="1">
              <a:buNone/>
            </a:pP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Point3d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x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int16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 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z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float64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y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int32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  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latinLnBrk="1">
              <a:buNone/>
            </a:pPr>
            <a:endParaRPr lang="ru-RU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640153"/>
              </p:ext>
            </p:extLst>
          </p:nvPr>
        </p:nvGraphicFramePr>
        <p:xfrm>
          <a:off x="6366030" y="2102255"/>
          <a:ext cx="3168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int16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int32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float64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404992"/>
              </p:ext>
            </p:extLst>
          </p:nvPr>
        </p:nvGraphicFramePr>
        <p:xfrm>
          <a:off x="6366030" y="4509120"/>
          <a:ext cx="316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int16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float64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int32</a:t>
                      </a:r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867330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Объединения</a:t>
            </a:r>
          </a:p>
        </p:txBody>
      </p:sp>
    </p:spTree>
    <p:extLst>
      <p:ext uri="{BB962C8B-B14F-4D97-AF65-F5344CB8AC3E}">
        <p14:creationId xmlns:p14="http://schemas.microsoft.com/office/powerpoint/2010/main" val="286913922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объединение?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nsolas" panose="020B0609020204030204" pitchFamily="49" charset="0"/>
              </a:rPr>
              <a:t>В </a:t>
            </a:r>
            <a:r>
              <a:rPr lang="en-US" dirty="0">
                <a:latin typeface="Consolas" panose="020B0609020204030204" pitchFamily="49" charset="0"/>
              </a:rPr>
              <a:t>Go </a:t>
            </a:r>
            <a:r>
              <a:rPr lang="ru-RU" dirty="0">
                <a:latin typeface="Consolas" panose="020B0609020204030204" pitchFamily="49" charset="0"/>
              </a:rPr>
              <a:t>нет типа данных "объединение" или аналога. Можно найти реализацию аналога (</a:t>
            </a:r>
            <a:r>
              <a:rPr lang="en-US" dirty="0">
                <a:latin typeface="Consolas" panose="020B0609020204030204" pitchFamily="49" charset="0"/>
              </a:rPr>
              <a:t>variant</a:t>
            </a:r>
            <a:r>
              <a:rPr lang="ru-RU" dirty="0">
                <a:latin typeface="Consolas" panose="020B06090202040302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в пакетах разработанных сторонними разработчиками.</a:t>
            </a:r>
          </a:p>
        </p:txBody>
      </p:sp>
    </p:spTree>
    <p:extLst>
      <p:ext uri="{BB962C8B-B14F-4D97-AF65-F5344CB8AC3E}">
        <p14:creationId xmlns:p14="http://schemas.microsoft.com/office/powerpoint/2010/main" val="27977827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Перечисления</a:t>
            </a:r>
          </a:p>
        </p:txBody>
      </p:sp>
    </p:spTree>
    <p:extLst>
      <p:ext uri="{BB962C8B-B14F-4D97-AF65-F5344CB8AC3E}">
        <p14:creationId xmlns:p14="http://schemas.microsoft.com/office/powerpoint/2010/main" val="39536041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перечисление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448781"/>
            <a:ext cx="9957605" cy="4677383"/>
          </a:xfrm>
        </p:spPr>
        <p:txBody>
          <a:bodyPr/>
          <a:lstStyle/>
          <a:p>
            <a:r>
              <a:rPr lang="ru-RU" dirty="0">
                <a:latin typeface="Consolas" panose="020B0609020204030204" pitchFamily="49" charset="0"/>
              </a:rPr>
              <a:t>Перечисление – это пользовательский тип данных, определяющий набор целочисленных констант.</a:t>
            </a:r>
          </a:p>
          <a:p>
            <a:endParaRPr lang="ru-RU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Зачем нужен: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Consolas" panose="020B0609020204030204" pitchFamily="49" charset="0"/>
              </a:rPr>
              <a:t>Сделать код более читабельным путём замены «магических чисел» на элементы перечисления</a:t>
            </a:r>
            <a:r>
              <a:rPr lang="en-US" dirty="0">
                <a:latin typeface="Consolas" panose="020B0609020204030204" pitchFamily="49" charset="0"/>
              </a:rPr>
              <a:t>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Пример: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latin typeface="Consolas" panose="020B0609020204030204" pitchFamily="49" charset="0"/>
              </a:rPr>
              <a:t> 0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latin typeface="Consolas" panose="020B0609020204030204" pitchFamily="49" charset="0"/>
              </a:rPr>
              <a:t> SUCCESS</a:t>
            </a:r>
            <a:endParaRPr lang="ru-RU" dirty="0">
              <a:solidFill>
                <a:schemeClr val="accent3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3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latin typeface="Consolas" panose="020B0609020204030204" pitchFamily="49" charset="0"/>
              </a:rPr>
              <a:t>Как дополнительный контроль, защищающий от случайных, автоматических преобразований типов.</a:t>
            </a:r>
            <a:endParaRPr lang="en-US" dirty="0"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031870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перечисление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448781"/>
            <a:ext cx="8172401" cy="4677383"/>
          </a:xfrm>
        </p:spPr>
        <p:txBody>
          <a:bodyPr/>
          <a:lstStyle/>
          <a:p>
            <a:r>
              <a:rPr lang="ru-RU" dirty="0"/>
              <a:t>В </a:t>
            </a:r>
            <a:r>
              <a:rPr lang="en-US" dirty="0"/>
              <a:t>Go </a:t>
            </a:r>
            <a:r>
              <a:rPr lang="ru-RU" dirty="0"/>
              <a:t>нет типа "перечисление", но можно создать аналог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745261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Объявление</a:t>
            </a:r>
            <a:r>
              <a:rPr lang="en-US" dirty="0"/>
              <a:t>  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493786"/>
            <a:ext cx="7965885" cy="452596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Weekday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Sunday   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Weekday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iota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Monday               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Tuesday                  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3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Wednesday                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4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Thursday             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5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Friday               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6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Saturday             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7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latinLnBrk="1">
              <a:lnSpc>
                <a:spcPct val="110000"/>
              </a:lnSpc>
              <a:spcBef>
                <a:spcPts val="0"/>
              </a:spcBef>
            </a:pPr>
            <a:endParaRPr lang="en-US" dirty="0">
              <a:solidFill>
                <a:srgbClr val="008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86586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Объявление </a:t>
            </a:r>
            <a:r>
              <a:rPr lang="en-US" dirty="0"/>
              <a:t> II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493786"/>
            <a:ext cx="7965885" cy="452596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Weekday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Sunday   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Weekday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iota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Monday               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Tuesday                  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3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Wednesday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Weekday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Thursday             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Friday               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Saturday             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3479027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Переменные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493786"/>
            <a:ext cx="7965885" cy="4525963"/>
          </a:xfrm>
        </p:spPr>
        <p:txBody>
          <a:bodyPr>
            <a:normAutofit fontScale="92500" lnSpcReduction="10000"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Direction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North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Direction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iota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East           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South              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West           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3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Direction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Direction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Direction = North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68163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Ввод / Вывод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493786"/>
            <a:ext cx="7965885" cy="4525963"/>
          </a:xfrm>
        </p:spPr>
        <p:txBody>
          <a:bodyPr>
            <a:normAutofit fontScale="92500" lnSpcReduction="10000"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Direction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North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Direction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iota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East           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South              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West           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3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Direction = North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(a)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Scan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(&amp;a)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Вводить нужно число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50149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Ввод / Вывод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493786"/>
            <a:ext cx="7965885" cy="4525963"/>
          </a:xfrm>
        </p:spPr>
        <p:txBody>
          <a:bodyPr>
            <a:normAutofit fontScale="55000" lnSpcReduction="20000"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Direction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North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Direction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iota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East           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South              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West           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3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(d Direction)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[...]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"North"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"East"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"South"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"West"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}[d]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(d Direction)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EnumIndex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Direction = West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(d)     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West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West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EnumIndex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4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570453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280919" cy="4525963"/>
          </a:xfrm>
        </p:spPr>
        <p:txBody>
          <a:bodyPr>
            <a:noAutofit/>
          </a:bodyPr>
          <a:lstStyle/>
          <a:p>
            <a:pPr latinLnBrk="1">
              <a:spcBef>
                <a:spcPts val="0"/>
              </a:spcBef>
            </a:pPr>
            <a:r>
              <a:rPr lang="ru-RU" sz="1500" dirty="0">
                <a:latin typeface="Consolas" panose="020B0609020204030204" pitchFamily="49" charset="0"/>
                <a:cs typeface="Consolas" panose="020B0609020204030204" pitchFamily="49" charset="0"/>
              </a:rPr>
              <a:t>Для перечислений работают все операции базового типа, но при этом тип</a:t>
            </a:r>
          </a:p>
          <a:p>
            <a:pPr latinLnBrk="1">
              <a:spcBef>
                <a:spcPts val="0"/>
              </a:spcBef>
              <a:spcAft>
                <a:spcPts val="1200"/>
              </a:spcAft>
            </a:pPr>
            <a:r>
              <a:rPr lang="ru-RU" sz="1500" dirty="0">
                <a:latin typeface="Consolas" panose="020B0609020204030204" pitchFamily="49" charset="0"/>
                <a:cs typeface="Consolas" panose="020B0609020204030204" pitchFamily="49" charset="0"/>
              </a:rPr>
              <a:t>результата остаётся новый:</a:t>
            </a:r>
            <a:endParaRPr lang="en-US" sz="1500" dirty="0">
              <a:solidFill>
                <a:srgbClr val="6666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1080"/>
                </a:solidFill>
                <a:latin typeface="Consolas" panose="020B0609020204030204" pitchFamily="49" charset="0"/>
              </a:rPr>
              <a:t>d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Direction = West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= d + </a:t>
            </a:r>
            <a:r>
              <a:rPr lang="en-US" sz="15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</a:rPr>
              <a:t>Ошибка. Результат выражения НЕ 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</a:rPr>
              <a:t>int</a:t>
            </a:r>
            <a:endParaRPr lang="ru-RU" sz="15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1080"/>
                </a:solidFill>
                <a:latin typeface="Consolas" panose="020B0609020204030204" pitchFamily="49" charset="0"/>
              </a:rPr>
              <a:t>d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Direction = West</a:t>
            </a:r>
          </a:p>
          <a:p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Direction = d + </a:t>
            </a:r>
            <a:r>
              <a:rPr lang="en-US" sz="15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500" dirty="0" err="1">
                <a:solidFill>
                  <a:srgbClr val="008000"/>
                </a:solidFill>
                <a:latin typeface="Consolas" panose="020B0609020204030204" pitchFamily="49" charset="0"/>
              </a:rPr>
              <a:t>Ошибки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8000"/>
                </a:solidFill>
                <a:latin typeface="Consolas" panose="020B0609020204030204" pitchFamily="49" charset="0"/>
              </a:rPr>
              <a:t>нет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atinLnBrk="1"/>
            <a:endParaRPr lang="ru-RU" sz="15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endParaRPr lang="en-US" sz="15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/>
            <a:r>
              <a:rPr lang="ru-RU" sz="1500" dirty="0">
                <a:latin typeface="Consolas" panose="020B0609020204030204" pitchFamily="49" charset="0"/>
                <a:cs typeface="Consolas" panose="020B0609020204030204" pitchFamily="49" charset="0"/>
              </a:rPr>
              <a:t>Переменной перечисляемого типа можно присвоить только </a:t>
            </a:r>
            <a:r>
              <a:rPr lang="ru-RU" sz="1500" dirty="0" err="1">
                <a:latin typeface="Consolas" panose="020B0609020204030204" pitchFamily="49" charset="0"/>
                <a:cs typeface="Consolas" panose="020B0609020204030204" pitchFamily="49" charset="0"/>
              </a:rPr>
              <a:t>перечислитель</a:t>
            </a:r>
            <a:endParaRPr lang="ru-RU" sz="15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atinLnBrk="1">
              <a:spcBef>
                <a:spcPts val="0"/>
              </a:spcBef>
              <a:spcAft>
                <a:spcPts val="1200"/>
              </a:spcAft>
            </a:pPr>
            <a:r>
              <a:rPr lang="ru-RU" sz="1500" dirty="0">
                <a:latin typeface="Consolas" panose="020B0609020204030204" pitchFamily="49" charset="0"/>
                <a:cs typeface="Consolas" panose="020B0609020204030204" pitchFamily="49" charset="0"/>
              </a:rPr>
              <a:t>соответствующего типа:</a:t>
            </a:r>
          </a:p>
          <a:p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1080"/>
                </a:solidFill>
                <a:latin typeface="Consolas" panose="020B0609020204030204" pitchFamily="49" charset="0"/>
              </a:rPr>
              <a:t>d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Direction = West</a:t>
            </a:r>
          </a:p>
          <a:p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Direction =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NewWest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</a:rPr>
              <a:t>Ошибка. Значение как у 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</a:rPr>
              <a:t>West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</a:rPr>
              <a:t>, но другой тип</a:t>
            </a:r>
          </a:p>
          <a:p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1080"/>
                </a:solidFill>
                <a:latin typeface="Consolas" panose="020B0609020204030204" pitchFamily="49" charset="0"/>
              </a:rPr>
              <a:t>f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Direction = Direction(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NewWest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</a:rPr>
              <a:t>Нормально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86895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Перечисления и функции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280919" cy="452596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type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Direction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pPr>
              <a:spcBef>
                <a:spcPts val="0"/>
              </a:spcBef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North 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Direction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South 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Direction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-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East 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Direction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-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West  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Direction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spcBef>
                <a:spcPts val="0"/>
              </a:spcBef>
            </a:pP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func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move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xpos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ypos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d Direction) {</a:t>
            </a:r>
          </a:p>
          <a:p>
            <a:pPr>
              <a:spcBef>
                <a:spcPts val="0"/>
              </a:spcBef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switch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d {</a:t>
            </a:r>
          </a:p>
          <a:p>
            <a:pPr>
              <a:spcBef>
                <a:spcPts val="0"/>
              </a:spcBef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North, South:</a:t>
            </a:r>
          </a:p>
          <a:p>
            <a:pPr>
              <a:spcBef>
                <a:spcPts val="0"/>
              </a:spcBef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xpos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+= 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(d)</a:t>
            </a:r>
          </a:p>
          <a:p>
            <a:pPr>
              <a:spcBef>
                <a:spcPts val="0"/>
              </a:spcBef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East, West:</a:t>
            </a:r>
          </a:p>
          <a:p>
            <a:pPr>
              <a:spcBef>
                <a:spcPts val="0"/>
              </a:spcBef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ypos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+= 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(d) /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pPr>
              <a:spcBef>
                <a:spcPts val="0"/>
              </a:spcBef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0"/>
              </a:spcBef>
            </a:pP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move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West)</a:t>
            </a:r>
          </a:p>
          <a:p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move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dir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move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dir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Ошибка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42600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Интерфейсы</a:t>
            </a:r>
          </a:p>
        </p:txBody>
      </p:sp>
    </p:spTree>
    <p:extLst>
      <p:ext uri="{BB962C8B-B14F-4D97-AF65-F5344CB8AC3E}">
        <p14:creationId xmlns:p14="http://schemas.microsoft.com/office/powerpoint/2010/main" val="152239979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430" y="1448779"/>
            <a:ext cx="10306145" cy="4860541"/>
          </a:xfrm>
        </p:spPr>
        <p:txBody>
          <a:bodyPr>
            <a:noAutofit/>
          </a:bodyPr>
          <a:lstStyle/>
          <a:p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Обычная переменная может сохранять только значения своего типа:</a:t>
            </a:r>
          </a:p>
          <a:p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OK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</a:t>
            </a:r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Интерфейсная перемен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ная (или параметр функции) может сохранять значения типов удовлетворяющих указанным в интерфейсе требованиям. Если у типа есть, то что нужно интерфейсу, то того достаточно (утиная типизация), но можно и больше:</a:t>
            </a:r>
          </a:p>
          <a:p>
            <a:endParaRPr lang="ru-RU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l-PL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pl-PL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any = </a:t>
            </a:r>
            <a:r>
              <a:rPr lang="pl-PL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pl-PL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OK</a:t>
            </a:r>
            <a:endParaRPr lang="pl-PL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l-PL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pl-PL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an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pl-PL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l-PL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"1"</a:t>
            </a:r>
            <a:r>
              <a:rPr lang="pl-PL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l-PL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OK</a:t>
            </a:r>
            <a:endParaRPr lang="pl-PL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77127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430" y="1124745"/>
            <a:ext cx="8899489" cy="5184576"/>
          </a:xfrm>
        </p:spPr>
        <p:txBody>
          <a:bodyPr>
            <a:noAutofit/>
          </a:bodyPr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Point3d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x, y, z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float64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(b Point3d) String()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"Point3d"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Printable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ru-RU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Требуем, чтобы был этот метод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zero Point3d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Printable = zero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723485-4D41-45C4-933E-DF409566576D}"/>
              </a:ext>
            </a:extLst>
          </p:cNvPr>
          <p:cNvSpPr/>
          <p:nvPr/>
        </p:nvSpPr>
        <p:spPr>
          <a:xfrm>
            <a:off x="8841233" y="1043735"/>
            <a:ext cx="2295255" cy="49505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Статический тип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9216AF8-859C-48AD-8A64-216A0280E06E}"/>
              </a:ext>
            </a:extLst>
          </p:cNvPr>
          <p:cNvSpPr/>
          <p:nvPr/>
        </p:nvSpPr>
        <p:spPr>
          <a:xfrm>
            <a:off x="8851752" y="1628800"/>
            <a:ext cx="2295255" cy="49505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Динамический тип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FED0C24-DD7A-49AF-AD95-EBB558C045EB}"/>
              </a:ext>
            </a:extLst>
          </p:cNvPr>
          <p:cNvSpPr/>
          <p:nvPr/>
        </p:nvSpPr>
        <p:spPr>
          <a:xfrm>
            <a:off x="8855192" y="2213865"/>
            <a:ext cx="2295255" cy="49505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Конкретный объект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8BF39F3-8DE2-4B1A-BA9A-8A10DEE648A4}"/>
              </a:ext>
            </a:extLst>
          </p:cNvPr>
          <p:cNvSpPr/>
          <p:nvPr/>
        </p:nvSpPr>
        <p:spPr>
          <a:xfrm>
            <a:off x="5980603" y="1628800"/>
            <a:ext cx="2295255" cy="49505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Интерфейс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E892455A-A95D-4611-B71B-B28418364F15}"/>
              </a:ext>
            </a:extLst>
          </p:cNvPr>
          <p:cNvCxnSpPr>
            <a:stCxn id="7" idx="3"/>
            <a:endCxn id="5" idx="1"/>
          </p:cNvCxnSpPr>
          <p:nvPr/>
        </p:nvCxnSpPr>
        <p:spPr>
          <a:xfrm>
            <a:off x="8275858" y="1876328"/>
            <a:ext cx="5758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Соединитель: уступ 10">
            <a:extLst>
              <a:ext uri="{FF2B5EF4-FFF2-40B4-BE49-F238E27FC236}">
                <a16:creationId xmlns:a16="http://schemas.microsoft.com/office/drawing/2014/main" id="{916D5551-56E0-4ABA-B75F-8C6E92E80DC4}"/>
              </a:ext>
            </a:extLst>
          </p:cNvPr>
          <p:cNvCxnSpPr>
            <a:endCxn id="4" idx="1"/>
          </p:cNvCxnSpPr>
          <p:nvPr/>
        </p:nvCxnSpPr>
        <p:spPr>
          <a:xfrm flipV="1">
            <a:off x="8275858" y="1291263"/>
            <a:ext cx="565375" cy="56256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Соединитель: уступ 12">
            <a:extLst>
              <a:ext uri="{FF2B5EF4-FFF2-40B4-BE49-F238E27FC236}">
                <a16:creationId xmlns:a16="http://schemas.microsoft.com/office/drawing/2014/main" id="{A5EE2599-255A-458F-B933-E7777B914CB1}"/>
              </a:ext>
            </a:extLst>
          </p:cNvPr>
          <p:cNvCxnSpPr>
            <a:stCxn id="7" idx="3"/>
            <a:endCxn id="6" idx="1"/>
          </p:cNvCxnSpPr>
          <p:nvPr/>
        </p:nvCxnSpPr>
        <p:spPr>
          <a:xfrm>
            <a:off x="8275858" y="1876328"/>
            <a:ext cx="579334" cy="5850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EA5AC4A-60C7-45BF-96B0-92E94C594EA9}"/>
              </a:ext>
            </a:extLst>
          </p:cNvPr>
          <p:cNvSpPr/>
          <p:nvPr/>
        </p:nvSpPr>
        <p:spPr>
          <a:xfrm>
            <a:off x="8837793" y="4475367"/>
            <a:ext cx="2295255" cy="49505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Printable</a:t>
            </a:r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677378F-E7D5-4EA5-8A99-B8527D9745A1}"/>
              </a:ext>
            </a:extLst>
          </p:cNvPr>
          <p:cNvSpPr/>
          <p:nvPr/>
        </p:nvSpPr>
        <p:spPr>
          <a:xfrm>
            <a:off x="8848312" y="5060432"/>
            <a:ext cx="2295255" cy="49505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Point3d</a:t>
            </a:r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DE66B3F-28FA-4E26-AB6A-4512D2336812}"/>
              </a:ext>
            </a:extLst>
          </p:cNvPr>
          <p:cNvSpPr/>
          <p:nvPr/>
        </p:nvSpPr>
        <p:spPr>
          <a:xfrm>
            <a:off x="8851752" y="5645497"/>
            <a:ext cx="2295255" cy="49505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zero</a:t>
            </a:r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69A510C-4BC2-4178-97D0-BECDD547DAFD}"/>
              </a:ext>
            </a:extLst>
          </p:cNvPr>
          <p:cNvSpPr/>
          <p:nvPr/>
        </p:nvSpPr>
        <p:spPr>
          <a:xfrm>
            <a:off x="5977163" y="5060432"/>
            <a:ext cx="2295255" cy="49505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onsolas" panose="020B0609020204030204" pitchFamily="49" charset="0"/>
              </a:rPr>
              <a:t>i</a:t>
            </a:r>
            <a:endParaRPr lang="ru-RU" dirty="0">
              <a:latin typeface="Consolas" panose="020B0609020204030204" pitchFamily="49" charset="0"/>
            </a:endParaRP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E43C31F8-5B8B-401A-A386-D4C28266026A}"/>
              </a:ext>
            </a:extLst>
          </p:cNvPr>
          <p:cNvCxnSpPr>
            <a:stCxn id="17" idx="3"/>
            <a:endCxn id="15" idx="1"/>
          </p:cNvCxnSpPr>
          <p:nvPr/>
        </p:nvCxnSpPr>
        <p:spPr>
          <a:xfrm>
            <a:off x="8272418" y="5307960"/>
            <a:ext cx="5758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Соединитель: уступ 18">
            <a:extLst>
              <a:ext uri="{FF2B5EF4-FFF2-40B4-BE49-F238E27FC236}">
                <a16:creationId xmlns:a16="http://schemas.microsoft.com/office/drawing/2014/main" id="{8CBB722E-C1AC-450F-9630-CC670776EA87}"/>
              </a:ext>
            </a:extLst>
          </p:cNvPr>
          <p:cNvCxnSpPr>
            <a:endCxn id="14" idx="1"/>
          </p:cNvCxnSpPr>
          <p:nvPr/>
        </p:nvCxnSpPr>
        <p:spPr>
          <a:xfrm flipV="1">
            <a:off x="8272418" y="4722895"/>
            <a:ext cx="565375" cy="56256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Соединитель: уступ 19">
            <a:extLst>
              <a:ext uri="{FF2B5EF4-FFF2-40B4-BE49-F238E27FC236}">
                <a16:creationId xmlns:a16="http://schemas.microsoft.com/office/drawing/2014/main" id="{B9E5CD74-ECA8-4CF2-ABFC-993A2E012067}"/>
              </a:ext>
            </a:extLst>
          </p:cNvPr>
          <p:cNvCxnSpPr>
            <a:stCxn id="17" idx="3"/>
            <a:endCxn id="16" idx="1"/>
          </p:cNvCxnSpPr>
          <p:nvPr/>
        </p:nvCxnSpPr>
        <p:spPr>
          <a:xfrm>
            <a:off x="8272418" y="5307960"/>
            <a:ext cx="579334" cy="5850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73875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соответствия статическому типу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430" y="1124745"/>
            <a:ext cx="10306145" cy="5184576"/>
          </a:xfrm>
        </p:spPr>
        <p:txBody>
          <a:bodyPr>
            <a:noAutofit/>
          </a:bodyPr>
          <a:lstStyle/>
          <a:p>
            <a:endParaRPr lang="ru-RU" sz="1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endParaRPr lang="ru-RU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ru-RU" sz="1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Printable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String()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data :=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Printable = data  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Ошибка. У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ru-RU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нет метода "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String() string"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6800232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Пустой интерфейс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430" y="1124745"/>
            <a:ext cx="10306145" cy="5184576"/>
          </a:xfrm>
        </p:spPr>
        <p:txBody>
          <a:bodyPr>
            <a:noAutofit/>
          </a:bodyPr>
          <a:lstStyle/>
          <a:p>
            <a:endParaRPr lang="en-US" sz="1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myAny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myAny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   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OK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j any =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    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OK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 =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OK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j, k)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3440449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Пустой интерфейс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430" y="1124745"/>
            <a:ext cx="10306145" cy="5184576"/>
          </a:xfrm>
        </p:spPr>
        <p:txBody>
          <a:bodyPr>
            <a:noAutofit/>
          </a:bodyPr>
          <a:lstStyle/>
          <a:p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Point3d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x, y, z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float64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(b Point3d) String()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"Point3d"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Line3d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a, b Point3d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(b Line3d) String()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"Line3d"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Printable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String() 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point Point3d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line Line3d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Printable = point </a:t>
            </a: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Динамический тип 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Point3d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j Printable = line </a:t>
            </a: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Динамический тип </a:t>
            </a:r>
            <a:r>
              <a:rPr lang="en-US" sz="1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Line3d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j)</a:t>
            </a:r>
            <a:r>
              <a:rPr lang="ru-RU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ru-RU" sz="1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000" dirty="0">
                <a:solidFill>
                  <a:srgbClr val="008000"/>
                </a:solidFill>
                <a:latin typeface="Consolas" panose="020B0609020204030204" pitchFamily="49" charset="0"/>
              </a:rPr>
              <a:t>Point3d Line3d</a:t>
            </a:r>
          </a:p>
          <a:p>
            <a:r>
              <a:rPr lang="en-US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4732401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интерфейсов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430" y="1124745"/>
            <a:ext cx="10306145" cy="5184576"/>
          </a:xfrm>
        </p:spPr>
        <p:txBody>
          <a:bodyPr>
            <a:no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any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(string, 'hello') == (string, 'hello')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str2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k any = str2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(k ==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(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myString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'hello') == (string, 'hello’)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pStr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nil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j any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pStr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(j == </a:t>
            </a:r>
            <a:r>
              <a:rPr lang="en-US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nil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 </a:t>
            </a:r>
            <a:r>
              <a:rPr lang="en-US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(*string, nil) == (nil, nil)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Интерфейс хранит два значения (указатель на динамический тип, указатель на объект)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Сравниваются не только значения, но и динамические типы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49729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Словарь</a:t>
            </a:r>
          </a:p>
          <a:p>
            <a:r>
              <a:rPr lang="ru-RU" dirty="0"/>
              <a:t>(карта, </a:t>
            </a:r>
            <a:r>
              <a:rPr lang="ru-RU" dirty="0" err="1"/>
              <a:t>мэп</a:t>
            </a:r>
            <a:r>
              <a:rPr lang="ru-RU" dirty="0"/>
              <a:t>, ассоциативный массив)</a:t>
            </a:r>
          </a:p>
        </p:txBody>
      </p:sp>
    </p:spTree>
    <p:extLst>
      <p:ext uri="{BB962C8B-B14F-4D97-AF65-F5344CB8AC3E}">
        <p14:creationId xmlns:p14="http://schemas.microsoft.com/office/powerpoint/2010/main" val="253447083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словарь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00445" y="1448781"/>
            <a:ext cx="10486165" cy="4677383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Словарь</a:t>
            </a:r>
            <a:r>
              <a:rPr lang="ru-RU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— структура данных, как и массив, предназначен для хранения набора данных, но вместо одиночных значений словарь хранит пары – ключ и значение.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В словаре ключи не могут дублироваться, а значения могут</a:t>
            </a:r>
            <a:r>
              <a:rPr lang="ru-RU" dirty="0">
                <a:solidFill>
                  <a:srgbClr val="333333"/>
                </a:solidFill>
                <a:latin typeface="Consolas" panose="020B0609020204030204" pitchFamily="49" charset="0"/>
              </a:rPr>
              <a:t>. Как правило элементы словаря не упорядочены (но это зависит от реализации), поэтому словарь относится к ассоциативным типам данных.</a:t>
            </a:r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 algn="l"/>
            <a:endParaRPr lang="en-US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 algn="l"/>
            <a:r>
              <a:rPr lang="ru-RU" dirty="0">
                <a:solidFill>
                  <a:srgbClr val="333333"/>
                </a:solidFill>
                <a:latin typeface="Consolas" panose="020B0609020204030204" pitchFamily="49" charset="0"/>
              </a:rPr>
              <a:t>По сути переменная-словарь в 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go – </a:t>
            </a:r>
            <a:r>
              <a:rPr lang="ru-RU" dirty="0">
                <a:solidFill>
                  <a:srgbClr val="333333"/>
                </a:solidFill>
                <a:latin typeface="Consolas" panose="020B0609020204030204" pitchFamily="49" charset="0"/>
              </a:rPr>
              <a:t>это </a:t>
            </a:r>
            <a:r>
              <a:rPr lang="ru-RU" b="1" dirty="0">
                <a:solidFill>
                  <a:srgbClr val="333333"/>
                </a:solidFill>
                <a:latin typeface="Consolas" panose="020B0609020204030204" pitchFamily="49" charset="0"/>
              </a:rPr>
              <a:t>указатель</a:t>
            </a:r>
            <a:r>
              <a:rPr lang="ru-RU" dirty="0">
                <a:solidFill>
                  <a:srgbClr val="333333"/>
                </a:solidFill>
                <a:latin typeface="Consolas" panose="020B0609020204030204" pitchFamily="49" charset="0"/>
              </a:rPr>
              <a:t> на структуру с данными словаря. Поэтому поведения словаря отличается от поведения слайса (слайс – это структура).</a:t>
            </a:r>
          </a:p>
        </p:txBody>
      </p:sp>
    </p:spTree>
    <p:extLst>
      <p:ext uri="{BB962C8B-B14F-4D97-AF65-F5344CB8AC3E}">
        <p14:creationId xmlns:p14="http://schemas.microsoft.com/office/powerpoint/2010/main" val="59513020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определить словарь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325924" cy="4525963"/>
          </a:xfrm>
        </p:spPr>
        <p:txBody>
          <a:bodyPr>
            <a:noAutofit/>
          </a:bodyPr>
          <a:lstStyle/>
          <a:p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// имя :=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make(map[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тип ключа] тип значения, длина)</a:t>
            </a:r>
          </a:p>
          <a:p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dict1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:= </a:t>
            </a:r>
            <a:r>
              <a:rPr lang="en-US" sz="2000" dirty="0">
                <a:solidFill>
                  <a:srgbClr val="795E26"/>
                </a:solidFill>
                <a:latin typeface="Consolas" panose="020B0609020204030204" pitchFamily="49" charset="0"/>
              </a:rPr>
              <a:t>make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map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dict2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:= </a:t>
            </a:r>
            <a:r>
              <a:rPr lang="en-US" sz="2000" dirty="0">
                <a:solidFill>
                  <a:srgbClr val="795E26"/>
                </a:solidFill>
                <a:latin typeface="Consolas" panose="020B0609020204030204" pitchFamily="49" charset="0"/>
              </a:rPr>
              <a:t>make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map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dict3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map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Нельзя использовать -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nil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dict3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map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{}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Теперь можно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 –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пустой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map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100" dirty="0">
                <a:solidFill>
                  <a:srgbClr val="000000"/>
                </a:solidFill>
                <a:latin typeface="Consolas" panose="020B0609020204030204" pitchFamily="49" charset="0"/>
              </a:rPr>
              <a:t>Тип значения может быть любым.</a:t>
            </a:r>
          </a:p>
          <a:p>
            <a:r>
              <a:rPr lang="ru-RU" sz="2100" dirty="0">
                <a:solidFill>
                  <a:srgbClr val="000000"/>
                </a:solidFill>
                <a:latin typeface="Consolas" panose="020B0609020204030204" pitchFamily="49" charset="0"/>
              </a:rPr>
              <a:t>Тип ключа должен иметь неизменный хэш.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32499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 элементов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325924" cy="4525963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package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main</a:t>
            </a:r>
          </a:p>
          <a:p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 err="1">
                <a:solidFill>
                  <a:srgbClr val="A31515"/>
                </a:solidFill>
                <a:latin typeface="Consolas" panose="020B0609020204030204" pitchFamily="49" charset="0"/>
              </a:rPr>
              <a:t>fmt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func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 err="1">
                <a:solidFill>
                  <a:srgbClr val="001080"/>
                </a:solidFill>
                <a:latin typeface="Consolas" panose="020B0609020204030204" pitchFamily="49" charset="0"/>
              </a:rPr>
              <a:t>sammy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:=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map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"name"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    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"Sammy"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"animal"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  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"shark"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"color"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    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"blue"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"location"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"ocean"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fmt.</a:t>
            </a:r>
            <a:r>
              <a:rPr lang="en-US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sammy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1299338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Обращение к элементам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325924" cy="4525963"/>
          </a:xfrm>
        </p:spPr>
        <p:txBody>
          <a:bodyPr>
            <a:no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package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main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fmt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func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sammy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:=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map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"name"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    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"Sammy"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"animal"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  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"shark"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"color"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   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"blue"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"location"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"ocean"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sammy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"cost"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"10000$"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fmt.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sammy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"animal"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  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shark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fmt.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sammy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"color"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    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blue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fmt.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sammy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"location"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ocean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fmt.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sammy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"cost"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    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"10000$"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6685597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Перебор элементов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460940" cy="4525963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package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main</a:t>
            </a:r>
          </a:p>
          <a:p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fmt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sammy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:=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map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"name"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  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"Sammy"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"animal"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"shark"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"color"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 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"blue"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"location"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"ocean"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:=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range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sammy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fmt.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%q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 is the key for the value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%q</a:t>
            </a:r>
            <a:r>
              <a:rPr lang="en-US" sz="1600" dirty="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key, value)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7523494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Удаление элементов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325924" cy="4525963"/>
          </a:xfrm>
        </p:spPr>
        <p:txBody>
          <a:bodyPr>
            <a:no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package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main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fmt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func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sammy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:=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map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"name"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    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"Sammy"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"animal"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  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"shark"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"color"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   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"blue"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"location"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"ocean"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delete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sammy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"location"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// Удаляем ключ "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location"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key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:= </a:t>
            </a:r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range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sammy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fmt.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%q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 is the key for the value 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%q</a:t>
            </a:r>
            <a:r>
              <a:rPr lang="en-US" sz="1400" dirty="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key, value)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2044076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Размер словаря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550950" cy="4525963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package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main</a:t>
            </a:r>
          </a:p>
          <a:p>
            <a:b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fmt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func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sammy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:=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map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"name"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    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"Sammy"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"animal"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  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"shark"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"color"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    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"blue"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"location"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"ocean"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b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fmt.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len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sammy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8173002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наличия элемента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325924" cy="4525963"/>
          </a:xfrm>
        </p:spPr>
        <p:txBody>
          <a:bodyPr>
            <a:no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package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main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fmt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func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sammy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:=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map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"name"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    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"Sammy"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"animal"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  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"shark"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"color"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   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"blue"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"location"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"ocean"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cost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ok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:=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sammy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"cost"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ok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fmt.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"Sammy has a cost of </a:t>
            </a:r>
            <a:r>
              <a:rPr lang="en-US" sz="1400" dirty="0">
                <a:solidFill>
                  <a:srgbClr val="001080"/>
                </a:solidFill>
                <a:latin typeface="Consolas" panose="020B0609020204030204" pitchFamily="49" charset="0"/>
              </a:rPr>
              <a:t>%s</a:t>
            </a:r>
            <a:r>
              <a:rPr lang="en-US" sz="1400" dirty="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cost)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 </a:t>
            </a:r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fmt.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"Sammy cost was not found"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8077009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Копирование словаря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325924" cy="4525963"/>
          </a:xfrm>
        </p:spPr>
        <p:txBody>
          <a:bodyPr>
            <a:no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package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main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fmt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func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sammy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:=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map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"name"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    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"Sammy"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"animal"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  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"shark"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"color"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   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"blue"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"location"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"ocean"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newSammy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:=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sammy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         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Указывают на один словарь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newSammy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"cost"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"10000$"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Меняются оба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fmt.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sammy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newSammy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Если нужна копия, то нужно копировать вручную, например в цикле.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49319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Указатель на значение в словаре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325924" cy="4525963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package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main</a:t>
            </a:r>
          </a:p>
          <a:p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fmt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sammy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:=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map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"name"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  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"Sammy"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"animal"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"shark"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"color"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 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"blue"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"location"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"ocean"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Словари не упорядочены и могут перестроиться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// при добавлении/удалении элементов, поэтому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// так нельзя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color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sammy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"color"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7268552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словаря в функцию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325924" cy="4525963"/>
          </a:xfrm>
        </p:spPr>
        <p:txBody>
          <a:bodyPr>
            <a:noAutofit/>
          </a:bodyPr>
          <a:lstStyle/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package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main</a:t>
            </a:r>
          </a:p>
          <a:p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300" dirty="0" err="1">
                <a:solidFill>
                  <a:srgbClr val="A31515"/>
                </a:solidFill>
                <a:latin typeface="Consolas" panose="020B0609020204030204" pitchFamily="49" charset="0"/>
              </a:rPr>
              <a:t>fmt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func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795E26"/>
                </a:solidFill>
                <a:latin typeface="Consolas" panose="020B0609020204030204" pitchFamily="49" charset="0"/>
              </a:rPr>
              <a:t>setCost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(obj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map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3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3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obj[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"cost"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"10000$"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func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 err="1">
                <a:solidFill>
                  <a:srgbClr val="001080"/>
                </a:solidFill>
                <a:latin typeface="Consolas" panose="020B0609020204030204" pitchFamily="49" charset="0"/>
              </a:rPr>
              <a:t>sammy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:=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map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3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3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"name"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:    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"Sammy"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"animal"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:  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"shark"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"color"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:    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"blue"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"location"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"ocean"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 err="1">
                <a:solidFill>
                  <a:srgbClr val="795E26"/>
                </a:solidFill>
                <a:latin typeface="Consolas" panose="020B0609020204030204" pitchFamily="49" charset="0"/>
              </a:rPr>
              <a:t>setCost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sammy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</a:rPr>
              <a:t>Изменится</a:t>
            </a:r>
            <a:endParaRPr lang="ru-RU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fmt.</a:t>
            </a:r>
            <a:r>
              <a:rPr lang="en-US" sz="13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sammy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6536035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Множество</a:t>
            </a:r>
          </a:p>
        </p:txBody>
      </p:sp>
    </p:spTree>
    <p:extLst>
      <p:ext uri="{BB962C8B-B14F-4D97-AF65-F5344CB8AC3E}">
        <p14:creationId xmlns:p14="http://schemas.microsoft.com/office/powerpoint/2010/main" val="250385378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множество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5450" y="1448781"/>
            <a:ext cx="10531170" cy="4677383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Множество</a:t>
            </a:r>
            <a:r>
              <a:rPr lang="ru-RU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— структура данных, которая является реализацией математического объекта множество.</a:t>
            </a:r>
          </a:p>
          <a:p>
            <a:pPr algn="l"/>
            <a:r>
              <a:rPr lang="ru-RU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Множество хранит элементы в единственном </a:t>
            </a:r>
            <a:r>
              <a:rPr lang="ru-RU" dirty="0">
                <a:solidFill>
                  <a:srgbClr val="333333"/>
                </a:solidFill>
                <a:latin typeface="Consolas" panose="020B0609020204030204" pitchFamily="49" charset="0"/>
              </a:rPr>
              <a:t>числе, без дублей. Как правило элементы множества не упорядочены (но это зависит от реализации), поэтому множество относится к ассоциативным типам данных.</a:t>
            </a:r>
          </a:p>
          <a:p>
            <a:pPr algn="l"/>
            <a:endParaRPr lang="ru-RU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ru-RU" dirty="0">
                <a:solidFill>
                  <a:srgbClr val="333333"/>
                </a:solidFill>
                <a:latin typeface="Consolas" panose="020B0609020204030204" pitchFamily="49" charset="0"/>
              </a:rPr>
              <a:t>В 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</a:rPr>
              <a:t>Go </a:t>
            </a:r>
            <a:r>
              <a:rPr lang="ru-RU" dirty="0">
                <a:solidFill>
                  <a:srgbClr val="333333"/>
                </a:solidFill>
                <a:latin typeface="Consolas" panose="020B0609020204030204" pitchFamily="49" charset="0"/>
              </a:rPr>
              <a:t>нет типа данных "множество", но его аналог можно реализовать при помощи словаря</a:t>
            </a:r>
            <a:endParaRPr lang="ru-RU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09951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Множество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4000" y="1358771"/>
            <a:ext cx="8280919" cy="4525963"/>
          </a:xfrm>
        </p:spPr>
        <p:txBody>
          <a:bodyPr>
            <a:noAutofit/>
          </a:bodyPr>
          <a:lstStyle/>
          <a:p>
            <a:endParaRPr lang="en-US" sz="2000" dirty="0">
              <a:solidFill>
                <a:srgbClr val="00108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set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:= </a:t>
            </a:r>
            <a:r>
              <a:rPr lang="en-US" sz="2000" dirty="0">
                <a:solidFill>
                  <a:srgbClr val="795E26"/>
                </a:solidFill>
                <a:latin typeface="Consolas" panose="020B0609020204030204" pitchFamily="49" charset="0"/>
              </a:rPr>
              <a:t>make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map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bool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set[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"apple"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Добавляем элементы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set[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"orange"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set[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"mango"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fmt.</a:t>
            </a:r>
            <a:r>
              <a:rPr lang="en-US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(set)</a:t>
            </a:r>
          </a:p>
          <a:p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795E26"/>
                </a:solidFill>
                <a:latin typeface="Consolas" panose="020B0609020204030204" pitchFamily="49" charset="0"/>
              </a:rPr>
              <a:t>delete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(set,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"apple"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Удаляем элемент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fmt.</a:t>
            </a:r>
            <a:r>
              <a:rPr lang="en-US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(set)</a:t>
            </a:r>
          </a:p>
          <a:p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_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ok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:= set[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"mango"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Проверяем присутствие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fmt.</a:t>
            </a:r>
            <a:r>
              <a:rPr lang="en-US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Println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"mango in set:"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ok)</a:t>
            </a:r>
          </a:p>
        </p:txBody>
      </p:sp>
    </p:spTree>
    <p:extLst>
      <p:ext uri="{BB962C8B-B14F-4D97-AF65-F5344CB8AC3E}">
        <p14:creationId xmlns:p14="http://schemas.microsoft.com/office/powerpoint/2010/main" val="238914284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Каналы</a:t>
            </a:r>
          </a:p>
        </p:txBody>
      </p:sp>
    </p:spTree>
    <p:extLst>
      <p:ext uri="{BB962C8B-B14F-4D97-AF65-F5344CB8AC3E}">
        <p14:creationId xmlns:p14="http://schemas.microsoft.com/office/powerpoint/2010/main" val="206409727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Каналы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3999" y="1358771"/>
            <a:ext cx="9867595" cy="4525963"/>
          </a:xfrm>
        </p:spPr>
        <p:txBody>
          <a:bodyPr>
            <a:noAutofit/>
          </a:bodyPr>
          <a:lstStyle/>
          <a:p>
            <a:endParaRPr lang="ru-RU" sz="1800" b="0" i="0" dirty="0">
              <a:solidFill>
                <a:srgbClr val="0F1115"/>
              </a:solidFill>
              <a:effectLst/>
              <a:latin typeface="Consolas" panose="020B0609020204030204" pitchFamily="49" charset="0"/>
            </a:endParaRPr>
          </a:p>
          <a:p>
            <a:endParaRPr lang="ru-RU" sz="1800" dirty="0">
              <a:solidFill>
                <a:srgbClr val="0F1115"/>
              </a:solidFill>
              <a:latin typeface="Consolas" panose="020B0609020204030204" pitchFamily="49" charset="0"/>
            </a:endParaRPr>
          </a:p>
          <a:p>
            <a:endParaRPr lang="ru-RU" sz="1800" b="0" i="0" dirty="0">
              <a:solidFill>
                <a:srgbClr val="0F1115"/>
              </a:solidFill>
              <a:effectLst/>
              <a:latin typeface="Consolas" panose="020B0609020204030204" pitchFamily="49" charset="0"/>
            </a:endParaRPr>
          </a:p>
          <a:p>
            <a:endParaRPr lang="ru-RU" sz="1800" dirty="0">
              <a:solidFill>
                <a:srgbClr val="0F1115"/>
              </a:solidFill>
              <a:latin typeface="Consolas" panose="020B0609020204030204" pitchFamily="49" charset="0"/>
            </a:endParaRPr>
          </a:p>
          <a:p>
            <a:r>
              <a:rPr lang="ru-RU" sz="1800" b="0" i="0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Каналы в Go (</a:t>
            </a:r>
            <a:r>
              <a:rPr lang="ru-RU" sz="1800" b="0" i="0" dirty="0" err="1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Golang</a:t>
            </a:r>
            <a:r>
              <a:rPr lang="ru-RU" sz="1800" b="0" i="0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) — это механизм для обмена данными между </a:t>
            </a:r>
            <a:r>
              <a:rPr lang="ru-RU" sz="1800" b="0" i="0" dirty="0" err="1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горутинами</a:t>
            </a:r>
            <a:r>
              <a:rPr lang="ru-RU" sz="1800" b="0" i="0" dirty="0">
                <a:solidFill>
                  <a:srgbClr val="0F1115"/>
                </a:solidFill>
                <a:effectLst/>
                <a:latin typeface="Consolas" panose="020B0609020204030204" pitchFamily="49" charset="0"/>
              </a:rPr>
              <a:t> (легковесными потоками). Они обеспечивают синхронизацию и предотвращают состояние гонки.</a:t>
            </a:r>
            <a:endParaRPr lang="en-US" sz="1800" b="0" i="0" dirty="0">
              <a:solidFill>
                <a:srgbClr val="0F1115"/>
              </a:solidFill>
              <a:effectLst/>
              <a:latin typeface="Consolas" panose="020B0609020204030204" pitchFamily="49" charset="0"/>
            </a:endParaRPr>
          </a:p>
          <a:p>
            <a:endParaRPr lang="en-US" sz="1800" dirty="0">
              <a:solidFill>
                <a:srgbClr val="0F1115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F1115"/>
                </a:solidFill>
                <a:latin typeface="Consolas" panose="020B0609020204030204" pitchFamily="49" charset="0"/>
              </a:rPr>
              <a:t>Рассмотрим позже, когда будем изучать многопоточное программирование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12996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Информация о типах</a:t>
            </a:r>
          </a:p>
        </p:txBody>
      </p:sp>
    </p:spTree>
    <p:extLst>
      <p:ext uri="{BB962C8B-B14F-4D97-AF65-F5344CB8AC3E}">
        <p14:creationId xmlns:p14="http://schemas.microsoft.com/office/powerpoint/2010/main" val="129888322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Размер типа - аналог </a:t>
            </a:r>
            <a:r>
              <a:rPr lang="en-US" dirty="0" err="1"/>
              <a:t>sizeof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85411" y="1268761"/>
            <a:ext cx="10666184" cy="4905544"/>
          </a:xfrm>
        </p:spPr>
        <p:txBody>
          <a:bodyPr>
            <a:noAutofit/>
          </a:bodyPr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"unsafe"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float64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"Size of int:"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unsafe.Sizeof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       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8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байт (на 64-бит)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"Size of float64:"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unsafe.Sizeof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(f))    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8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байт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"Size of string:"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unsafe.Sizeof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(s)) 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16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байт (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data +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"Size of [10]int:"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unsafe.Sizeof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 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80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байт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Для слайсов - размер заголовка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slice []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"Size of slice header:"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unsafe.Sizeof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(slice))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24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байта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811460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Базовая информация о типах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85411" y="1268761"/>
            <a:ext cx="10666184" cy="4905544"/>
          </a:xfrm>
        </p:spPr>
        <p:txBody>
          <a:bodyPr>
            <a:noAutofit/>
          </a:bodyPr>
          <a:lstStyle/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"reflect"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float64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Тип значения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"Type of i:"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reflect.TypeOf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    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int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"Type of s:"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reflect.TypeOf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(s))     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string  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"Type of f:"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reflect.TypeOf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(f))     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float64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Kind (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категория типа)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"Kind of i:"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reflect.TypeOf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).Kind())  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int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"Kind of s:"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reflect.TypeOf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(s).Kind())  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string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Имя типа</a:t>
            </a:r>
            <a:endParaRPr lang="ru-RU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"Name of int:"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reflect.TypeOf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).Name()) </a:t>
            </a:r>
            <a:r>
              <a:rPr lang="en-US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int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6096050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типов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85411" y="1268761"/>
            <a:ext cx="10666184" cy="4905544"/>
          </a:xfrm>
        </p:spPr>
        <p:txBody>
          <a:bodyPr>
            <a:noAutofit/>
          </a:bodyPr>
          <a:lstStyle/>
          <a:p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"reflect"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mi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MyInt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t1 :=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reflect.TypeOf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t2 :=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reflect.TypeOf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(mi)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"t1 == t2:"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t1 == t2)                    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"t1.Kind() == t2.Kind():"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t1.Kind() == t2.Kind())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true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Проверка </a:t>
            </a:r>
            <a:r>
              <a:rPr lang="ru-RU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присваиваемости</a:t>
            </a:r>
            <a:endParaRPr lang="ru-RU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"t1 assignable to t2:"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t1.AssignableTo(t2))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"t2 assignable to t1:"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t2.AssignableTo(t1))   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false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2482069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assertions (</a:t>
            </a:r>
            <a:r>
              <a:rPr lang="ru-RU" dirty="0"/>
              <a:t>утверждения типа)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85411" y="1268761"/>
            <a:ext cx="10666184" cy="4905544"/>
          </a:xfrm>
        </p:spPr>
        <p:txBody>
          <a:bodyPr>
            <a:noAutofit/>
          </a:bodyPr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process(value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Type assertion -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извлечение конкретного типа из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interface{}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str, ok := value.(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ok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"It's a string:"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str,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"length:"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(str))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num, ok := value.(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ok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fmt.Println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"It's an int:"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num,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"doubled:"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num*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"Unknown type: %T\n"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value)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process(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process(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process(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5222895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switches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85411" y="1268761"/>
            <a:ext cx="10666184" cy="4905544"/>
          </a:xfrm>
        </p:spPr>
        <p:txBody>
          <a:bodyPr>
            <a:noAutofit/>
          </a:bodyPr>
          <a:lstStyle/>
          <a:p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</a:t>
            </a: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fmt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describe(value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{}) {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 := value.(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"String: %q (length: %d)\n"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v,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(v))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"Integer: %d (double: %d)\n"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v, v*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float64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"Float: %f (square: %f)\n"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v, v*v)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"Boolean: %t (inverted: %t)\n"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v, !v)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fmt.Printf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"Unknown type: %T\n"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v)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describe(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golang</a:t>
            </a:r>
            <a:r>
              <a:rPr lang="en-US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describe(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describe(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2.5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describe(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describe([]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5838830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Преобразование типов</a:t>
            </a:r>
          </a:p>
        </p:txBody>
      </p:sp>
    </p:spTree>
    <p:extLst>
      <p:ext uri="{BB962C8B-B14F-4D97-AF65-F5344CB8AC3E}">
        <p14:creationId xmlns:p14="http://schemas.microsoft.com/office/powerpoint/2010/main" val="5367194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типов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00445" y="1358771"/>
            <a:ext cx="10441160" cy="4995554"/>
          </a:xfrm>
        </p:spPr>
        <p:txBody>
          <a:bodyPr>
            <a:noAutofit/>
          </a:bodyPr>
          <a:lstStyle/>
          <a:p>
            <a:endParaRPr lang="ru-RU" sz="1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endParaRPr lang="ru-RU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ru-RU" sz="1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endParaRPr lang="ru-RU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ru-RU" sz="1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endParaRPr lang="ru-RU" sz="1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hlinkClick r:id="rId2"/>
              </a:rPr>
              <a:t>https://go.dev/ref/spec#Conversions</a:t>
            </a:r>
            <a:endParaRPr lang="en-US" sz="1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8150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3014</TotalTime>
  <Words>12299</Words>
  <Application>Microsoft Office PowerPoint</Application>
  <PresentationFormat>Широкоэкранный</PresentationFormat>
  <Paragraphs>1688</Paragraphs>
  <Slides>135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135</vt:i4>
      </vt:variant>
    </vt:vector>
  </HeadingPairs>
  <TitlesOfParts>
    <vt:vector size="139" baseType="lpstr">
      <vt:lpstr>Arial</vt:lpstr>
      <vt:lpstr>Calibri</vt:lpstr>
      <vt:lpstr>Consolas</vt:lpstr>
      <vt:lpstr>Тема Office</vt:lpstr>
      <vt:lpstr>Программирование на языке Go Лекция 5-6</vt:lpstr>
      <vt:lpstr>Типы данных Go</vt:lpstr>
      <vt:lpstr>Спецификаторы типа в Go</vt:lpstr>
      <vt:lpstr>Презентация PowerPoint</vt:lpstr>
      <vt:lpstr>Переменные</vt:lpstr>
      <vt:lpstr>Переменные –  групповое объявление</vt:lpstr>
      <vt:lpstr>Презентация PowerPoint</vt:lpstr>
      <vt:lpstr>Константы</vt:lpstr>
      <vt:lpstr>Константы – только compile time</vt:lpstr>
      <vt:lpstr>Что может быть константой</vt:lpstr>
      <vt:lpstr>Нетипизированные константы</vt:lpstr>
      <vt:lpstr>Презентация PowerPoint</vt:lpstr>
      <vt:lpstr>Спецификаторы хранения </vt:lpstr>
      <vt:lpstr>type</vt:lpstr>
      <vt:lpstr>Презентация PowerPoint</vt:lpstr>
      <vt:lpstr>Статические массивы</vt:lpstr>
      <vt:lpstr>Массивы переменной длины (VLA) – в go не может быть</vt:lpstr>
      <vt:lpstr>Инициализация статических массивов</vt:lpstr>
      <vt:lpstr>Доступ к элементам статического массива</vt:lpstr>
      <vt:lpstr>Определение размера статического массива</vt:lpstr>
      <vt:lpstr>Сравнение статических массивов</vt:lpstr>
      <vt:lpstr>Обход статического массива</vt:lpstr>
      <vt:lpstr>Особенности захвата переменной в цикле</vt:lpstr>
      <vt:lpstr>Передача статического массива в функцию по значению</vt:lpstr>
      <vt:lpstr>Передача статического массива в функцию по указателю</vt:lpstr>
      <vt:lpstr>Передача статического массива в функцию - дженерик</vt:lpstr>
      <vt:lpstr>Возврат статического массива из функции по значению</vt:lpstr>
      <vt:lpstr>Возврат статического массива из функции по указателю</vt:lpstr>
      <vt:lpstr>Слайсы (динамические массивы)</vt:lpstr>
      <vt:lpstr>Создание слайса</vt:lpstr>
      <vt:lpstr>Создание слайса</vt:lpstr>
      <vt:lpstr>Операции со слайсами – append</vt:lpstr>
      <vt:lpstr>Операции со слайсами – copy</vt:lpstr>
      <vt:lpstr>Операции со слайсами – slicing</vt:lpstr>
      <vt:lpstr>Операции со слайсами – slicing</vt:lpstr>
      <vt:lpstr>Операции со слайсами – удаление элементов</vt:lpstr>
      <vt:lpstr>Утечка памяти через слайс</vt:lpstr>
      <vt:lpstr>Передача слайсов в функцию по значению</vt:lpstr>
      <vt:lpstr>Передача слайсов в функцию по значению</vt:lpstr>
      <vt:lpstr>Передача слайсов в функцию</vt:lpstr>
      <vt:lpstr>Передача слайсов в функцию по указателю</vt:lpstr>
      <vt:lpstr>Возврат слайсов из функции по значению</vt:lpstr>
      <vt:lpstr>Возврат слайсов из функции по указателю</vt:lpstr>
      <vt:lpstr>Многомерные статические массивы</vt:lpstr>
      <vt:lpstr>Размещение многомерного статического массива в памяти</vt:lpstr>
      <vt:lpstr>Многомерные слайсы</vt:lpstr>
      <vt:lpstr>Презентация PowerPoint</vt:lpstr>
      <vt:lpstr>Строка</vt:lpstr>
      <vt:lpstr>Создание и изменение строка</vt:lpstr>
      <vt:lpstr>Строка -&gt; Массив байт</vt:lpstr>
      <vt:lpstr>Массив байт -&gt; Строка</vt:lpstr>
      <vt:lpstr>Итерирование по массиву байт строки</vt:lpstr>
      <vt:lpstr>Создание новой строки как слайса байт</vt:lpstr>
      <vt:lpstr>Строка --&gt; Слайс рун --&gt; Строка</vt:lpstr>
      <vt:lpstr>Итерирование по рунам строки</vt:lpstr>
      <vt:lpstr>Сборка строки из кусочков</vt:lpstr>
      <vt:lpstr>Презентация PowerPoint</vt:lpstr>
      <vt:lpstr>Постановка задачи</vt:lpstr>
      <vt:lpstr>Решение I</vt:lpstr>
      <vt:lpstr>Решение I - Проблемы</vt:lpstr>
      <vt:lpstr>Решение II - Структуры</vt:lpstr>
      <vt:lpstr>Решение II - Структуры</vt:lpstr>
      <vt:lpstr>Решение II - Структуры</vt:lpstr>
      <vt:lpstr>Где можно объявлять структуры?</vt:lpstr>
      <vt:lpstr>Что может быть членом структуры?</vt:lpstr>
      <vt:lpstr>Имена полей</vt:lpstr>
      <vt:lpstr>Как работать со структурой </vt:lpstr>
      <vt:lpstr>Как работать со структурой (указатель)</vt:lpstr>
      <vt:lpstr>Как работать со структурой (указатель II)</vt:lpstr>
      <vt:lpstr>Как работать со структурой </vt:lpstr>
      <vt:lpstr>Инициализация структуры</vt:lpstr>
      <vt:lpstr>Инициализация слайса структур</vt:lpstr>
      <vt:lpstr>Присваивание значений структурам  I</vt:lpstr>
      <vt:lpstr>Присваивание значений структурам  II</vt:lpstr>
      <vt:lpstr>Передача структуры как параметр в функцию</vt:lpstr>
      <vt:lpstr>Передача структуры как параметр в функцию (указатель)</vt:lpstr>
      <vt:lpstr>Передача структуры как параметр в функцию</vt:lpstr>
      <vt:lpstr>Передача структуры как параметр в функцию</vt:lpstr>
      <vt:lpstr>Возврат структур из функций</vt:lpstr>
      <vt:lpstr>Метод String</vt:lpstr>
      <vt:lpstr>Презентация PowerPoint</vt:lpstr>
      <vt:lpstr>Разные типы</vt:lpstr>
      <vt:lpstr>Преобразование структур I</vt:lpstr>
      <vt:lpstr>Преобразование структур II</vt:lpstr>
      <vt:lpstr>Преобразование структур III</vt:lpstr>
      <vt:lpstr>Вложенные структуры</vt:lpstr>
      <vt:lpstr>Встроенные поля</vt:lpstr>
      <vt:lpstr>Инициализация слайса и карты анонимных структур</vt:lpstr>
      <vt:lpstr>Размер структуры и выравнивание  I</vt:lpstr>
      <vt:lpstr>Размер структуры и выравнивание  II</vt:lpstr>
      <vt:lpstr>Размер структуры и выравнивание  II</vt:lpstr>
      <vt:lpstr>Презентация PowerPoint</vt:lpstr>
      <vt:lpstr>Что такое объединение?</vt:lpstr>
      <vt:lpstr>Презентация PowerPoint</vt:lpstr>
      <vt:lpstr>Что такое перечисление</vt:lpstr>
      <vt:lpstr>Что такое перечисление</vt:lpstr>
      <vt:lpstr>Объявление  I</vt:lpstr>
      <vt:lpstr>Объявление  II</vt:lpstr>
      <vt:lpstr>Переменные</vt:lpstr>
      <vt:lpstr>Ввод / Вывод</vt:lpstr>
      <vt:lpstr>Ввод / Вывод</vt:lpstr>
      <vt:lpstr>Операции </vt:lpstr>
      <vt:lpstr>Перечисления и функции</vt:lpstr>
      <vt:lpstr>Презентация PowerPoint</vt:lpstr>
      <vt:lpstr>Интерфейсы</vt:lpstr>
      <vt:lpstr>Интерфейс</vt:lpstr>
      <vt:lpstr>Проверка соответствия статическому типу</vt:lpstr>
      <vt:lpstr>Пустой интерфейс</vt:lpstr>
      <vt:lpstr>Пустой интерфейс</vt:lpstr>
      <vt:lpstr>Сравнение интерфейсов</vt:lpstr>
      <vt:lpstr>Презентация PowerPoint</vt:lpstr>
      <vt:lpstr>Что такое словарь</vt:lpstr>
      <vt:lpstr>Как определить словарь</vt:lpstr>
      <vt:lpstr>Инициализация элементов</vt:lpstr>
      <vt:lpstr>Обращение к элементам</vt:lpstr>
      <vt:lpstr>Перебор элементов</vt:lpstr>
      <vt:lpstr>Удаление элементов</vt:lpstr>
      <vt:lpstr>Размер словаря</vt:lpstr>
      <vt:lpstr>Проверка наличия элемента</vt:lpstr>
      <vt:lpstr>Копирование словаря</vt:lpstr>
      <vt:lpstr>Указатель на значение в словаре</vt:lpstr>
      <vt:lpstr>Передача словаря в функцию</vt:lpstr>
      <vt:lpstr>Презентация PowerPoint</vt:lpstr>
      <vt:lpstr>Что такое множество</vt:lpstr>
      <vt:lpstr>Множество</vt:lpstr>
      <vt:lpstr>Презентация PowerPoint</vt:lpstr>
      <vt:lpstr>Каналы</vt:lpstr>
      <vt:lpstr>Презентация PowerPoint</vt:lpstr>
      <vt:lpstr>Размер типа - аналог sizeof</vt:lpstr>
      <vt:lpstr>Базовая информация о типах</vt:lpstr>
      <vt:lpstr>Сравнение типов</vt:lpstr>
      <vt:lpstr>Type assertions (утверждения типа)</vt:lpstr>
      <vt:lpstr>Type switches</vt:lpstr>
      <vt:lpstr>Презентация PowerPoint</vt:lpstr>
      <vt:lpstr>Преобразование типов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 на языке C++</dc:title>
  <dc:creator>KRON</dc:creator>
  <cp:lastModifiedBy>Professional</cp:lastModifiedBy>
  <cp:revision>457</cp:revision>
  <dcterms:created xsi:type="dcterms:W3CDTF">2018-10-16T08:47:53Z</dcterms:created>
  <dcterms:modified xsi:type="dcterms:W3CDTF">2026-10-19T19:50:51Z</dcterms:modified>
</cp:coreProperties>
</file>