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5"/>
  </p:notesMasterIdLst>
  <p:sldIdLst>
    <p:sldId id="258" r:id="rId2"/>
    <p:sldId id="440" r:id="rId3"/>
    <p:sldId id="455" r:id="rId4"/>
    <p:sldId id="459" r:id="rId5"/>
    <p:sldId id="456" r:id="rId6"/>
    <p:sldId id="457" r:id="rId7"/>
    <p:sldId id="458" r:id="rId8"/>
    <p:sldId id="460" r:id="rId9"/>
    <p:sldId id="365" r:id="rId10"/>
    <p:sldId id="366" r:id="rId11"/>
    <p:sldId id="370" r:id="rId12"/>
    <p:sldId id="371" r:id="rId13"/>
    <p:sldId id="363" r:id="rId14"/>
    <p:sldId id="364" r:id="rId15"/>
    <p:sldId id="367" r:id="rId16"/>
    <p:sldId id="453" r:id="rId17"/>
    <p:sldId id="454" r:id="rId18"/>
    <p:sldId id="369" r:id="rId19"/>
    <p:sldId id="461" r:id="rId20"/>
    <p:sldId id="462" r:id="rId21"/>
    <p:sldId id="463" r:id="rId22"/>
    <p:sldId id="378" r:id="rId23"/>
    <p:sldId id="416" r:id="rId24"/>
    <p:sldId id="441" r:id="rId25"/>
    <p:sldId id="442" r:id="rId26"/>
    <p:sldId id="375" r:id="rId27"/>
    <p:sldId id="421" r:id="rId28"/>
    <p:sldId id="419" r:id="rId29"/>
    <p:sldId id="377" r:id="rId30"/>
    <p:sldId id="422" r:id="rId31"/>
    <p:sldId id="423" r:id="rId32"/>
    <p:sldId id="379" r:id="rId33"/>
    <p:sldId id="410" r:id="rId34"/>
    <p:sldId id="380" r:id="rId35"/>
    <p:sldId id="443" r:id="rId36"/>
    <p:sldId id="427" r:id="rId37"/>
    <p:sldId id="381" r:id="rId38"/>
    <p:sldId id="425" r:id="rId39"/>
    <p:sldId id="424" r:id="rId40"/>
    <p:sldId id="426" r:id="rId41"/>
    <p:sldId id="383" r:id="rId42"/>
    <p:sldId id="350" r:id="rId43"/>
    <p:sldId id="384" r:id="rId44"/>
    <p:sldId id="386" r:id="rId45"/>
    <p:sldId id="388" r:id="rId46"/>
    <p:sldId id="444" r:id="rId47"/>
    <p:sldId id="445" r:id="rId48"/>
    <p:sldId id="389" r:id="rId49"/>
    <p:sldId id="387" r:id="rId50"/>
    <p:sldId id="429" r:id="rId51"/>
    <p:sldId id="390" r:id="rId52"/>
    <p:sldId id="428" r:id="rId53"/>
    <p:sldId id="354" r:id="rId54"/>
    <p:sldId id="392" r:id="rId55"/>
    <p:sldId id="430" r:id="rId56"/>
    <p:sldId id="357" r:id="rId57"/>
    <p:sldId id="374" r:id="rId58"/>
    <p:sldId id="393" r:id="rId59"/>
    <p:sldId id="394" r:id="rId60"/>
    <p:sldId id="395" r:id="rId61"/>
    <p:sldId id="431" r:id="rId62"/>
    <p:sldId id="432" r:id="rId63"/>
    <p:sldId id="355" r:id="rId64"/>
    <p:sldId id="396" r:id="rId65"/>
    <p:sldId id="433" r:id="rId66"/>
    <p:sldId id="346" r:id="rId67"/>
    <p:sldId id="434" r:id="rId68"/>
    <p:sldId id="446" r:id="rId69"/>
    <p:sldId id="447" r:id="rId70"/>
    <p:sldId id="448" r:id="rId71"/>
    <p:sldId id="449" r:id="rId72"/>
    <p:sldId id="450" r:id="rId73"/>
    <p:sldId id="451" r:id="rId74"/>
    <p:sldId id="452" r:id="rId75"/>
    <p:sldId id="398" r:id="rId76"/>
    <p:sldId id="399" r:id="rId77"/>
    <p:sldId id="405" r:id="rId78"/>
    <p:sldId id="400" r:id="rId79"/>
    <p:sldId id="402" r:id="rId80"/>
    <p:sldId id="403" r:id="rId81"/>
    <p:sldId id="404" r:id="rId82"/>
    <p:sldId id="407" r:id="rId83"/>
    <p:sldId id="408" r:id="rId84"/>
    <p:sldId id="397" r:id="rId85"/>
    <p:sldId id="409" r:id="rId86"/>
    <p:sldId id="435" r:id="rId87"/>
    <p:sldId id="436" r:id="rId88"/>
    <p:sldId id="411" r:id="rId89"/>
    <p:sldId id="437" r:id="rId90"/>
    <p:sldId id="412" r:id="rId91"/>
    <p:sldId id="413" r:id="rId92"/>
    <p:sldId id="438" r:id="rId93"/>
    <p:sldId id="415" r:id="rId9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1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3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02EAD-67EA-43D1-B08F-B2A71CD358C6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132D-5412-433D-B60E-E6D4A1CDF4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33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132D-5412-433D-B60E-E6D4A1CDF46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87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8DA07-F16D-B69B-14A0-7418829B7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B3408F-C035-7F86-E532-B954222B0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C57AC3-650B-F8BF-09C8-C2B4DCF5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5080A7-D173-D34E-D987-E2C0D226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9F0AEA-F271-E44D-94AC-243C2E0D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5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891F9-3476-AFE5-6F5E-3F6F3495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18E34-1152-017B-392E-EC5AF886F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E6B264-13E2-2D5F-75D0-68AB7CE5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F410B0-1B06-0F94-EF8F-6FA03AC9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BC443-9DF8-7811-4F50-DA0939A2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0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B0E42-F26B-36E2-773A-5304DE8E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0D50AC-8755-6F61-DE6D-718C5790F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9F538-368E-46C8-6A0B-73E27118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814CB-16AC-34F1-BD55-C50011C4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C7843-79DC-CD5D-6D5F-64D2C2E8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25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2D8AA-77C9-6CF3-B23C-060CF9A5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AA2B99-F80E-BA07-D1F9-3C064028A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2856C9-4F89-DF11-6470-C21185733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DFBB0F-B9D7-A90B-517E-16E12B22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C37F6E-1F4C-532F-0447-20BD32FC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C7790-8BEB-A53E-96DA-59A20A26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0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9CB15-C3CC-FC8F-4267-77F81CB5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EB9DDC-5705-3392-3A7F-B93CB61E5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84CF1-DE2E-70BA-ACCD-77EF4A52F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525FDA-E12E-5810-A164-BD0B3009F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155AC6-2DE0-9644-8874-5C573FD63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30CBA1-E9C4-65D8-3F54-9C4327D3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279D99-E15E-B520-A991-2EC66A29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2153C6-95A4-8AB3-96F5-7545958C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26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13BC6-745F-95A9-F0A9-5D3F0117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D8FD2A-5A7C-06F8-BA11-FEEC2B2A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2B2300-90F1-8EE1-7A1B-9E065770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84C6DD-ED50-4B35-179E-27063A1D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1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EB7D92-DC5A-0240-10C9-26EA015D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C8479B-E009-4084-DC5E-8C0C58FD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1C52AC-6679-DDE2-EAB6-B90CA53E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43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D1796-E9D7-5349-C5F0-0F621903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4F04D9-CF54-2F53-1E1D-513D11518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66DECA-58B4-D9CA-A32D-E551C2950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3B75B1-5F06-22C7-2744-E67592E6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59913B-8E29-FDEA-AD42-E6C129E28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6341C7-ACF3-27A9-D41E-A81E34A2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69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2B9E6-90A4-8F78-CEE1-18AC161E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34F4B9-4857-D367-1A7E-378A1261D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5942A2-88A4-A456-BA8F-817EB03F4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534529-81F3-E5CC-F7D5-302D2CBE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B7EC93-E8EE-A4C6-C2D9-F5514772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1F8081-862B-8E61-8D8F-DB05F660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34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43101-E793-1814-4501-14D47ED3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BDF28E-053E-8207-289B-815750ED3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10BEA8-5DA4-8A74-2DB9-E89C620D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44EB9A-EC5F-78B3-1922-55441952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BA7CAC-00E8-85DE-A274-DF1FD1A6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14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CE06E1-A559-DC12-8662-7F99C8E10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8BA418-DCB5-B785-79A6-5998ED0DE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1EC3E-DBBD-CD2F-8DC1-BB7902D3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BBC658-E40F-8E05-ABE2-042431F3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6B605-74F8-AA8D-86C6-78196C1E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12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BF59-2F6E-7D92-8A20-0252AACE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722C2E-80F7-9376-442A-D3077DAF0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D304D-BEEF-15F0-D934-036B46455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991E7-4DC9-4E0A-97D8-D75A75B6789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DAF6ED-B9AA-6C8C-C90F-3CCDC274B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593123-3CF9-7A37-5654-90498C046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35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PEIMSz3Er_8?si=AIPTD5d8ZlJgBq0Y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BC063-3831-522D-21D8-6B1239819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8774" y="944237"/>
            <a:ext cx="10434452" cy="2387600"/>
          </a:xfrm>
        </p:spPr>
        <p:txBody>
          <a:bodyPr>
            <a:normAutofit/>
          </a:bodyPr>
          <a:lstStyle/>
          <a:p>
            <a:r>
              <a:rPr lang="ru-RU" sz="4800" b="1" dirty="0"/>
              <a:t>Алгоритмизация и программирование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5FC3D9-C83F-5AC8-94FD-3ED461655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30788"/>
            <a:ext cx="9144000" cy="1655762"/>
          </a:xfrm>
        </p:spPr>
        <p:txBody>
          <a:bodyPr>
            <a:normAutofit/>
          </a:bodyPr>
          <a:lstStyle/>
          <a:p>
            <a:r>
              <a:rPr lang="ru-RU" sz="3200" dirty="0"/>
              <a:t>Лекция 3</a:t>
            </a:r>
            <a:r>
              <a:rPr lang="en-US" sz="3200" dirty="0"/>
              <a:t> (C++)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537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64113-897B-9677-AF9F-D8BA59AA9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170857"/>
          </a:xfrm>
        </p:spPr>
        <p:txBody>
          <a:bodyPr>
            <a:normAutofit/>
          </a:bodyPr>
          <a:lstStyle/>
          <a:p>
            <a:r>
              <a:rPr lang="ru-RU" sz="4400" dirty="0"/>
              <a:t>Снимаем ограничение на возможность писать код только в функции </a:t>
            </a:r>
            <a:r>
              <a:rPr lang="en-US" sz="4400" dirty="0"/>
              <a:t>main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610145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Declarations</a:t>
            </a:r>
            <a:r>
              <a:rPr lang="ru-RU" sz="4000" dirty="0"/>
              <a:t> (объявления)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037" y="1690688"/>
            <a:ext cx="10044762" cy="4495899"/>
          </a:xfrm>
        </p:spPr>
        <p:txBody>
          <a:bodyPr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202122"/>
                </a:solidFill>
                <a:effectLst/>
              </a:rPr>
              <a:t>Как правило объявления говорят как следует интерпретировать имена.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202122"/>
                </a:solidFill>
              </a:rPr>
              <a:t>На верхнем уровне код программы состоит из объявлений</a:t>
            </a:r>
            <a:r>
              <a:rPr lang="en-US" sz="1800" dirty="0">
                <a:solidFill>
                  <a:srgbClr val="202122"/>
                </a:solidFill>
              </a:rPr>
              <a:t> (</a:t>
            </a:r>
            <a:r>
              <a:rPr lang="ru-RU" sz="1800" dirty="0">
                <a:solidFill>
                  <a:srgbClr val="202122"/>
                </a:solidFill>
              </a:rPr>
              <a:t>после </a:t>
            </a:r>
            <a:r>
              <a:rPr lang="ru-RU" sz="1800" dirty="0" err="1">
                <a:solidFill>
                  <a:srgbClr val="202122"/>
                </a:solidFill>
              </a:rPr>
              <a:t>препроцессинга</a:t>
            </a:r>
            <a:r>
              <a:rPr lang="en-US" sz="1800" dirty="0">
                <a:solidFill>
                  <a:srgbClr val="202122"/>
                </a:solidFill>
              </a:rPr>
              <a:t>)</a:t>
            </a:r>
            <a:r>
              <a:rPr lang="ru-RU" sz="1800" dirty="0">
                <a:solidFill>
                  <a:srgbClr val="202122"/>
                </a:solidFill>
              </a:rPr>
              <a:t> </a:t>
            </a:r>
            <a:r>
              <a:rPr lang="en-US" sz="1800" b="0" i="0" dirty="0">
                <a:solidFill>
                  <a:srgbClr val="202122"/>
                </a:solidFill>
                <a:effectLst/>
              </a:rPr>
              <a:t>declaration-seq</a:t>
            </a:r>
            <a:r>
              <a:rPr lang="en-US" sz="1800" dirty="0">
                <a:solidFill>
                  <a:srgbClr val="202122"/>
                </a:solidFill>
              </a:rPr>
              <a:t>:</a:t>
            </a:r>
            <a:endParaRPr lang="ru-RU" sz="1800" b="0" i="0" dirty="0">
              <a:solidFill>
                <a:srgbClr val="202122"/>
              </a:solidFill>
              <a:effectLst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62298FE-B3C9-4C89-B164-22811EB85398}"/>
              </a:ext>
            </a:extLst>
          </p:cNvPr>
          <p:cNvGrpSpPr/>
          <p:nvPr/>
        </p:nvGrpSpPr>
        <p:grpSpPr>
          <a:xfrm>
            <a:off x="3735802" y="3277964"/>
            <a:ext cx="1182761" cy="2501230"/>
            <a:chOff x="4507045" y="2979761"/>
            <a:chExt cx="1182761" cy="2501230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581F3A6F-7797-4672-8A27-0FD8F1B18829}"/>
                </a:ext>
              </a:extLst>
            </p:cNvPr>
            <p:cNvGrpSpPr/>
            <p:nvPr/>
          </p:nvGrpSpPr>
          <p:grpSpPr>
            <a:xfrm>
              <a:off x="4507046" y="2979761"/>
              <a:ext cx="1182760" cy="955898"/>
              <a:chOff x="4830415" y="2619022"/>
              <a:chExt cx="1182760" cy="955898"/>
            </a:xfrm>
          </p:grpSpPr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08CC2DD7-6790-49E8-B36E-365D3F91AC2D}"/>
                  </a:ext>
                </a:extLst>
              </p:cNvPr>
              <p:cNvSpPr/>
              <p:nvPr/>
            </p:nvSpPr>
            <p:spPr>
              <a:xfrm>
                <a:off x="4830415" y="2619022"/>
                <a:ext cx="1182760" cy="439539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dirty="0"/>
                  <a:t>Объявление</a:t>
                </a:r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338F9B22-B3FD-485B-8F25-EC7D03B52FD5}"/>
                  </a:ext>
                </a:extLst>
              </p:cNvPr>
              <p:cNvSpPr/>
              <p:nvPr/>
            </p:nvSpPr>
            <p:spPr>
              <a:xfrm>
                <a:off x="4830415" y="3135381"/>
                <a:ext cx="1182760" cy="439539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dirty="0"/>
                  <a:t>Объявление</a:t>
                </a:r>
              </a:p>
            </p:txBody>
          </p:sp>
        </p:grp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CAE4E960-DFBA-4DE5-975C-751F70E6C899}"/>
                </a:ext>
              </a:extLst>
            </p:cNvPr>
            <p:cNvSpPr/>
            <p:nvPr/>
          </p:nvSpPr>
          <p:spPr>
            <a:xfrm>
              <a:off x="4507045" y="4009904"/>
              <a:ext cx="1182760" cy="43953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Объявление</a:t>
              </a: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C1E5CCD1-09FF-41CE-A91C-20CED3F37591}"/>
                </a:ext>
              </a:extLst>
            </p:cNvPr>
            <p:cNvSpPr/>
            <p:nvPr/>
          </p:nvSpPr>
          <p:spPr>
            <a:xfrm>
              <a:off x="4507046" y="4525093"/>
              <a:ext cx="1182760" cy="43953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Объявление</a:t>
              </a: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4075162B-C70E-4CC7-8714-B36AC5468A2A}"/>
                </a:ext>
              </a:extLst>
            </p:cNvPr>
            <p:cNvSpPr/>
            <p:nvPr/>
          </p:nvSpPr>
          <p:spPr>
            <a:xfrm>
              <a:off x="4507046" y="5041452"/>
              <a:ext cx="1182760" cy="43953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Объявление</a:t>
              </a:r>
            </a:p>
          </p:txBody>
        </p:sp>
      </p:grp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FD7A24D-E6DB-4D6B-A172-D6A392C67540}"/>
              </a:ext>
            </a:extLst>
          </p:cNvPr>
          <p:cNvSpPr/>
          <p:nvPr/>
        </p:nvSpPr>
        <p:spPr>
          <a:xfrm>
            <a:off x="3311772" y="2806994"/>
            <a:ext cx="2009553" cy="308004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ru-RU" dirty="0"/>
              <a:t>Файл</a:t>
            </a:r>
            <a:r>
              <a:rPr lang="en-US" dirty="0"/>
              <a:t>.</a:t>
            </a:r>
            <a:r>
              <a:rPr lang="en-US" dirty="0" err="1"/>
              <a:t>cpp</a:t>
            </a:r>
            <a:endParaRPr lang="ru-RU" dirty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851F46AC-F4C8-4782-BD5B-9B0E0119616E}"/>
              </a:ext>
            </a:extLst>
          </p:cNvPr>
          <p:cNvSpPr txBox="1">
            <a:spLocks/>
          </p:cNvSpPr>
          <p:nvPr/>
        </p:nvSpPr>
        <p:spPr>
          <a:xfrm>
            <a:off x="6233953" y="3794323"/>
            <a:ext cx="2952577" cy="14685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&gt;&gt;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&gt;&gt;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C93AB15C-3925-44AD-885A-E3399AD1548C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4918562" y="4527877"/>
            <a:ext cx="1315391" cy="70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640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Declarations</a:t>
            </a:r>
            <a:r>
              <a:rPr lang="ru-RU" sz="4000" dirty="0"/>
              <a:t> </a:t>
            </a:r>
            <a:r>
              <a:rPr lang="en-US" sz="4000" dirty="0"/>
              <a:t>vs statement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037" y="1690688"/>
            <a:ext cx="10044762" cy="449589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b="0" i="0" dirty="0">
              <a:solidFill>
                <a:srgbClr val="202122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202122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b="0" i="0" dirty="0">
              <a:solidFill>
                <a:srgbClr val="202122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202122"/>
                </a:solidFill>
                <a:effectLst/>
              </a:rPr>
              <a:t>Объявление (</a:t>
            </a:r>
            <a:r>
              <a:rPr lang="ru-RU" sz="1800" b="0" i="0" dirty="0" err="1">
                <a:solidFill>
                  <a:srgbClr val="202122"/>
                </a:solidFill>
                <a:effectLst/>
              </a:rPr>
              <a:t>declaration</a:t>
            </a:r>
            <a:r>
              <a:rPr lang="ru-RU" sz="1800" b="0" i="0" dirty="0">
                <a:solidFill>
                  <a:srgbClr val="202122"/>
                </a:solidFill>
                <a:effectLst/>
              </a:rPr>
              <a:t>) отвечает на вопрос: «Что существует?»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202122"/>
                </a:solidFill>
                <a:effectLst/>
              </a:rPr>
              <a:t>Оно вводит имя в программу: переменную, функцию, тип, пространство имён и т.п.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202122"/>
                </a:solidFill>
              </a:rPr>
              <a:t>Разрешено писать как на глобальном уровне так и внутри функций.</a:t>
            </a:r>
            <a:endParaRPr lang="ru-RU" sz="1800" b="0" i="0" dirty="0">
              <a:solidFill>
                <a:srgbClr val="202122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b="0" i="0" dirty="0">
              <a:solidFill>
                <a:srgbClr val="202122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 err="1">
                <a:solidFill>
                  <a:srgbClr val="202122"/>
                </a:solidFill>
              </a:rPr>
              <a:t>Стейтмент</a:t>
            </a:r>
            <a:r>
              <a:rPr lang="ru-RU" sz="1800" dirty="0">
                <a:solidFill>
                  <a:srgbClr val="202122"/>
                </a:solidFill>
              </a:rPr>
              <a:t> </a:t>
            </a:r>
            <a:r>
              <a:rPr lang="ru-RU" sz="1800" b="0" i="0" dirty="0">
                <a:solidFill>
                  <a:srgbClr val="202122"/>
                </a:solidFill>
                <a:effectLst/>
              </a:rPr>
              <a:t>(</a:t>
            </a:r>
            <a:r>
              <a:rPr lang="ru-RU" sz="1800" b="0" i="0" dirty="0" err="1">
                <a:solidFill>
                  <a:srgbClr val="202122"/>
                </a:solidFill>
                <a:effectLst/>
              </a:rPr>
              <a:t>statement</a:t>
            </a:r>
            <a:r>
              <a:rPr lang="ru-RU" sz="1800" b="0" i="0" dirty="0">
                <a:solidFill>
                  <a:srgbClr val="202122"/>
                </a:solidFill>
                <a:effectLst/>
              </a:rPr>
              <a:t>) отвечает на вопрос: «Что делать?»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202122"/>
                </a:solidFill>
                <a:effectLst/>
              </a:rPr>
              <a:t>Это единица выполнения: присваивание, вызов функции, </a:t>
            </a:r>
            <a:r>
              <a:rPr lang="ru-RU" sz="1800" b="0" i="0" dirty="0" err="1">
                <a:solidFill>
                  <a:srgbClr val="202122"/>
                </a:solidFill>
                <a:effectLst/>
              </a:rPr>
              <a:t>if</a:t>
            </a:r>
            <a:r>
              <a:rPr lang="ru-RU" sz="1800" b="0" i="0" dirty="0">
                <a:solidFill>
                  <a:srgbClr val="202122"/>
                </a:solidFill>
                <a:effectLst/>
              </a:rPr>
              <a:t>, </a:t>
            </a:r>
            <a:r>
              <a:rPr lang="ru-RU" sz="1800" b="0" i="0" dirty="0" err="1">
                <a:solidFill>
                  <a:srgbClr val="202122"/>
                </a:solidFill>
                <a:effectLst/>
              </a:rPr>
              <a:t>for</a:t>
            </a:r>
            <a:r>
              <a:rPr lang="ru-RU" sz="1800" b="0" i="0" dirty="0">
                <a:solidFill>
                  <a:srgbClr val="202122"/>
                </a:solidFill>
                <a:effectLst/>
              </a:rPr>
              <a:t>, </a:t>
            </a:r>
            <a:r>
              <a:rPr lang="ru-RU" sz="1800" b="0" i="0" dirty="0" err="1">
                <a:solidFill>
                  <a:srgbClr val="202122"/>
                </a:solidFill>
                <a:effectLst/>
              </a:rPr>
              <a:t>return</a:t>
            </a:r>
            <a:r>
              <a:rPr lang="ru-RU" sz="1800" b="0" i="0" dirty="0">
                <a:solidFill>
                  <a:srgbClr val="202122"/>
                </a:solidFill>
                <a:effectLst/>
              </a:rPr>
              <a:t> и т.д.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202122"/>
                </a:solidFill>
              </a:rPr>
              <a:t>Разрешено писать только внутри функций/методов.</a:t>
            </a:r>
            <a:endParaRPr lang="ru-RU" sz="1800" b="0" i="0" dirty="0">
              <a:solidFill>
                <a:srgbClr val="20212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9526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Declarations</a:t>
            </a:r>
            <a:r>
              <a:rPr lang="ru-RU" sz="4000" dirty="0"/>
              <a:t> (объявления)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738" y="1690688"/>
            <a:ext cx="10044762" cy="4495899"/>
          </a:xfrm>
        </p:spPr>
        <p:txBody>
          <a:bodyPr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0" i="0" dirty="0">
                <a:solidFill>
                  <a:srgbClr val="202122"/>
                </a:solidFill>
                <a:effectLst/>
              </a:rPr>
              <a:t>declaration-seq: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100" b="0" i="0" dirty="0">
                <a:solidFill>
                  <a:schemeClr val="accent6">
                    <a:lumMod val="75000"/>
                  </a:schemeClr>
                </a:solidFill>
                <a:effectLst/>
              </a:rPr>
              <a:t>        </a:t>
            </a:r>
            <a:r>
              <a:rPr lang="en-US" sz="1100" b="0" i="0" dirty="0">
                <a:solidFill>
                  <a:schemeClr val="accent2"/>
                </a:solidFill>
                <a:effectLst/>
              </a:rPr>
              <a:t>declaration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100" b="0" i="0" dirty="0">
                <a:solidFill>
                  <a:srgbClr val="202122"/>
                </a:solidFill>
                <a:effectLst/>
              </a:rPr>
              <a:t>        </a:t>
            </a:r>
            <a:r>
              <a:rPr lang="en-US" sz="1100" b="0" i="0" dirty="0">
                <a:solidFill>
                  <a:srgbClr val="202122"/>
                </a:solidFill>
                <a:effectLst/>
              </a:rPr>
              <a:t>declaration-seq </a:t>
            </a:r>
            <a:r>
              <a:rPr lang="en-US" sz="1100" b="0" i="0" dirty="0">
                <a:solidFill>
                  <a:schemeClr val="accent2"/>
                </a:solidFill>
                <a:effectLst/>
              </a:rPr>
              <a:t>declaration</a:t>
            </a:r>
            <a:endParaRPr lang="ru-RU" sz="1100" b="0" i="0" dirty="0">
              <a:solidFill>
                <a:schemeClr val="accent2"/>
              </a:solidFill>
              <a:effectLst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ru-RU" sz="1100" dirty="0">
              <a:solidFill>
                <a:srgbClr val="202122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accent2"/>
                </a:solidFill>
              </a:rPr>
              <a:t>declaration</a:t>
            </a:r>
            <a:r>
              <a:rPr lang="en-US" sz="1100" dirty="0">
                <a:solidFill>
                  <a:srgbClr val="202122"/>
                </a:solidFill>
              </a:rPr>
              <a:t>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202122"/>
                </a:solidFill>
              </a:rPr>
              <a:t> </a:t>
            </a:r>
            <a:r>
              <a:rPr lang="ru-RU" sz="1100" dirty="0">
                <a:solidFill>
                  <a:srgbClr val="202122"/>
                </a:solidFill>
              </a:rPr>
              <a:t>       </a:t>
            </a:r>
            <a:r>
              <a:rPr lang="en-US" sz="1100" dirty="0">
                <a:solidFill>
                  <a:srgbClr val="202122"/>
                </a:solidFill>
              </a:rPr>
              <a:t>name-declaration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special-declaration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en-US" sz="1100" b="0" i="0" dirty="0">
              <a:solidFill>
                <a:srgbClr val="202122"/>
              </a:solidFill>
              <a:effectLst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A5C9705-06EB-4335-B394-0C2B9DAFB70E}"/>
              </a:ext>
            </a:extLst>
          </p:cNvPr>
          <p:cNvSpPr txBox="1">
            <a:spLocks/>
          </p:cNvSpPr>
          <p:nvPr/>
        </p:nvSpPr>
        <p:spPr>
          <a:xfrm>
            <a:off x="1955501" y="2603523"/>
            <a:ext cx="2488019" cy="3423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202122"/>
                </a:solidFill>
              </a:rPr>
              <a:t>name-declaration: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block-declaration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 err="1">
                <a:solidFill>
                  <a:srgbClr val="202122"/>
                </a:solidFill>
              </a:rPr>
              <a:t>nodeclspec</a:t>
            </a:r>
            <a:r>
              <a:rPr lang="en-US" sz="1100" dirty="0">
                <a:solidFill>
                  <a:srgbClr val="202122"/>
                </a:solidFill>
              </a:rPr>
              <a:t>-function-declaration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function-definition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template-declaration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deduction-guide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linkage-specification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namespace-definition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empty-declaration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attribute-declaration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module-import-declaration</a:t>
            </a:r>
            <a:endParaRPr lang="ru-RU" sz="1100" dirty="0">
              <a:solidFill>
                <a:srgbClr val="202122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dirty="0">
              <a:solidFill>
                <a:srgbClr val="202122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202122"/>
                </a:solidFill>
              </a:rPr>
              <a:t>special-declaration: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explicit-instantiation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explicit-specialization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export-declaration</a:t>
            </a:r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A1C85FE9-262A-4345-A386-083786469D22}"/>
              </a:ext>
            </a:extLst>
          </p:cNvPr>
          <p:cNvSpPr txBox="1">
            <a:spLocks/>
          </p:cNvSpPr>
          <p:nvPr/>
        </p:nvSpPr>
        <p:spPr>
          <a:xfrm>
            <a:off x="4443520" y="1690688"/>
            <a:ext cx="2856614" cy="449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202122"/>
                </a:solidFill>
              </a:rPr>
              <a:t>block-declaration: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simple-declaration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 err="1">
                <a:solidFill>
                  <a:srgbClr val="202122"/>
                </a:solidFill>
              </a:rPr>
              <a:t>asm</a:t>
            </a:r>
            <a:r>
              <a:rPr lang="en-US" sz="1100" dirty="0">
                <a:solidFill>
                  <a:srgbClr val="202122"/>
                </a:solidFill>
              </a:rPr>
              <a:t>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namespace-alias-definition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using-declaration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using-</a:t>
            </a:r>
            <a:r>
              <a:rPr lang="en-US" sz="1100" dirty="0" err="1">
                <a:solidFill>
                  <a:srgbClr val="202122"/>
                </a:solidFill>
              </a:rPr>
              <a:t>enum</a:t>
            </a:r>
            <a:r>
              <a:rPr lang="en-US" sz="1100" dirty="0">
                <a:solidFill>
                  <a:srgbClr val="202122"/>
                </a:solidFill>
              </a:rPr>
              <a:t>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using-directive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 err="1">
                <a:solidFill>
                  <a:srgbClr val="202122"/>
                </a:solidFill>
              </a:rPr>
              <a:t>static_assert</a:t>
            </a:r>
            <a:r>
              <a:rPr lang="en-US" sz="1100" dirty="0">
                <a:solidFill>
                  <a:srgbClr val="202122"/>
                </a:solidFill>
              </a:rPr>
              <a:t>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alias-declaration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opaque-</a:t>
            </a:r>
            <a:r>
              <a:rPr lang="en-US" sz="1100" dirty="0" err="1">
                <a:solidFill>
                  <a:srgbClr val="202122"/>
                </a:solidFill>
              </a:rPr>
              <a:t>enum</a:t>
            </a:r>
            <a:r>
              <a:rPr lang="en-US" sz="1100" dirty="0">
                <a:solidFill>
                  <a:srgbClr val="202122"/>
                </a:solidFill>
              </a:rPr>
              <a:t>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rgbClr val="202122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 err="1">
                <a:solidFill>
                  <a:srgbClr val="202122"/>
                </a:solidFill>
              </a:rPr>
              <a:t>nodeclspec</a:t>
            </a:r>
            <a:r>
              <a:rPr lang="en-US" sz="1100" dirty="0">
                <a:solidFill>
                  <a:srgbClr val="202122"/>
                </a:solidFill>
              </a:rPr>
              <a:t>-function-declaration: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attribute-specifier-</a:t>
            </a:r>
            <a:r>
              <a:rPr lang="en-US" sz="1100" dirty="0" err="1">
                <a:solidFill>
                  <a:srgbClr val="202122"/>
                </a:solidFill>
              </a:rPr>
              <a:t>seq</a:t>
            </a:r>
            <a:r>
              <a:rPr lang="en-US" sz="700" dirty="0" err="1">
                <a:solidFill>
                  <a:srgbClr val="202122"/>
                </a:solidFill>
              </a:rPr>
              <a:t>opt</a:t>
            </a:r>
            <a:r>
              <a:rPr lang="en-US" sz="1100" dirty="0">
                <a:solidFill>
                  <a:srgbClr val="202122"/>
                </a:solidFill>
              </a:rPr>
              <a:t> declarator ;</a:t>
            </a:r>
            <a:endParaRPr lang="ru-RU" sz="1100" dirty="0">
              <a:solidFill>
                <a:srgbClr val="202122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rgbClr val="202122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202122"/>
                </a:solidFill>
              </a:rPr>
              <a:t>empty-declaration: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rgbClr val="202122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202122"/>
                </a:solidFill>
              </a:rPr>
              <a:t>attribute-declaration: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attribute-specifier-seq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dirty="0">
              <a:solidFill>
                <a:srgbClr val="202122"/>
              </a:solidFill>
            </a:endParaRPr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635FCCD1-691A-4DF3-8F7A-5D5FDF70FF48}"/>
              </a:ext>
            </a:extLst>
          </p:cNvPr>
          <p:cNvSpPr txBox="1">
            <a:spLocks/>
          </p:cNvSpPr>
          <p:nvPr/>
        </p:nvSpPr>
        <p:spPr>
          <a:xfrm>
            <a:off x="6774264" y="1878457"/>
            <a:ext cx="5751331" cy="449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202122"/>
                </a:solidFill>
              </a:rPr>
              <a:t>simple-declaration: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 err="1">
                <a:solidFill>
                  <a:srgbClr val="202122"/>
                </a:solidFill>
              </a:rPr>
              <a:t>decl</a:t>
            </a:r>
            <a:r>
              <a:rPr lang="en-US" sz="1100" dirty="0">
                <a:solidFill>
                  <a:srgbClr val="202122"/>
                </a:solidFill>
              </a:rPr>
              <a:t>-specifier-seq </a:t>
            </a:r>
            <a:r>
              <a:rPr lang="en-US" sz="1100" dirty="0" err="1">
                <a:solidFill>
                  <a:srgbClr val="202122"/>
                </a:solidFill>
              </a:rPr>
              <a:t>init</a:t>
            </a:r>
            <a:r>
              <a:rPr lang="en-US" sz="1100" dirty="0">
                <a:solidFill>
                  <a:srgbClr val="202122"/>
                </a:solidFill>
              </a:rPr>
              <a:t>-declarator-</a:t>
            </a:r>
            <a:r>
              <a:rPr lang="en-US" sz="1100" dirty="0" err="1">
                <a:solidFill>
                  <a:srgbClr val="202122"/>
                </a:solidFill>
              </a:rPr>
              <a:t>list</a:t>
            </a:r>
            <a:r>
              <a:rPr lang="en-US" sz="700" dirty="0" err="1">
                <a:solidFill>
                  <a:srgbClr val="202122"/>
                </a:solidFill>
              </a:rPr>
              <a:t>opt</a:t>
            </a:r>
            <a:r>
              <a:rPr lang="en-US" sz="1100" dirty="0">
                <a:solidFill>
                  <a:srgbClr val="202122"/>
                </a:solidFill>
              </a:rPr>
              <a:t>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attribute-specifier-seq </a:t>
            </a:r>
            <a:r>
              <a:rPr lang="en-US" sz="1100" dirty="0" err="1">
                <a:solidFill>
                  <a:srgbClr val="202122"/>
                </a:solidFill>
              </a:rPr>
              <a:t>decl</a:t>
            </a:r>
            <a:r>
              <a:rPr lang="en-US" sz="1100" dirty="0">
                <a:solidFill>
                  <a:srgbClr val="202122"/>
                </a:solidFill>
              </a:rPr>
              <a:t>-specifier-seq </a:t>
            </a:r>
            <a:r>
              <a:rPr lang="en-US" sz="1100" dirty="0" err="1">
                <a:solidFill>
                  <a:srgbClr val="202122"/>
                </a:solidFill>
              </a:rPr>
              <a:t>init</a:t>
            </a:r>
            <a:r>
              <a:rPr lang="en-US" sz="1100" dirty="0">
                <a:solidFill>
                  <a:srgbClr val="202122"/>
                </a:solidFill>
              </a:rPr>
              <a:t>-declarator-list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</a:rPr>
              <a:t>attribute-specifier-</a:t>
            </a:r>
            <a:r>
              <a:rPr lang="en-US" sz="1100" dirty="0" err="1">
                <a:solidFill>
                  <a:srgbClr val="202122"/>
                </a:solidFill>
              </a:rPr>
              <a:t>seq</a:t>
            </a:r>
            <a:r>
              <a:rPr lang="en-US" sz="700" dirty="0" err="1">
                <a:solidFill>
                  <a:srgbClr val="202122"/>
                </a:solidFill>
              </a:rPr>
              <a:t>opt</a:t>
            </a:r>
            <a:r>
              <a:rPr lang="en-US" sz="1100" dirty="0">
                <a:solidFill>
                  <a:srgbClr val="202122"/>
                </a:solidFill>
              </a:rPr>
              <a:t> </a:t>
            </a:r>
            <a:r>
              <a:rPr lang="en-US" sz="1100" dirty="0" err="1">
                <a:solidFill>
                  <a:srgbClr val="202122"/>
                </a:solidFill>
              </a:rPr>
              <a:t>decl</a:t>
            </a:r>
            <a:r>
              <a:rPr lang="en-US" sz="1100" dirty="0">
                <a:solidFill>
                  <a:srgbClr val="202122"/>
                </a:solidFill>
              </a:rPr>
              <a:t>-specifier-seq ref-</a:t>
            </a:r>
            <a:r>
              <a:rPr lang="en-US" sz="1100" dirty="0" err="1">
                <a:solidFill>
                  <a:srgbClr val="202122"/>
                </a:solidFill>
              </a:rPr>
              <a:t>qualifier</a:t>
            </a:r>
            <a:r>
              <a:rPr lang="en-US" sz="700" dirty="0" err="1">
                <a:solidFill>
                  <a:srgbClr val="202122"/>
                </a:solidFill>
              </a:rPr>
              <a:t>opt</a:t>
            </a:r>
            <a:r>
              <a:rPr lang="en-US" sz="1100" dirty="0">
                <a:solidFill>
                  <a:srgbClr val="202122"/>
                </a:solidFill>
              </a:rPr>
              <a:t> [ identifier-list ] initializer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rgbClr val="202122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 err="1">
                <a:solidFill>
                  <a:srgbClr val="202122"/>
                </a:solidFill>
              </a:rPr>
              <a:t>static_assert</a:t>
            </a:r>
            <a:r>
              <a:rPr lang="en-US" sz="1100" dirty="0">
                <a:solidFill>
                  <a:srgbClr val="202122"/>
                </a:solidFill>
              </a:rPr>
              <a:t>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 err="1">
                <a:solidFill>
                  <a:srgbClr val="202122"/>
                </a:solidFill>
                <a:latin typeface="Consolas" panose="020B0609020204030204" pitchFamily="49" charset="0"/>
              </a:rPr>
              <a:t>static_assert</a:t>
            </a:r>
            <a:r>
              <a:rPr lang="en-US" sz="1100" dirty="0">
                <a:solidFill>
                  <a:srgbClr val="202122"/>
                </a:solidFill>
              </a:rPr>
              <a:t> ( constant-expression )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 err="1">
                <a:solidFill>
                  <a:srgbClr val="202122"/>
                </a:solidFill>
                <a:latin typeface="Consolas" panose="020B0609020204030204" pitchFamily="49" charset="0"/>
              </a:rPr>
              <a:t>static_assert</a:t>
            </a:r>
            <a:r>
              <a:rPr lang="en-US" sz="1100" dirty="0">
                <a:solidFill>
                  <a:srgbClr val="202122"/>
                </a:solidFill>
              </a:rPr>
              <a:t> ( constant-expression , string-literal ) ;</a:t>
            </a:r>
            <a:endParaRPr lang="ru-RU" sz="1100" dirty="0">
              <a:solidFill>
                <a:srgbClr val="202122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rgbClr val="202122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202122"/>
                </a:solidFill>
              </a:rPr>
              <a:t>alias-declaration: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202122"/>
                </a:solidFill>
              </a:rPr>
              <a:t>        </a:t>
            </a:r>
            <a:r>
              <a:rPr lang="en-US" sz="1100" dirty="0">
                <a:solidFill>
                  <a:srgbClr val="202122"/>
                </a:solidFill>
                <a:latin typeface="Consolas" panose="020B0609020204030204" pitchFamily="49" charset="0"/>
              </a:rPr>
              <a:t>using</a:t>
            </a:r>
            <a:r>
              <a:rPr lang="en-US" sz="1100" dirty="0">
                <a:solidFill>
                  <a:srgbClr val="202122"/>
                </a:solidFill>
              </a:rPr>
              <a:t> identifier attribute-specifier-</a:t>
            </a:r>
            <a:r>
              <a:rPr lang="en-US" sz="1100" dirty="0" err="1">
                <a:solidFill>
                  <a:srgbClr val="202122"/>
                </a:solidFill>
              </a:rPr>
              <a:t>seq</a:t>
            </a:r>
            <a:r>
              <a:rPr lang="en-US" sz="700" dirty="0" err="1">
                <a:solidFill>
                  <a:srgbClr val="202122"/>
                </a:solidFill>
              </a:rPr>
              <a:t>opt</a:t>
            </a:r>
            <a:r>
              <a:rPr lang="en-US" sz="1100" dirty="0">
                <a:solidFill>
                  <a:srgbClr val="202122"/>
                </a:solidFill>
              </a:rPr>
              <a:t> = defining-type-id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rgbClr val="202122"/>
              </a:solidFill>
            </a:endParaRPr>
          </a:p>
        </p:txBody>
      </p: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0DBEE882-FB3D-4948-B715-03BE4F707244}"/>
              </a:ext>
            </a:extLst>
          </p:cNvPr>
          <p:cNvCxnSpPr/>
          <p:nvPr/>
        </p:nvCxnSpPr>
        <p:spPr>
          <a:xfrm>
            <a:off x="1679946" y="2753833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B2C79AAD-1FE1-4AF5-9713-37D8F104DF57}"/>
              </a:ext>
            </a:extLst>
          </p:cNvPr>
          <p:cNvCxnSpPr/>
          <p:nvPr/>
        </p:nvCxnSpPr>
        <p:spPr>
          <a:xfrm>
            <a:off x="1747285" y="4958318"/>
            <a:ext cx="2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9EFCCFF3-40B4-4373-84AE-24EC1CBB77DF}"/>
              </a:ext>
            </a:extLst>
          </p:cNvPr>
          <p:cNvCxnSpPr/>
          <p:nvPr/>
        </p:nvCxnSpPr>
        <p:spPr>
          <a:xfrm>
            <a:off x="1743744" y="2955852"/>
            <a:ext cx="0" cy="1998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1EF47F6B-E53D-46BD-866D-25421CEF918E}"/>
              </a:ext>
            </a:extLst>
          </p:cNvPr>
          <p:cNvCxnSpPr/>
          <p:nvPr/>
        </p:nvCxnSpPr>
        <p:spPr>
          <a:xfrm>
            <a:off x="4171516" y="1821712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E89FDC73-D3AC-44C9-9597-6B669A9BCC73}"/>
              </a:ext>
            </a:extLst>
          </p:cNvPr>
          <p:cNvCxnSpPr/>
          <p:nvPr/>
        </p:nvCxnSpPr>
        <p:spPr>
          <a:xfrm>
            <a:off x="4175060" y="3856072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EA68F1E7-CD62-46F6-A7D1-91CC1E56626B}"/>
              </a:ext>
            </a:extLst>
          </p:cNvPr>
          <p:cNvCxnSpPr/>
          <p:nvPr/>
        </p:nvCxnSpPr>
        <p:spPr>
          <a:xfrm>
            <a:off x="4167967" y="4412517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1BCE75F3-07F0-41CD-83C6-5F39776F2231}"/>
              </a:ext>
            </a:extLst>
          </p:cNvPr>
          <p:cNvCxnSpPr/>
          <p:nvPr/>
        </p:nvCxnSpPr>
        <p:spPr>
          <a:xfrm>
            <a:off x="4033277" y="4958328"/>
            <a:ext cx="46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B114A019-DCFF-4730-B124-11E24EB35DB6}"/>
              </a:ext>
            </a:extLst>
          </p:cNvPr>
          <p:cNvCxnSpPr/>
          <p:nvPr/>
        </p:nvCxnSpPr>
        <p:spPr>
          <a:xfrm>
            <a:off x="4167976" y="3136616"/>
            <a:ext cx="0" cy="7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7D5F8F93-449D-433F-B576-A1FEAC9417BA}"/>
              </a:ext>
            </a:extLst>
          </p:cNvPr>
          <p:cNvCxnSpPr/>
          <p:nvPr/>
        </p:nvCxnSpPr>
        <p:spPr>
          <a:xfrm>
            <a:off x="4167985" y="1821712"/>
            <a:ext cx="0" cy="11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C3B9637A-1B33-4C4D-92A8-FD67E1A09BC9}"/>
              </a:ext>
            </a:extLst>
          </p:cNvPr>
          <p:cNvCxnSpPr/>
          <p:nvPr/>
        </p:nvCxnSpPr>
        <p:spPr>
          <a:xfrm>
            <a:off x="3327991" y="2945219"/>
            <a:ext cx="8328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9F59EED-DE00-4FCC-955F-DE8FFB8D31C8}"/>
              </a:ext>
            </a:extLst>
          </p:cNvPr>
          <p:cNvCxnSpPr/>
          <p:nvPr/>
        </p:nvCxnSpPr>
        <p:spPr>
          <a:xfrm>
            <a:off x="3374076" y="4235303"/>
            <a:ext cx="7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C422F5A1-8B56-4BF6-857F-7A8E7F155DE9}"/>
              </a:ext>
            </a:extLst>
          </p:cNvPr>
          <p:cNvCxnSpPr/>
          <p:nvPr/>
        </p:nvCxnSpPr>
        <p:spPr>
          <a:xfrm>
            <a:off x="4164427" y="4240878"/>
            <a:ext cx="0" cy="1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93B5794E-4BF4-468D-B5C2-8E0DC5E559EA}"/>
              </a:ext>
            </a:extLst>
          </p:cNvPr>
          <p:cNvCxnSpPr/>
          <p:nvPr/>
        </p:nvCxnSpPr>
        <p:spPr>
          <a:xfrm>
            <a:off x="3517284" y="4412517"/>
            <a:ext cx="50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FD5E77CB-3B8F-4AEE-A3A0-88ED0EDAB491}"/>
              </a:ext>
            </a:extLst>
          </p:cNvPr>
          <p:cNvCxnSpPr/>
          <p:nvPr/>
        </p:nvCxnSpPr>
        <p:spPr>
          <a:xfrm>
            <a:off x="4029740" y="4413511"/>
            <a:ext cx="0" cy="54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>
            <a:extLst>
              <a:ext uri="{FF2B5EF4-FFF2-40B4-BE49-F238E27FC236}">
                <a16:creationId xmlns:a16="http://schemas.microsoft.com/office/drawing/2014/main" id="{2F9A98B1-04FA-4A3C-BE1C-47006F4C076F}"/>
              </a:ext>
            </a:extLst>
          </p:cNvPr>
          <p:cNvCxnSpPr/>
          <p:nvPr/>
        </p:nvCxnSpPr>
        <p:spPr>
          <a:xfrm>
            <a:off x="5893093" y="2020186"/>
            <a:ext cx="91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45F263F5-5C9E-46A7-AD77-814C67240D7A}"/>
              </a:ext>
            </a:extLst>
          </p:cNvPr>
          <p:cNvCxnSpPr/>
          <p:nvPr/>
        </p:nvCxnSpPr>
        <p:spPr>
          <a:xfrm>
            <a:off x="6488076" y="2945219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>
            <a:extLst>
              <a:ext uri="{FF2B5EF4-FFF2-40B4-BE49-F238E27FC236}">
                <a16:creationId xmlns:a16="http://schemas.microsoft.com/office/drawing/2014/main" id="{F9DDCE0C-83FC-4F6C-B09D-0AFB402A2DEA}"/>
              </a:ext>
            </a:extLst>
          </p:cNvPr>
          <p:cNvCxnSpPr/>
          <p:nvPr/>
        </p:nvCxnSpPr>
        <p:spPr>
          <a:xfrm>
            <a:off x="6480983" y="3682404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id="{B5DE3EF5-D4DD-4E37-A471-3077FF76F51A}"/>
              </a:ext>
            </a:extLst>
          </p:cNvPr>
          <p:cNvCxnSpPr>
            <a:cxnSpLocks/>
          </p:cNvCxnSpPr>
          <p:nvPr/>
        </p:nvCxnSpPr>
        <p:spPr>
          <a:xfrm>
            <a:off x="5774402" y="3313815"/>
            <a:ext cx="7065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4E830BAE-8B90-4394-939C-76F6850B7046}"/>
              </a:ext>
            </a:extLst>
          </p:cNvPr>
          <p:cNvCxnSpPr/>
          <p:nvPr/>
        </p:nvCxnSpPr>
        <p:spPr>
          <a:xfrm>
            <a:off x="6480988" y="3316072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A6F8591F-C170-43B5-AD15-945CAB91548E}"/>
              </a:ext>
            </a:extLst>
          </p:cNvPr>
          <p:cNvCxnSpPr>
            <a:cxnSpLocks/>
          </p:cNvCxnSpPr>
          <p:nvPr/>
        </p:nvCxnSpPr>
        <p:spPr>
          <a:xfrm>
            <a:off x="6233570" y="3125983"/>
            <a:ext cx="25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F810C7D2-86EB-4DAC-A1D6-AA58A4831B08}"/>
              </a:ext>
            </a:extLst>
          </p:cNvPr>
          <p:cNvCxnSpPr/>
          <p:nvPr/>
        </p:nvCxnSpPr>
        <p:spPr>
          <a:xfrm>
            <a:off x="6486747" y="2948345"/>
            <a:ext cx="0" cy="1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73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Declarations</a:t>
            </a:r>
            <a:r>
              <a:rPr lang="ru-RU" sz="4000" dirty="0"/>
              <a:t> (объявления)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738" y="1690688"/>
            <a:ext cx="10044762" cy="4495899"/>
          </a:xfrm>
        </p:spPr>
        <p:txBody>
          <a:bodyPr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0" i="0" dirty="0">
                <a:effectLst/>
              </a:rPr>
              <a:t>declaration-seq: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100" b="0" i="0" dirty="0">
                <a:effectLst/>
              </a:rPr>
              <a:t>        </a:t>
            </a:r>
            <a:r>
              <a:rPr lang="en-US" sz="1100" b="0" i="0" dirty="0">
                <a:effectLst/>
              </a:rPr>
              <a:t>declaration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100" b="0" i="0" dirty="0">
                <a:effectLst/>
              </a:rPr>
              <a:t>        </a:t>
            </a:r>
            <a:r>
              <a:rPr lang="en-US" sz="1100" b="0" i="0" dirty="0">
                <a:effectLst/>
              </a:rPr>
              <a:t>declaration-seq declaration</a:t>
            </a:r>
            <a:endParaRPr lang="ru-RU" sz="1100" b="0" i="0" dirty="0">
              <a:effectLst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ru-RU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/>
              <a:t>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</a:t>
            </a:r>
            <a:r>
              <a:rPr lang="en-US" sz="1100" dirty="0"/>
              <a:t>name-declaration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special-declaration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en-US" sz="1100" b="0" i="0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A5C9705-06EB-4335-B394-0C2B9DAFB70E}"/>
              </a:ext>
            </a:extLst>
          </p:cNvPr>
          <p:cNvSpPr txBox="1">
            <a:spLocks/>
          </p:cNvSpPr>
          <p:nvPr/>
        </p:nvSpPr>
        <p:spPr>
          <a:xfrm>
            <a:off x="1955501" y="2603523"/>
            <a:ext cx="2488019" cy="3423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/>
              <a:t>name-declaration: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block-declaration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nodeclspec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-function-declaration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/>
              <a:t>function-definition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template-declaration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deduction-guide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linkage-specification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namespace-definition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/>
              <a:t>empty-declaration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attribute-declaration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module-import-declaration</a:t>
            </a:r>
            <a:endParaRPr lang="ru-RU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special-declaration: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explicit-instantiation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explicit-specialization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export-declaration</a:t>
            </a:r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A1C85FE9-262A-4345-A386-083786469D22}"/>
              </a:ext>
            </a:extLst>
          </p:cNvPr>
          <p:cNvSpPr txBox="1">
            <a:spLocks/>
          </p:cNvSpPr>
          <p:nvPr/>
        </p:nvSpPr>
        <p:spPr>
          <a:xfrm>
            <a:off x="4443520" y="1690688"/>
            <a:ext cx="2856614" cy="449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block-declaration: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simple-declaration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asm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namespace-alias-definition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using-declaration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using-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enum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using-directive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static_assert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alias-declaration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opaque-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enum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-declaration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nodeclspec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-function-declaration: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attribute-specifier-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seq</a:t>
            </a:r>
            <a:r>
              <a:rPr lang="en-US" sz="700" dirty="0" err="1">
                <a:solidFill>
                  <a:schemeClr val="bg1">
                    <a:lumMod val="75000"/>
                  </a:schemeClr>
                </a:solidFill>
              </a:rPr>
              <a:t>opt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 declarator ;</a:t>
            </a:r>
            <a:endParaRPr lang="ru-RU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/>
              <a:t>empty-declaration: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/>
              <a:t>        </a:t>
            </a:r>
            <a:r>
              <a:rPr lang="en-US" sz="1100" dirty="0"/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attribute-declaration: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attribute-specifier-seq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635FCCD1-691A-4DF3-8F7A-5D5FDF70FF48}"/>
              </a:ext>
            </a:extLst>
          </p:cNvPr>
          <p:cNvSpPr txBox="1">
            <a:spLocks/>
          </p:cNvSpPr>
          <p:nvPr/>
        </p:nvSpPr>
        <p:spPr>
          <a:xfrm>
            <a:off x="6774264" y="1878457"/>
            <a:ext cx="5751331" cy="449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simple-declaration: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decl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-specifier-seq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init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-declarator-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list</a:t>
            </a:r>
            <a:r>
              <a:rPr lang="en-US" sz="700" dirty="0" err="1">
                <a:solidFill>
                  <a:schemeClr val="bg1">
                    <a:lumMod val="75000"/>
                  </a:schemeClr>
                </a:solidFill>
              </a:rPr>
              <a:t>opt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attribute-specifier-seq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decl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-specifier-seq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init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-declarator-list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attribute-specifier-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seq</a:t>
            </a:r>
            <a:r>
              <a:rPr lang="en-US" sz="700" dirty="0" err="1">
                <a:solidFill>
                  <a:schemeClr val="bg1">
                    <a:lumMod val="75000"/>
                  </a:schemeClr>
                </a:solidFill>
              </a:rPr>
              <a:t>opt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decl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-specifier-seq ref-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qualifier</a:t>
            </a:r>
            <a:r>
              <a:rPr lang="en-US" sz="700" dirty="0" err="1">
                <a:solidFill>
                  <a:schemeClr val="bg1">
                    <a:lumMod val="75000"/>
                  </a:schemeClr>
                </a:solidFill>
              </a:rPr>
              <a:t>opt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 [ identifier-list ] initializer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static_assert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static_assert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 ( constant-expression )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static_assert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 ( constant-expression , string-literal ) ;</a:t>
            </a:r>
            <a:endParaRPr lang="ru-RU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alias-declaration: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chemeClr val="bg1">
                    <a:lumMod val="75000"/>
                  </a:schemeClr>
                </a:solidFill>
              </a:rPr>
              <a:t>    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 identifier attribute-specifier-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</a:rPr>
              <a:t>seq</a:t>
            </a:r>
            <a:r>
              <a:rPr lang="en-US" sz="700" dirty="0" err="1">
                <a:solidFill>
                  <a:schemeClr val="bg1">
                    <a:lumMod val="75000"/>
                  </a:schemeClr>
                </a:solidFill>
              </a:rPr>
              <a:t>opt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 = defining-type-id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0DBEE882-FB3D-4948-B715-03BE4F707244}"/>
              </a:ext>
            </a:extLst>
          </p:cNvPr>
          <p:cNvCxnSpPr/>
          <p:nvPr/>
        </p:nvCxnSpPr>
        <p:spPr>
          <a:xfrm>
            <a:off x="1679946" y="2753833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B2C79AAD-1FE1-4AF5-9713-37D8F104DF57}"/>
              </a:ext>
            </a:extLst>
          </p:cNvPr>
          <p:cNvCxnSpPr/>
          <p:nvPr/>
        </p:nvCxnSpPr>
        <p:spPr>
          <a:xfrm>
            <a:off x="1747285" y="4958318"/>
            <a:ext cx="2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9EFCCFF3-40B4-4373-84AE-24EC1CBB77DF}"/>
              </a:ext>
            </a:extLst>
          </p:cNvPr>
          <p:cNvCxnSpPr/>
          <p:nvPr/>
        </p:nvCxnSpPr>
        <p:spPr>
          <a:xfrm>
            <a:off x="1743744" y="2955852"/>
            <a:ext cx="0" cy="1998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1EF47F6B-E53D-46BD-866D-25421CEF918E}"/>
              </a:ext>
            </a:extLst>
          </p:cNvPr>
          <p:cNvCxnSpPr/>
          <p:nvPr/>
        </p:nvCxnSpPr>
        <p:spPr>
          <a:xfrm>
            <a:off x="4171516" y="1821712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E89FDC73-D3AC-44C9-9597-6B669A9BCC73}"/>
              </a:ext>
            </a:extLst>
          </p:cNvPr>
          <p:cNvCxnSpPr/>
          <p:nvPr/>
        </p:nvCxnSpPr>
        <p:spPr>
          <a:xfrm>
            <a:off x="4175060" y="3856072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EA68F1E7-CD62-46F6-A7D1-91CC1E56626B}"/>
              </a:ext>
            </a:extLst>
          </p:cNvPr>
          <p:cNvCxnSpPr/>
          <p:nvPr/>
        </p:nvCxnSpPr>
        <p:spPr>
          <a:xfrm>
            <a:off x="4167967" y="4412517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1BCE75F3-07F0-41CD-83C6-5F39776F2231}"/>
              </a:ext>
            </a:extLst>
          </p:cNvPr>
          <p:cNvCxnSpPr/>
          <p:nvPr/>
        </p:nvCxnSpPr>
        <p:spPr>
          <a:xfrm>
            <a:off x="4033277" y="4958328"/>
            <a:ext cx="46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B114A019-DCFF-4730-B124-11E24EB35DB6}"/>
              </a:ext>
            </a:extLst>
          </p:cNvPr>
          <p:cNvCxnSpPr/>
          <p:nvPr/>
        </p:nvCxnSpPr>
        <p:spPr>
          <a:xfrm>
            <a:off x="4167976" y="3136616"/>
            <a:ext cx="0" cy="7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7D5F8F93-449D-433F-B576-A1FEAC9417BA}"/>
              </a:ext>
            </a:extLst>
          </p:cNvPr>
          <p:cNvCxnSpPr/>
          <p:nvPr/>
        </p:nvCxnSpPr>
        <p:spPr>
          <a:xfrm>
            <a:off x="4167985" y="1821712"/>
            <a:ext cx="0" cy="11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C3B9637A-1B33-4C4D-92A8-FD67E1A09BC9}"/>
              </a:ext>
            </a:extLst>
          </p:cNvPr>
          <p:cNvCxnSpPr/>
          <p:nvPr/>
        </p:nvCxnSpPr>
        <p:spPr>
          <a:xfrm>
            <a:off x="3327991" y="2945219"/>
            <a:ext cx="8328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9F59EED-DE00-4FCC-955F-DE8FFB8D31C8}"/>
              </a:ext>
            </a:extLst>
          </p:cNvPr>
          <p:cNvCxnSpPr/>
          <p:nvPr/>
        </p:nvCxnSpPr>
        <p:spPr>
          <a:xfrm>
            <a:off x="3374076" y="4235303"/>
            <a:ext cx="7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C422F5A1-8B56-4BF6-857F-7A8E7F155DE9}"/>
              </a:ext>
            </a:extLst>
          </p:cNvPr>
          <p:cNvCxnSpPr/>
          <p:nvPr/>
        </p:nvCxnSpPr>
        <p:spPr>
          <a:xfrm>
            <a:off x="4164427" y="4240878"/>
            <a:ext cx="0" cy="1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93B5794E-4BF4-468D-B5C2-8E0DC5E559EA}"/>
              </a:ext>
            </a:extLst>
          </p:cNvPr>
          <p:cNvCxnSpPr/>
          <p:nvPr/>
        </p:nvCxnSpPr>
        <p:spPr>
          <a:xfrm>
            <a:off x="3517284" y="4412517"/>
            <a:ext cx="50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FD5E77CB-3B8F-4AEE-A3A0-88ED0EDAB491}"/>
              </a:ext>
            </a:extLst>
          </p:cNvPr>
          <p:cNvCxnSpPr/>
          <p:nvPr/>
        </p:nvCxnSpPr>
        <p:spPr>
          <a:xfrm>
            <a:off x="4029740" y="4413511"/>
            <a:ext cx="0" cy="54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>
            <a:extLst>
              <a:ext uri="{FF2B5EF4-FFF2-40B4-BE49-F238E27FC236}">
                <a16:creationId xmlns:a16="http://schemas.microsoft.com/office/drawing/2014/main" id="{2F9A98B1-04FA-4A3C-BE1C-47006F4C076F}"/>
              </a:ext>
            </a:extLst>
          </p:cNvPr>
          <p:cNvCxnSpPr/>
          <p:nvPr/>
        </p:nvCxnSpPr>
        <p:spPr>
          <a:xfrm>
            <a:off x="5893093" y="2020186"/>
            <a:ext cx="91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45F263F5-5C9E-46A7-AD77-814C67240D7A}"/>
              </a:ext>
            </a:extLst>
          </p:cNvPr>
          <p:cNvCxnSpPr/>
          <p:nvPr/>
        </p:nvCxnSpPr>
        <p:spPr>
          <a:xfrm>
            <a:off x="6488076" y="2945219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>
            <a:extLst>
              <a:ext uri="{FF2B5EF4-FFF2-40B4-BE49-F238E27FC236}">
                <a16:creationId xmlns:a16="http://schemas.microsoft.com/office/drawing/2014/main" id="{F9DDCE0C-83FC-4F6C-B09D-0AFB402A2DEA}"/>
              </a:ext>
            </a:extLst>
          </p:cNvPr>
          <p:cNvCxnSpPr/>
          <p:nvPr/>
        </p:nvCxnSpPr>
        <p:spPr>
          <a:xfrm>
            <a:off x="6480983" y="3682404"/>
            <a:ext cx="318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id="{B5DE3EF5-D4DD-4E37-A471-3077FF76F51A}"/>
              </a:ext>
            </a:extLst>
          </p:cNvPr>
          <p:cNvCxnSpPr>
            <a:cxnSpLocks/>
          </p:cNvCxnSpPr>
          <p:nvPr/>
        </p:nvCxnSpPr>
        <p:spPr>
          <a:xfrm>
            <a:off x="5774402" y="3313815"/>
            <a:ext cx="7065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4E830BAE-8B90-4394-939C-76F6850B7046}"/>
              </a:ext>
            </a:extLst>
          </p:cNvPr>
          <p:cNvCxnSpPr/>
          <p:nvPr/>
        </p:nvCxnSpPr>
        <p:spPr>
          <a:xfrm>
            <a:off x="6480988" y="3316072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A6F8591F-C170-43B5-AD15-945CAB91548E}"/>
              </a:ext>
            </a:extLst>
          </p:cNvPr>
          <p:cNvCxnSpPr>
            <a:cxnSpLocks/>
          </p:cNvCxnSpPr>
          <p:nvPr/>
        </p:nvCxnSpPr>
        <p:spPr>
          <a:xfrm>
            <a:off x="6233570" y="3125983"/>
            <a:ext cx="25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F810C7D2-86EB-4DAC-A1D6-AA58A4831B08}"/>
              </a:ext>
            </a:extLst>
          </p:cNvPr>
          <p:cNvCxnSpPr/>
          <p:nvPr/>
        </p:nvCxnSpPr>
        <p:spPr>
          <a:xfrm>
            <a:off x="6486747" y="2948345"/>
            <a:ext cx="0" cy="1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333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Пустое объявление (</a:t>
            </a:r>
            <a:r>
              <a:rPr lang="en-US" sz="4000" dirty="0"/>
              <a:t>empty-declaration)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277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r>
              <a:rPr lang="ru-RU" sz="1800" dirty="0"/>
              <a:t>Оно ничего не объявляет, не определяет и не генерирует код. Разрешено там, где грамматика C++ допускает объявление: на уровне пространства имён, класса, после определения функции и т.п.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r>
              <a:rPr lang="ru-RU" sz="1800" dirty="0"/>
              <a:t>Внутри функции ; – это пустой </a:t>
            </a:r>
            <a:r>
              <a:rPr lang="ru-RU" sz="1800" dirty="0" err="1"/>
              <a:t>стейтмент</a:t>
            </a:r>
            <a:r>
              <a:rPr lang="ru-RU" sz="1800" dirty="0"/>
              <a:t>. Снаружи функций/классов ; – это уже пустое объявление.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endParaRPr lang="ru-RU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endParaRPr lang="ru-RU" sz="1600" dirty="0"/>
          </a:p>
          <a:p>
            <a:pPr marL="2690813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2690813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endParaRPr lang="ru-RU" sz="1600" dirty="0"/>
          </a:p>
          <a:p>
            <a:pPr marL="2690813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Допустимо. Пустое объявление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2690813" indent="0"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2690813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2690813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;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Допустимо. Пустой </a:t>
            </a:r>
            <a:r>
              <a:rPr lang="ru-RU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стейтмент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2690813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57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64113-897B-9677-AF9F-D8BA59AA9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620297"/>
          </a:xfrm>
        </p:spPr>
        <p:txBody>
          <a:bodyPr>
            <a:normAutofit/>
          </a:bodyPr>
          <a:lstStyle/>
          <a:p>
            <a:r>
              <a:rPr lang="en-US" sz="4400" dirty="0"/>
              <a:t>function-definition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071124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Простой код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037" y="2059806"/>
            <a:ext cx="10044762" cy="4126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Правая круглая скобка 3">
            <a:extLst>
              <a:ext uri="{FF2B5EF4-FFF2-40B4-BE49-F238E27FC236}">
                <a16:creationId xmlns:a16="http://schemas.microsoft.com/office/drawing/2014/main" id="{00F0830A-9A59-41E2-8F92-6A8FB61CA4E1}"/>
              </a:ext>
            </a:extLst>
          </p:cNvPr>
          <p:cNvSpPr/>
          <p:nvPr/>
        </p:nvSpPr>
        <p:spPr>
          <a:xfrm>
            <a:off x="5922334" y="2647507"/>
            <a:ext cx="173665" cy="2456121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345ED-DAE8-44F8-915F-17A86688825F}"/>
              </a:ext>
            </a:extLst>
          </p:cNvPr>
          <p:cNvSpPr txBox="1"/>
          <p:nvPr/>
        </p:nvSpPr>
        <p:spPr>
          <a:xfrm>
            <a:off x="6443330" y="3690901"/>
            <a:ext cx="940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Это оно</a:t>
            </a:r>
          </a:p>
        </p:txBody>
      </p:sp>
    </p:spTree>
    <p:extLst>
      <p:ext uri="{BB962C8B-B14F-4D97-AF65-F5344CB8AC3E}">
        <p14:creationId xmlns:p14="http://schemas.microsoft.com/office/powerpoint/2010/main" val="2483316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Код побольше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037" y="1578544"/>
            <a:ext cx="10044762" cy="460804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Введите числа (введите '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stop' </a:t>
            </a:r>
            <a:r>
              <a:rPr lang="ru-RU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для завершения ввода):"</a:t>
            </a:r>
            <a:r>
              <a:rPr lang="ru-RU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"&gt;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"stop"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Среднее значение: "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9828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Декомпозиция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7A7CC98-0460-06A7-A7B8-8C98894F302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36" b="10435"/>
          <a:stretch/>
        </p:blipFill>
        <p:spPr>
          <a:xfrm>
            <a:off x="5168203" y="2924876"/>
            <a:ext cx="1855593" cy="1008247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6002C5-1025-408F-5E06-ADB789C8F60C}"/>
              </a:ext>
            </a:extLst>
          </p:cNvPr>
          <p:cNvSpPr txBox="1"/>
          <p:nvPr/>
        </p:nvSpPr>
        <p:spPr>
          <a:xfrm>
            <a:off x="838200" y="1709436"/>
            <a:ext cx="916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Декомпозицией называют разделение задачи на отдельные небольшие шаги — подзадачи</a:t>
            </a:r>
          </a:p>
        </p:txBody>
      </p:sp>
      <p:pic>
        <p:nvPicPr>
          <p:cNvPr id="1030" name="Picture 6" descr="Пример декомпозиции в общем виде">
            <a:extLst>
              <a:ext uri="{FF2B5EF4-FFF2-40B4-BE49-F238E27FC236}">
                <a16:creationId xmlns:a16="http://schemas.microsoft.com/office/drawing/2014/main" id="{4D8F03F6-1584-2748-8927-148F82DBC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1" y="2785360"/>
            <a:ext cx="7153275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350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Декомпозиция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7A7CC98-0460-06A7-A7B8-8C98894F302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36" b="10435"/>
          <a:stretch/>
        </p:blipFill>
        <p:spPr>
          <a:xfrm>
            <a:off x="5168203" y="2924876"/>
            <a:ext cx="1855593" cy="1008247"/>
          </a:xfrm>
          <a:prstGeom prst="rect">
            <a:avLst/>
          </a:prstGeom>
          <a:noFill/>
        </p:spPr>
      </p:pic>
      <p:pic>
        <p:nvPicPr>
          <p:cNvPr id="2050" name="Picture 2" descr="Пример группировки задач">
            <a:extLst>
              <a:ext uri="{FF2B5EF4-FFF2-40B4-BE49-F238E27FC236}">
                <a16:creationId xmlns:a16="http://schemas.microsoft.com/office/drawing/2014/main" id="{9082292C-5BA1-88A8-D1AE-A9BD266D3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6" y="1690688"/>
            <a:ext cx="9344025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273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Подпрограмма</a:t>
            </a:r>
          </a:p>
        </p:txBody>
      </p:sp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4DDDDEC4-BC80-CFB4-0F99-7C1B13600154}"/>
              </a:ext>
            </a:extLst>
          </p:cNvPr>
          <p:cNvSpPr>
            <a:spLocks noChangeAspect="1"/>
          </p:cNvSpPr>
          <p:nvPr/>
        </p:nvSpPr>
        <p:spPr>
          <a:xfrm>
            <a:off x="1624007" y="2990249"/>
            <a:ext cx="2340000" cy="87750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/>
              <a:t>ВВОД</a:t>
            </a: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717D9C60-4864-DE92-DA10-2077F8E499B2}"/>
              </a:ext>
            </a:extLst>
          </p:cNvPr>
          <p:cNvSpPr>
            <a:spLocks noChangeAspect="1"/>
          </p:cNvSpPr>
          <p:nvPr/>
        </p:nvSpPr>
        <p:spPr>
          <a:xfrm>
            <a:off x="8227993" y="2924876"/>
            <a:ext cx="2340000" cy="87750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ВЫВОД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58C1DFE-7446-5364-E554-2C0E1D20BB5E}"/>
              </a:ext>
            </a:extLst>
          </p:cNvPr>
          <p:cNvSpPr/>
          <p:nvPr/>
        </p:nvSpPr>
        <p:spPr>
          <a:xfrm>
            <a:off x="4526054" y="2575960"/>
            <a:ext cx="3139892" cy="1706078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7A7CC98-0460-06A7-A7B8-8C98894F302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36" b="10435"/>
          <a:stretch/>
        </p:blipFill>
        <p:spPr>
          <a:xfrm>
            <a:off x="5168203" y="2924876"/>
            <a:ext cx="1855593" cy="10082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8327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0BE807EF-A563-1A3C-1FF4-FDE5452B3BD6}"/>
              </a:ext>
            </a:extLst>
          </p:cNvPr>
          <p:cNvSpPr/>
          <p:nvPr/>
        </p:nvSpPr>
        <p:spPr>
          <a:xfrm>
            <a:off x="3811604" y="2269155"/>
            <a:ext cx="4572000" cy="2319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Программа</a:t>
            </a: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07680766-9989-5A2B-6476-1BB2253F1676}"/>
              </a:ext>
            </a:extLst>
          </p:cNvPr>
          <p:cNvGrpSpPr/>
          <p:nvPr/>
        </p:nvGrpSpPr>
        <p:grpSpPr>
          <a:xfrm>
            <a:off x="3960673" y="3156979"/>
            <a:ext cx="1621978" cy="544046"/>
            <a:chOff x="4526054" y="2575960"/>
            <a:chExt cx="5086375" cy="1706078"/>
          </a:xfrm>
        </p:grpSpPr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3449D141-2D59-C254-3D2B-C9332A1C5DA8}"/>
                </a:ext>
              </a:extLst>
            </p:cNvPr>
            <p:cNvSpPr/>
            <p:nvPr/>
          </p:nvSpPr>
          <p:spPr>
            <a:xfrm>
              <a:off x="4526054" y="2575960"/>
              <a:ext cx="3139892" cy="1706078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A0C13224-ED45-8E16-6A80-A1011EE2EF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436" b="10435"/>
            <a:stretch/>
          </p:blipFill>
          <p:spPr>
            <a:xfrm>
              <a:off x="5168203" y="2924876"/>
              <a:ext cx="1855593" cy="1008247"/>
            </a:xfrm>
            <a:prstGeom prst="rect">
              <a:avLst/>
            </a:prstGeom>
            <a:noFill/>
          </p:spPr>
        </p:pic>
        <p:sp>
          <p:nvSpPr>
            <p:cNvPr id="24" name="Стрелка: вправо 23">
              <a:extLst>
                <a:ext uri="{FF2B5EF4-FFF2-40B4-BE49-F238E27FC236}">
                  <a16:creationId xmlns:a16="http://schemas.microsoft.com/office/drawing/2014/main" id="{0B5D2596-248F-7942-4EAE-8706FDF4A1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7105" y="2990249"/>
              <a:ext cx="1875324" cy="87750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b="1" dirty="0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B9D85DB-B636-2818-9AA2-824465306650}"/>
              </a:ext>
            </a:extLst>
          </p:cNvPr>
          <p:cNvGrpSpPr/>
          <p:nvPr/>
        </p:nvGrpSpPr>
        <p:grpSpPr>
          <a:xfrm>
            <a:off x="4984635" y="3156979"/>
            <a:ext cx="2242686" cy="544046"/>
            <a:chOff x="2579571" y="2575960"/>
            <a:chExt cx="7032858" cy="1706078"/>
          </a:xfrm>
        </p:grpSpPr>
        <p:sp>
          <p:nvSpPr>
            <p:cNvPr id="27" name="Стрелка: вправо 26">
              <a:extLst>
                <a:ext uri="{FF2B5EF4-FFF2-40B4-BE49-F238E27FC236}">
                  <a16:creationId xmlns:a16="http://schemas.microsoft.com/office/drawing/2014/main" id="{8D53A41A-900A-0136-1455-2810FE7218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79571" y="2990249"/>
              <a:ext cx="1875324" cy="87750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b="1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6E8CD22-8CC7-7CEF-F14D-1A9951ADC097}"/>
                </a:ext>
              </a:extLst>
            </p:cNvPr>
            <p:cNvSpPr/>
            <p:nvPr/>
          </p:nvSpPr>
          <p:spPr>
            <a:xfrm>
              <a:off x="4526054" y="2575960"/>
              <a:ext cx="3139892" cy="1706078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5A896066-BBE1-1AA3-4A2F-767C1A8B5E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436" b="10435"/>
            <a:stretch/>
          </p:blipFill>
          <p:spPr>
            <a:xfrm>
              <a:off x="5168203" y="2924876"/>
              <a:ext cx="1855593" cy="1008247"/>
            </a:xfrm>
            <a:prstGeom prst="rect">
              <a:avLst/>
            </a:prstGeom>
            <a:noFill/>
          </p:spPr>
        </p:pic>
        <p:sp>
          <p:nvSpPr>
            <p:cNvPr id="30" name="Стрелка: вправо 29">
              <a:extLst>
                <a:ext uri="{FF2B5EF4-FFF2-40B4-BE49-F238E27FC236}">
                  <a16:creationId xmlns:a16="http://schemas.microsoft.com/office/drawing/2014/main" id="{C9896EFB-30C8-AEC3-3541-40E6ADD5DE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7105" y="2990249"/>
              <a:ext cx="1875324" cy="87750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b="1" dirty="0"/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F967935A-8456-EF1B-6174-C7926157D712}"/>
              </a:ext>
            </a:extLst>
          </p:cNvPr>
          <p:cNvGrpSpPr/>
          <p:nvPr/>
        </p:nvGrpSpPr>
        <p:grpSpPr>
          <a:xfrm>
            <a:off x="6629305" y="3156979"/>
            <a:ext cx="1621978" cy="544046"/>
            <a:chOff x="2579571" y="2575960"/>
            <a:chExt cx="5086375" cy="1706078"/>
          </a:xfrm>
        </p:grpSpPr>
        <p:sp>
          <p:nvSpPr>
            <p:cNvPr id="32" name="Стрелка: вправо 31">
              <a:extLst>
                <a:ext uri="{FF2B5EF4-FFF2-40B4-BE49-F238E27FC236}">
                  <a16:creationId xmlns:a16="http://schemas.microsoft.com/office/drawing/2014/main" id="{C1992CF8-2B0B-95CE-99A9-A1DCFE5011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79571" y="2990249"/>
              <a:ext cx="1875324" cy="87750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b="1" dirty="0"/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344A6944-D4D7-4EF6-8ED4-5168B75472FF}"/>
                </a:ext>
              </a:extLst>
            </p:cNvPr>
            <p:cNvSpPr/>
            <p:nvPr/>
          </p:nvSpPr>
          <p:spPr>
            <a:xfrm>
              <a:off x="4526054" y="2575960"/>
              <a:ext cx="3139892" cy="1706078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84D62BCE-7B20-9BFD-C6A6-FCF51C850B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436" b="10435"/>
            <a:stretch/>
          </p:blipFill>
          <p:spPr>
            <a:xfrm>
              <a:off x="5168203" y="2924876"/>
              <a:ext cx="1855593" cy="1008247"/>
            </a:xfrm>
            <a:prstGeom prst="rect">
              <a:avLst/>
            </a:prstGeom>
            <a:noFill/>
          </p:spPr>
        </p:pic>
      </p:grpSp>
      <p:sp>
        <p:nvSpPr>
          <p:cNvPr id="42" name="Стрелка: вправо 41">
            <a:extLst>
              <a:ext uri="{FF2B5EF4-FFF2-40B4-BE49-F238E27FC236}">
                <a16:creationId xmlns:a16="http://schemas.microsoft.com/office/drawing/2014/main" id="{B643CA84-0314-2C6D-6606-D3EFD4AF8FF2}"/>
              </a:ext>
            </a:extLst>
          </p:cNvPr>
          <p:cNvSpPr>
            <a:spLocks noChangeAspect="1"/>
          </p:cNvSpPr>
          <p:nvPr/>
        </p:nvSpPr>
        <p:spPr>
          <a:xfrm>
            <a:off x="1266831" y="2990247"/>
            <a:ext cx="2340000" cy="87750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/>
              <a:t>ВВОД</a:t>
            </a:r>
          </a:p>
        </p:txBody>
      </p:sp>
      <p:sp>
        <p:nvSpPr>
          <p:cNvPr id="43" name="Стрелка: вправо 42">
            <a:extLst>
              <a:ext uri="{FF2B5EF4-FFF2-40B4-BE49-F238E27FC236}">
                <a16:creationId xmlns:a16="http://schemas.microsoft.com/office/drawing/2014/main" id="{C8244299-8965-2F8D-F484-58956B589959}"/>
              </a:ext>
            </a:extLst>
          </p:cNvPr>
          <p:cNvSpPr>
            <a:spLocks noChangeAspect="1"/>
          </p:cNvSpPr>
          <p:nvPr/>
        </p:nvSpPr>
        <p:spPr>
          <a:xfrm>
            <a:off x="8588377" y="2990247"/>
            <a:ext cx="2340000" cy="87750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1044807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Код побольше + декомпозиция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7" y="1578544"/>
            <a:ext cx="10414232" cy="460804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2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2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readNumbersFromTerminal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calculateAverage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Среднее значение: 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0065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Код побольше + декомпозиция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7" y="1578544"/>
            <a:ext cx="10414232" cy="460804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2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2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readNumbersFromTerminal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calculateAverage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Среднее значение: 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BEBF8FB-4A32-B251-94CA-962DF18BF1DC}"/>
              </a:ext>
            </a:extLst>
          </p:cNvPr>
          <p:cNvSpPr/>
          <p:nvPr/>
        </p:nvSpPr>
        <p:spPr>
          <a:xfrm>
            <a:off x="6642592" y="1692999"/>
            <a:ext cx="5264094" cy="2937698"/>
          </a:xfrm>
          <a:prstGeom prst="roundRect">
            <a:avLst>
              <a:gd name="adj" fmla="val 2616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readNumbersFromTerminal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Введите числа (введите '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stop' </a:t>
            </a:r>
            <a:r>
              <a:rPr lang="ru-RU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для завершения ввода):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             </a:t>
            </a:r>
            <a:r>
              <a:rPr lang="ru-RU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"&gt;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"stop"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37227B9-00DC-A734-C553-CC999FB9B0FE}"/>
              </a:ext>
            </a:extLst>
          </p:cNvPr>
          <p:cNvCxnSpPr>
            <a:cxnSpLocks/>
          </p:cNvCxnSpPr>
          <p:nvPr/>
        </p:nvCxnSpPr>
        <p:spPr>
          <a:xfrm>
            <a:off x="5895975" y="3148581"/>
            <a:ext cx="584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205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Код побольше + декомпозиция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7" y="1578544"/>
            <a:ext cx="10414232" cy="460804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2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2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readNumbersFromTerminal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calculateAverage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Среднее значение: 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0EF7EA21-1F00-F2A5-DF64-30F2C9BDADB5}"/>
              </a:ext>
            </a:extLst>
          </p:cNvPr>
          <p:cNvCxnSpPr>
            <a:cxnSpLocks/>
          </p:cNvCxnSpPr>
          <p:nvPr/>
        </p:nvCxnSpPr>
        <p:spPr>
          <a:xfrm>
            <a:off x="5141061" y="3348291"/>
            <a:ext cx="1368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6DB277F-5D21-797F-09A2-F259906EE33D}"/>
              </a:ext>
            </a:extLst>
          </p:cNvPr>
          <p:cNvSpPr/>
          <p:nvPr/>
        </p:nvSpPr>
        <p:spPr>
          <a:xfrm>
            <a:off x="6642592" y="2685509"/>
            <a:ext cx="5264094" cy="1325563"/>
          </a:xfrm>
          <a:prstGeom prst="roundRect">
            <a:avLst>
              <a:gd name="adj" fmla="val 261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calculateAverage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8203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Плюсы разделения на подпрограммы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2000" dirty="0"/>
              <a:t>Уменьшение сложности: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1600" dirty="0"/>
              <a:t>Структура основной программы стала проще для понимания</a:t>
            </a:r>
            <a:r>
              <a:rPr lang="en-US" sz="1600" dirty="0"/>
              <a:t>;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1600" dirty="0"/>
              <a:t>Каждая отдельная подпрограмма</a:t>
            </a:r>
            <a:r>
              <a:rPr lang="en-US" sz="1600" dirty="0"/>
              <a:t> </a:t>
            </a:r>
            <a:r>
              <a:rPr lang="ru-RU" sz="1600" dirty="0"/>
              <a:t>тоже обладает небольшой сложностью</a:t>
            </a:r>
            <a:r>
              <a:rPr lang="en-US" sz="1600" dirty="0"/>
              <a:t>;</a:t>
            </a:r>
            <a:endParaRPr lang="ru-RU" sz="1600" dirty="0"/>
          </a:p>
          <a:p>
            <a:pPr lvl="1">
              <a:lnSpc>
                <a:spcPct val="15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1600" dirty="0"/>
              <a:t>Разработка происходит небольшими, законченными этапами</a:t>
            </a:r>
            <a:r>
              <a:rPr lang="en-US" sz="1600" dirty="0"/>
              <a:t>;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1600" dirty="0"/>
              <a:t>Проще покрыть текстами.</a:t>
            </a:r>
          </a:p>
          <a:p>
            <a:pPr>
              <a:lnSpc>
                <a:spcPct val="15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2000" dirty="0"/>
              <a:t>Повторное использование</a:t>
            </a:r>
            <a:r>
              <a:rPr lang="en-US" sz="2000" dirty="0"/>
              <a:t>;</a:t>
            </a:r>
          </a:p>
          <a:p>
            <a:pPr>
              <a:lnSpc>
                <a:spcPct val="15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2000" dirty="0"/>
              <a:t>Совместная работа над решением.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endParaRPr lang="en-US" sz="2000" dirty="0"/>
          </a:p>
          <a:p>
            <a:pPr lvl="1">
              <a:lnSpc>
                <a:spcPct val="15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endParaRPr lang="ru-RU" sz="2000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AF848FA-28D8-773F-6039-C325B4E95D21}"/>
              </a:ext>
            </a:extLst>
          </p:cNvPr>
          <p:cNvSpPr/>
          <p:nvPr/>
        </p:nvSpPr>
        <p:spPr>
          <a:xfrm>
            <a:off x="7016691" y="5008227"/>
            <a:ext cx="4417503" cy="11687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solidFill>
                  <a:schemeClr val="tx1"/>
                </a:solidFill>
              </a:rPr>
              <a:t>Магическое число семь плюс-минус два («кошелёк Миллера») — закономерность, обнаруженная американским учёным-психологом Джорджем Миллером, согласно которой кратковременная человеческая память, как правило, не может запомнить и повторить более 7 ± 2 элементов.</a:t>
            </a:r>
          </a:p>
        </p:txBody>
      </p:sp>
    </p:spTree>
    <p:extLst>
      <p:ext uri="{BB962C8B-B14F-4D97-AF65-F5344CB8AC3E}">
        <p14:creationId xmlns:p14="http://schemas.microsoft.com/office/powerpoint/2010/main" val="3349864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chemeClr val="tx1"/>
                </a:solidFill>
              </a:rPr>
              <a:t>Кошелёк Миллера</a:t>
            </a:r>
            <a:endParaRPr lang="ru-RU" sz="4000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AF5A4FC5-1B72-453E-BE9A-C10D373D4932}"/>
              </a:ext>
            </a:extLst>
          </p:cNvPr>
          <p:cNvSpPr/>
          <p:nvPr/>
        </p:nvSpPr>
        <p:spPr>
          <a:xfrm>
            <a:off x="5867400" y="3200400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6217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chemeClr val="tx1"/>
                </a:solidFill>
              </a:rPr>
              <a:t>Кошелёк Миллера</a:t>
            </a:r>
            <a:endParaRPr lang="ru-RU" sz="4000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4183093A-B801-4965-9591-A9E59205E4F4}"/>
              </a:ext>
            </a:extLst>
          </p:cNvPr>
          <p:cNvSpPr/>
          <p:nvPr/>
        </p:nvSpPr>
        <p:spPr>
          <a:xfrm>
            <a:off x="4660604" y="3200400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BD65C3DE-EEAD-44F1-9748-3213000B8E8C}"/>
              </a:ext>
            </a:extLst>
          </p:cNvPr>
          <p:cNvSpPr/>
          <p:nvPr/>
        </p:nvSpPr>
        <p:spPr>
          <a:xfrm>
            <a:off x="5872716" y="4428461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04860433-2479-4A60-8944-DDB547FA2D14}"/>
              </a:ext>
            </a:extLst>
          </p:cNvPr>
          <p:cNvSpPr/>
          <p:nvPr/>
        </p:nvSpPr>
        <p:spPr>
          <a:xfrm>
            <a:off x="5186916" y="2514600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A42CCF2B-9088-4347-9F45-F64BBEB49A2A}"/>
              </a:ext>
            </a:extLst>
          </p:cNvPr>
          <p:cNvSpPr/>
          <p:nvPr/>
        </p:nvSpPr>
        <p:spPr>
          <a:xfrm>
            <a:off x="6638262" y="3906608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AA28A658-40C6-4728-B048-C46D5500CD8F}"/>
              </a:ext>
            </a:extLst>
          </p:cNvPr>
          <p:cNvSpPr/>
          <p:nvPr/>
        </p:nvSpPr>
        <p:spPr>
          <a:xfrm rot="10957093">
            <a:off x="6265648" y="3043569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349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chemeClr val="tx1"/>
                </a:solidFill>
              </a:rPr>
              <a:t>Кошелёк Миллера</a:t>
            </a:r>
            <a:endParaRPr lang="ru-RU" sz="4000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AF5A4FC5-1B72-453E-BE9A-C10D373D4932}"/>
              </a:ext>
            </a:extLst>
          </p:cNvPr>
          <p:cNvSpPr/>
          <p:nvPr/>
        </p:nvSpPr>
        <p:spPr>
          <a:xfrm>
            <a:off x="7095462" y="3200400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2AECC137-3AC0-4179-8E37-BCF1FEFFC938}"/>
              </a:ext>
            </a:extLst>
          </p:cNvPr>
          <p:cNvSpPr/>
          <p:nvPr/>
        </p:nvSpPr>
        <p:spPr>
          <a:xfrm>
            <a:off x="4660604" y="3200400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37266C4-2DB2-411C-85AD-CEACFB1F628D}"/>
              </a:ext>
            </a:extLst>
          </p:cNvPr>
          <p:cNvSpPr/>
          <p:nvPr/>
        </p:nvSpPr>
        <p:spPr>
          <a:xfrm>
            <a:off x="6574322" y="2514599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A8C0D1D-EE52-409A-9EAB-DC8DAF455EE7}"/>
              </a:ext>
            </a:extLst>
          </p:cNvPr>
          <p:cNvSpPr/>
          <p:nvPr/>
        </p:nvSpPr>
        <p:spPr>
          <a:xfrm>
            <a:off x="5872716" y="2011327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0163995-4899-4E6D-934F-76A9D81C02FE}"/>
              </a:ext>
            </a:extLst>
          </p:cNvPr>
          <p:cNvSpPr/>
          <p:nvPr/>
        </p:nvSpPr>
        <p:spPr>
          <a:xfrm>
            <a:off x="5872716" y="4428461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4E783DC3-7929-4F11-8888-88620593F0A9}"/>
              </a:ext>
            </a:extLst>
          </p:cNvPr>
          <p:cNvSpPr/>
          <p:nvPr/>
        </p:nvSpPr>
        <p:spPr>
          <a:xfrm>
            <a:off x="5169195" y="3876914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8A254A3-A811-479D-922F-E2A65A6977EB}"/>
              </a:ext>
            </a:extLst>
          </p:cNvPr>
          <p:cNvSpPr/>
          <p:nvPr/>
        </p:nvSpPr>
        <p:spPr>
          <a:xfrm>
            <a:off x="5186916" y="2514600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78063280-9C1E-43F8-8C82-50ED5B062B37}"/>
              </a:ext>
            </a:extLst>
          </p:cNvPr>
          <p:cNvSpPr/>
          <p:nvPr/>
        </p:nvSpPr>
        <p:spPr>
          <a:xfrm>
            <a:off x="6638262" y="3906608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F8F008A-9A0E-4888-A454-A6404B766191}"/>
              </a:ext>
            </a:extLst>
          </p:cNvPr>
          <p:cNvSpPr/>
          <p:nvPr/>
        </p:nvSpPr>
        <p:spPr>
          <a:xfrm rot="10957093">
            <a:off x="6265648" y="3043569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24678244-C5B4-42D7-9A04-BBA194E5E1E6}"/>
              </a:ext>
            </a:extLst>
          </p:cNvPr>
          <p:cNvSpPr/>
          <p:nvPr/>
        </p:nvSpPr>
        <p:spPr>
          <a:xfrm rot="10957093">
            <a:off x="5946763" y="3667804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726774EB-D13B-4DBF-8843-E4F7A206C2BC}"/>
              </a:ext>
            </a:extLst>
          </p:cNvPr>
          <p:cNvSpPr/>
          <p:nvPr/>
        </p:nvSpPr>
        <p:spPr>
          <a:xfrm rot="10957093">
            <a:off x="5469154" y="3089644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501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ACC7D-81A1-375B-507C-D808EEE4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Виды подпрограмм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25EA12-ED55-A170-5F99-4C8E62B45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7664" cy="4351338"/>
          </a:xfrm>
        </p:spPr>
        <p:txBody>
          <a:bodyPr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ru-RU" sz="2000" b="0" i="0" u="none" strike="noStrike" dirty="0">
              <a:solidFill>
                <a:srgbClr val="0645AD"/>
              </a:solidFill>
              <a:effectLst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b="0" i="0" u="none" strike="noStrike" dirty="0">
                <a:solidFill>
                  <a:srgbClr val="0645AD"/>
                </a:solidFill>
                <a:effectLst/>
              </a:rPr>
              <a:t>Функция</a:t>
            </a:r>
            <a:r>
              <a:rPr lang="ru-RU" sz="2000" b="0" i="0" dirty="0">
                <a:solidFill>
                  <a:srgbClr val="202122"/>
                </a:solidFill>
                <a:effectLst/>
              </a:rPr>
              <a:t> — это подпрограмма которая выполняет указанную последовательность действий и возвращает результат. Вызов функции может использоваться в других выражениях или в качестве правой части присваивания.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ru-RU" sz="2000" b="0" i="0" dirty="0">
              <a:solidFill>
                <a:srgbClr val="202122"/>
              </a:solidFill>
              <a:effectLst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ru-RU" sz="2000" b="0" i="0" dirty="0">
              <a:solidFill>
                <a:srgbClr val="202122"/>
              </a:solidFill>
              <a:effectLst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ru-RU" sz="2000" b="0" i="0" dirty="0">
              <a:solidFill>
                <a:srgbClr val="202122"/>
              </a:solidFill>
              <a:effectLst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645AD"/>
                </a:solidFill>
              </a:rPr>
              <a:t>Процедура</a:t>
            </a:r>
            <a:r>
              <a:rPr lang="ru-RU" sz="2000" b="0" i="0" dirty="0">
                <a:solidFill>
                  <a:srgbClr val="202122"/>
                </a:solidFill>
                <a:effectLst/>
              </a:rPr>
              <a:t> — это подпрограмма которая выполняет указанную последовательность действий и НЕ возвращает результат. Вызов процедуры нельзя использовать в выражениях или в качестве правой части присваивания.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67424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CB4F-FA15-C8FB-E36F-E6419A846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26C66-3F3C-2152-D013-343F609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000000"/>
                </a:solidFill>
              </a:rPr>
              <a:t>Сложный код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60E83D-5D30-4AC8-F729-757341E47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1960" y="1958315"/>
            <a:ext cx="688119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Сложный код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Многа</a:t>
            </a:r>
            <a:r>
              <a:rPr lang="ru-RU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букав</a:t>
            </a:r>
            <a:r>
              <a:rPr lang="ru-RU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..."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Простой код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8274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Используем подпрограммы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610" y="2609385"/>
            <a:ext cx="10181063" cy="35675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r>
              <a:rPr lang="ru-RU" sz="2000" dirty="0"/>
              <a:t>Нужно выполнить 2 действия: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1600" dirty="0"/>
              <a:t>Объявить и определить функцию. В С++ процедуры не выделяют в отдельный тип подпрограмм, а тоже называют функциями. Чтобы в С++ создать функцию соответствующую определению процедуры, необходимо указать тип возвращаемого значения </a:t>
            </a:r>
            <a:r>
              <a:rPr lang="en-US" sz="1600" dirty="0">
                <a:latin typeface="Consolas" panose="020B0609020204030204" pitchFamily="49" charset="0"/>
              </a:rPr>
              <a:t>void</a:t>
            </a:r>
            <a:r>
              <a:rPr lang="en-US" sz="1600" dirty="0"/>
              <a:t> (</a:t>
            </a:r>
            <a:r>
              <a:rPr lang="ru-RU" sz="1600" dirty="0"/>
              <a:t>ничто</a:t>
            </a:r>
            <a:r>
              <a:rPr lang="en-US" sz="1600" dirty="0"/>
              <a:t>);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1600" dirty="0"/>
              <a:t>Вызвать функцию.</a:t>
            </a:r>
            <a:endParaRPr lang="en-US" sz="2000" dirty="0"/>
          </a:p>
          <a:p>
            <a:pPr lvl="1">
              <a:lnSpc>
                <a:spcPct val="15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39734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CB4F-FA15-C8FB-E36F-E6419A846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26C66-3F3C-2152-D013-343F609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000000"/>
                </a:solidFill>
              </a:rPr>
              <a:t>Простой код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60E83D-5D30-4AC8-F729-757341E47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9656" y="1958315"/>
            <a:ext cx="688119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Объявляем и определяем функцию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print_words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Многа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букав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..."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print_words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Вызываем функцию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721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Объявление  (англ. </a:t>
            </a:r>
            <a:r>
              <a:rPr lang="en-US" sz="4000" dirty="0"/>
              <a:t>declaration)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r>
              <a:rPr lang="ru-RU" sz="2000" dirty="0"/>
              <a:t>Объявление создаёт идентификатор и связывает его </a:t>
            </a:r>
            <a:r>
              <a:rPr lang="ru-RU" sz="2000" b="1" dirty="0"/>
              <a:t>с типом </a:t>
            </a:r>
            <a:r>
              <a:rPr lang="ru-RU" sz="2000" dirty="0"/>
              <a:t>некоторой программной сущности (переменной, функцией, типом, и т.д.).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r>
              <a:rPr lang="ru-RU" sz="2000" dirty="0"/>
              <a:t>Объявление используется, чтобы уведомить компилятор о существовании программной сущности </a:t>
            </a:r>
            <a:r>
              <a:rPr lang="ru-RU" sz="2000" b="1" dirty="0"/>
              <a:t>без её создания</a:t>
            </a:r>
            <a:r>
              <a:rPr lang="ru-RU" sz="2000" dirty="0"/>
              <a:t>, т.к. по не некоторым причинам она создаётся в другом месте.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Такие объявления обычно предшествуют определениям, поэтому их называют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forward declarations.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2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Объявление  (англ. </a:t>
            </a:r>
            <a:r>
              <a:rPr lang="en-US" sz="4000" dirty="0"/>
              <a:t>declaration)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900"/>
            <a:ext cx="105156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dirty="0">
                <a:solidFill>
                  <a:srgbClr val="2E2F30"/>
                </a:solidFill>
                <a:latin typeface="Inter"/>
              </a:rPr>
              <a:t>1. Объявление переменной типа </a:t>
            </a:r>
            <a:r>
              <a:rPr lang="ru-RU" altLang="ru-RU" sz="1800" dirty="0" err="1">
                <a:solidFill>
                  <a:srgbClr val="2E2F30"/>
                </a:solidFill>
                <a:latin typeface="Inter"/>
              </a:rPr>
              <a:t>int</a:t>
            </a:r>
            <a:r>
              <a:rPr lang="ru-RU" altLang="ru-RU" sz="1800" dirty="0">
                <a:solidFill>
                  <a:srgbClr val="2E2F30"/>
                </a:solidFill>
                <a:latin typeface="Inter"/>
              </a:rPr>
              <a:t> из другого файла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dirty="0">
                <a:solidFill>
                  <a:srgbClr val="2E2F30"/>
                </a:solidFill>
                <a:latin typeface="Inter"/>
              </a:rPr>
              <a:t>2. Объявление функции: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dirty="0">
                <a:solidFill>
                  <a:srgbClr val="2E2F30"/>
                </a:solidFill>
                <a:latin typeface="Inter"/>
              </a:rPr>
              <a:t>3. Объявление класса: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dirty="0">
                <a:solidFill>
                  <a:srgbClr val="2E2F30"/>
                </a:solidFill>
                <a:latin typeface="Inter"/>
              </a:rPr>
              <a:t>4. Объявление шаблона функции: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dirty="0">
                <a:solidFill>
                  <a:srgbClr val="2E2F30"/>
                </a:solidFill>
                <a:latin typeface="Inter"/>
              </a:rPr>
              <a:t>5. Объявление перечисления: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dirty="0">
                <a:solidFill>
                  <a:srgbClr val="2E2F30"/>
                </a:solidFill>
                <a:latin typeface="Inter"/>
              </a:rPr>
              <a:t>6. Объявление пространства имён: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MyNamespace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dirty="0">
                <a:solidFill>
                  <a:srgbClr val="2E2F30"/>
                </a:solidFill>
                <a:latin typeface="Inter"/>
              </a:rPr>
              <a:t>7. Объявление шаблона класса: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MyTemplateClass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07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Определение (англ. </a:t>
            </a:r>
            <a:r>
              <a:rPr lang="en-US" sz="4000" dirty="0"/>
              <a:t>definition)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277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r>
              <a:rPr lang="ru-RU" sz="2000" dirty="0"/>
              <a:t>Определение создаёт идентификатор, программную сущность и устанавливает связь между ними.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r>
              <a:rPr lang="ru-RU" sz="2000" dirty="0"/>
              <a:t>Во время определения </a:t>
            </a:r>
            <a:r>
              <a:rPr lang="ru-RU" sz="2000" b="1" dirty="0"/>
              <a:t>создаётся</a:t>
            </a:r>
            <a:r>
              <a:rPr lang="ru-RU" sz="2000" dirty="0"/>
              <a:t> переменная, функция, класс, и т.д., а также описывается их свойства и поведение.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r>
              <a:rPr lang="ru-RU" sz="2000" dirty="0"/>
              <a:t>Определение включаем в себя объявление и создание сущности.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r>
              <a:rPr lang="ru-RU" sz="2000" dirty="0"/>
              <a:t>В сленге часто используют слово "объявление" даже в тех случаях когда код - это "определение".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endParaRPr lang="ru-RU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457200" algn="l"/>
              </a:tabLst>
            </a:pPr>
            <a:endParaRPr lang="ru-RU" sz="1600" dirty="0"/>
          </a:p>
          <a:p>
            <a:pPr marL="0" indent="0"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идентификатор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personName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–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переменная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идентификатор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</a:t>
            </a:r>
            <a:endParaRPr lang="en-US" sz="1600" b="0" dirty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}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идентификатор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main –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606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Определение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Прежде чем функцией можно будет пользоваться её нужно определить в коде. Функция не может быть определена внутри другой функции, только глобально.</a:t>
            </a:r>
          </a:p>
          <a:p>
            <a:pPr marL="0" indent="0">
              <a:buNone/>
            </a:pPr>
            <a:r>
              <a:rPr lang="ru-RU" sz="2000" dirty="0"/>
              <a:t>Общая структура определения:</a:t>
            </a:r>
            <a:endParaRPr lang="en-US" sz="2000" dirty="0"/>
          </a:p>
          <a:p>
            <a:pPr marL="0" indent="0">
              <a:buNone/>
            </a:pPr>
            <a:endParaRPr lang="ru-RU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тип_результата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идентификатор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_функции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список_параметров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выполняемые_операторы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4C4C935-D603-4065-B1FE-F5FAFB17EF80}"/>
              </a:ext>
            </a:extLst>
          </p:cNvPr>
          <p:cNvCxnSpPr/>
          <p:nvPr/>
        </p:nvCxnSpPr>
        <p:spPr>
          <a:xfrm>
            <a:off x="7477125" y="3028950"/>
            <a:ext cx="419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A781F71-EC74-9520-6538-5F071D4331C3}"/>
              </a:ext>
            </a:extLst>
          </p:cNvPr>
          <p:cNvCxnSpPr>
            <a:cxnSpLocks/>
          </p:cNvCxnSpPr>
          <p:nvPr/>
        </p:nvCxnSpPr>
        <p:spPr>
          <a:xfrm>
            <a:off x="1143000" y="4010025"/>
            <a:ext cx="67532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05D3B20-9AAC-BA0D-D03B-15054449959D}"/>
              </a:ext>
            </a:extLst>
          </p:cNvPr>
          <p:cNvCxnSpPr/>
          <p:nvPr/>
        </p:nvCxnSpPr>
        <p:spPr>
          <a:xfrm>
            <a:off x="7896225" y="3028950"/>
            <a:ext cx="0" cy="9810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B0974A3-0520-D028-7A72-7674F41DD826}"/>
              </a:ext>
            </a:extLst>
          </p:cNvPr>
          <p:cNvSpPr txBox="1"/>
          <p:nvPr/>
        </p:nvSpPr>
        <p:spPr>
          <a:xfrm>
            <a:off x="8002035" y="3334821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nsolas" panose="020B0609020204030204" pitchFamily="49" charset="0"/>
              </a:rPr>
              <a:t>Тело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866686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Прототип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Прототип функции – это часть определения с точкой с запятой вместо тела функции. Прототип – это объявление функции без её определения. Используется, чтобы добавить идентификатор в область видимости. Компилятор использует прототип, чтобы проверить правильность использования идентификатора в коде и сгенерировать правильный код, который в дальнейшем будет использовать линкер.</a:t>
            </a: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рототип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two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рототип</a:t>
            </a: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    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рототип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795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Прототип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7" y="1578544"/>
            <a:ext cx="10166584" cy="46080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Прототип функции может быть указан любое количество раз в коде. Прототип можно указывать не только на глобальном уровне, но и внутри функций, пространств имён, блоков и т.д.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прототип, чтобы компилятор знал о функции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min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&lt; b)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207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Сигнатура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Часть объявления функции которая используется компилятором для того, чтобы однозначно отличить одну функцию от другой. Функции с одинаковой сигнатурой с точки зрения компилятора не различимы и считаются переопределением.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Обычно в сигнатуру входит: название функции и типы параметров, но в зависимости от языка понятие сигнатуры может меняться.</a:t>
            </a:r>
            <a:endParaRPr lang="en-US" sz="2000" dirty="0"/>
          </a:p>
          <a:p>
            <a:pPr marL="0" indent="0">
              <a:buNone/>
            </a:pP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      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Тип возвращаемого значения не входит в сигнатуру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6254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Тип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64395"/>
            <a:ext cx="11068820" cy="493555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000000"/>
                </a:solidFill>
              </a:rPr>
              <a:t>Функции в </a:t>
            </a:r>
            <a:r>
              <a:rPr lang="en-US" sz="1800" dirty="0">
                <a:solidFill>
                  <a:srgbClr val="000000"/>
                </a:solidFill>
              </a:rPr>
              <a:t>C++ </a:t>
            </a:r>
            <a:r>
              <a:rPr lang="ru-RU" sz="1800" dirty="0">
                <a:solidFill>
                  <a:srgbClr val="000000"/>
                </a:solidFill>
              </a:rPr>
              <a:t>имеют определённый тип, так же как и переменные. Тип функции можно получить из прототипа функции если отбросить все идентификаторы указанные в нём: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b)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заголовок функции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функции</a:t>
            </a: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000000"/>
                </a:solidFill>
              </a:rPr>
              <a:t>Создать переменную или параметр функционального типа нельзя, но можно создать переменную или параметр типа указатель на функцию.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sv-S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v-S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sv-S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other_min</a:t>
            </a:r>
            <a:r>
              <a:rPr lang="sv-S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sv-S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v-S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v-S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v-S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sv-SE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sv-S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other_min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Результат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939566" y="5542976"/>
            <a:ext cx="2994259" cy="35254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AF26F5D-36A1-B7D4-088F-DC0146E967C3}"/>
              </a:ext>
            </a:extLst>
          </p:cNvPr>
          <p:cNvSpPr/>
          <p:nvPr/>
        </p:nvSpPr>
        <p:spPr>
          <a:xfrm>
            <a:off x="6744401" y="5142518"/>
            <a:ext cx="4923724" cy="135743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two_int_to_int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(*)(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two_int_to_int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other_min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hlinkClick r:id="rId2"/>
              </a:rPr>
              <a:t>https://youtu.be/PEIMSz3Er_8?si=AIPTD5d8ZlJgBq0Y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5691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Параметры функции (формальные параметры)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909534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Через параметры функция получает входные данные. С точки зрения функции, параметры это её локальные переменные. Параметры указываются в скобках после имени функции. Для каждого параметра указывается тип</a:t>
            </a:r>
            <a:r>
              <a:rPr lang="en-US" sz="2000" dirty="0"/>
              <a:t> </a:t>
            </a:r>
            <a:r>
              <a:rPr lang="ru-RU" sz="2000" dirty="0"/>
              <a:t>и имя (как для обычной переменной)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Параметры разделяются запятыми. У каждого параметра должен быть указан тип индивидуально.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 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544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Аргументы функции (фактически параметры)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909534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Аргументы функции – это конкретные значения или переменные, переданные функции к точке вызова.</a:t>
            </a:r>
          </a:p>
          <a:p>
            <a:pPr marL="0" indent="0">
              <a:buNone/>
            </a:pPr>
            <a:r>
              <a:rPr lang="ru-RU" sz="2000" dirty="0"/>
              <a:t>Аргументы передаются в функцию только по позиции (именованной передачи нет), т.е. первый аргумент будет советовать первому параметру функции, второй второму и т.д.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Вызов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b)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Вызов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237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0000"/>
                </a:solidFill>
              </a:rPr>
              <a:t>Произвольное число аргументов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909534" cy="460804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2000" dirty="0">
                <a:solidFill>
                  <a:srgbClr val="000000"/>
                </a:solidFill>
              </a:rPr>
              <a:t>В С++ произвольное число аргументов используется не часто, т.к. по историческим причинам эта возможно была довольно не безопасна и разработчики привыкли обходится без неё.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В последних стандартах языка ситуация стала лучше, но всё равно использовать механизм произвольного числа аргументов по прежнему не очень удобно.</a:t>
            </a:r>
            <a:endParaRPr lang="en-US" sz="2000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539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000000"/>
                </a:solidFill>
              </a:rPr>
              <a:t>Произвольное число аргументов</a:t>
            </a:r>
            <a:r>
              <a:rPr lang="en-US" sz="3600" dirty="0"/>
              <a:t>(</a:t>
            </a:r>
            <a:r>
              <a:rPr lang="ru-RU" sz="3600" dirty="0"/>
              <a:t>до С++11</a:t>
            </a:r>
            <a:r>
              <a:rPr lang="en-US" sz="3600" dirty="0"/>
              <a:t>)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cstdarg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va_list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va_start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va_end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simple_printf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...)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... называется эллипсис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va_list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va_start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!=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\0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va_arg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va_arg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va_end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simple_printf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dddd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simple_printf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"ss"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c_str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c_str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8276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000000"/>
                </a:solidFill>
              </a:rPr>
              <a:t>Произвольное число аргументов</a:t>
            </a:r>
            <a:r>
              <a:rPr lang="en-US" sz="3600" dirty="0"/>
              <a:t> (</a:t>
            </a:r>
            <a:r>
              <a:rPr lang="en-US" sz="3600" dirty="0" err="1"/>
              <a:t>initializer_list</a:t>
            </a:r>
            <a:r>
              <a:rPr lang="en-US" sz="3600" dirty="0"/>
              <a:t>)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initializer_list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initializer_list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list )   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::string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),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)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{str1, str2 } ) 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3298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000000"/>
                </a:solidFill>
              </a:rPr>
              <a:t>Произвольное число аргументов </a:t>
            </a:r>
            <a:r>
              <a:rPr lang="en-US" sz="3600" dirty="0"/>
              <a:t>(variadic templates)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en-US" sz="15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      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recursive variadic function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...) 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),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7784754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000000"/>
                </a:solidFill>
              </a:rPr>
              <a:t>Произвольное число аргументов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/>
              <a:t>(C++17)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...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1667446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Возвращаемые значения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В </a:t>
            </a:r>
            <a:r>
              <a:rPr lang="en-US" sz="2000" dirty="0">
                <a:solidFill>
                  <a:srgbClr val="000000"/>
                </a:solidFill>
              </a:rPr>
              <a:t>C++ </a:t>
            </a:r>
            <a:r>
              <a:rPr lang="ru-RU" sz="2000" dirty="0">
                <a:solidFill>
                  <a:srgbClr val="000000"/>
                </a:solidFill>
              </a:rPr>
              <a:t>ф</a:t>
            </a:r>
            <a:r>
              <a:rPr lang="ru-RU" sz="2000" b="0" i="0" dirty="0">
                <a:solidFill>
                  <a:srgbClr val="000000"/>
                </a:solidFill>
                <a:effectLst/>
              </a:rPr>
              <a:t>ункции могут возвращать результат или не возвращать ничего.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Если функция не возвращает ничего, то в качестве типа указывается 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ru-RU" sz="2000" dirty="0">
                <a:solidFill>
                  <a:srgbClr val="000000"/>
                </a:solidFill>
              </a:rPr>
              <a:t>: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Если функция возвращает что-либо одно, то указывается тип возвращаемого значения: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Функция не может возвращать несколько значений одновременно. Чтобы это сделать нужно упаковать возвращаемые значения в кортеж или структуру и вернуть их.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4394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725" y="1295400"/>
            <a:ext cx="10515600" cy="4776788"/>
          </a:xfrm>
        </p:spPr>
        <p:txBody>
          <a:bodyPr>
            <a:norm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ru-RU" sz="1900" dirty="0"/>
              <a:t>В С++ есть альтернативный синтаксис записи возвращаемого значения.</a:t>
            </a:r>
            <a:endParaRPr lang="en-US" sz="19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ru-RU" sz="1900" dirty="0"/>
              <a:t>О</a:t>
            </a:r>
            <a:r>
              <a:rPr lang="ru-RU" sz="1900" b="0" i="0" dirty="0">
                <a:solidFill>
                  <a:srgbClr val="000000"/>
                </a:solidFill>
                <a:effectLst/>
              </a:rPr>
              <a:t>бъявление</a:t>
            </a:r>
            <a:r>
              <a:rPr lang="en-US" sz="1900" b="0" i="0" dirty="0">
                <a:solidFill>
                  <a:srgbClr val="000000"/>
                </a:solidFill>
                <a:effectLst/>
              </a:rPr>
              <a:t> (declaration)</a:t>
            </a:r>
            <a:r>
              <a:rPr lang="ru-RU" sz="190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900" b="0" i="0" dirty="0">
                <a:solidFill>
                  <a:srgbClr val="000000"/>
                </a:solidFill>
                <a:effectLst/>
              </a:rPr>
              <a:t>                                           C++11                                                           C++14</a:t>
            </a:r>
            <a:endParaRPr lang="en-US" sz="19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en-US" sz="19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en-US" sz="19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ru-RU" sz="1900" dirty="0"/>
              <a:t>О</a:t>
            </a:r>
            <a:r>
              <a:rPr lang="ru-RU" sz="1900" b="0" i="0" dirty="0">
                <a:solidFill>
                  <a:srgbClr val="000000"/>
                </a:solidFill>
                <a:effectLst/>
              </a:rPr>
              <a:t>пределение</a:t>
            </a:r>
            <a:r>
              <a:rPr lang="en-US" sz="1900" b="0" i="0" dirty="0">
                <a:solidFill>
                  <a:srgbClr val="000000"/>
                </a:solidFill>
                <a:effectLst/>
              </a:rPr>
              <a:t> (definition)</a:t>
            </a:r>
            <a:r>
              <a:rPr lang="ru-RU" sz="1900" b="0" i="0" dirty="0">
                <a:solidFill>
                  <a:srgbClr val="000000"/>
                </a:solidFill>
                <a:effectLst/>
              </a:rPr>
              <a:t>:</a:t>
            </a: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1900" dirty="0">
              <a:solidFill>
                <a:srgbClr val="000000"/>
              </a:solidFill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1900" dirty="0">
              <a:solidFill>
                <a:srgbClr val="000000"/>
              </a:solidFill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1900" dirty="0">
              <a:solidFill>
                <a:srgbClr val="000000"/>
              </a:solidFill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1800" dirty="0"/>
          </a:p>
        </p:txBody>
      </p:sp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DF8E22EA-3D7E-3177-B1E3-3062CDAD8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121082"/>
              </p:ext>
            </p:extLst>
          </p:nvPr>
        </p:nvGraphicFramePr>
        <p:xfrm>
          <a:off x="927100" y="2329391"/>
          <a:ext cx="10728000" cy="7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8597">
                  <a:extLst>
                    <a:ext uri="{9D8B030D-6E8A-4147-A177-3AD203B41FA5}">
                      <a16:colId xmlns:a16="http://schemas.microsoft.com/office/drawing/2014/main" val="4148166917"/>
                    </a:ext>
                  </a:extLst>
                </a:gridCol>
                <a:gridCol w="4141532">
                  <a:extLst>
                    <a:ext uri="{9D8B030D-6E8A-4147-A177-3AD203B41FA5}">
                      <a16:colId xmlns:a16="http://schemas.microsoft.com/office/drawing/2014/main" val="1835544185"/>
                    </a:ext>
                  </a:extLst>
                </a:gridCol>
                <a:gridCol w="3157871">
                  <a:extLst>
                    <a:ext uri="{9D8B030D-6E8A-4147-A177-3AD203B41FA5}">
                      <a16:colId xmlns:a16="http://schemas.microsoft.com/office/drawing/2014/main" val="2138176639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sum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auto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sum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-&gt; 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auto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sum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endParaRPr lang="ru-R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615083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F201197-C707-BDD2-2672-0BBBEBAD3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201840"/>
              </p:ext>
            </p:extLst>
          </p:nvPr>
        </p:nvGraphicFramePr>
        <p:xfrm>
          <a:off x="927100" y="3554834"/>
          <a:ext cx="10728000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6480">
                  <a:extLst>
                    <a:ext uri="{9D8B030D-6E8A-4147-A177-3AD203B41FA5}">
                      <a16:colId xmlns:a16="http://schemas.microsoft.com/office/drawing/2014/main" val="4148166917"/>
                    </a:ext>
                  </a:extLst>
                </a:gridCol>
                <a:gridCol w="4181708">
                  <a:extLst>
                    <a:ext uri="{9D8B030D-6E8A-4147-A177-3AD203B41FA5}">
                      <a16:colId xmlns:a16="http://schemas.microsoft.com/office/drawing/2014/main" val="1835544185"/>
                    </a:ext>
                  </a:extLst>
                </a:gridCol>
                <a:gridCol w="3079812">
                  <a:extLst>
                    <a:ext uri="{9D8B030D-6E8A-4147-A177-3AD203B41FA5}">
                      <a16:colId xmlns:a16="http://schemas.microsoft.com/office/drawing/2014/main" val="2614659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sum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result = a + b;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8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result;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auto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sum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-&gt; 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result = a + b;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8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result;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auto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sum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8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result = a + b;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18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result;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indent="0">
                        <a:buNone/>
                      </a:pPr>
                      <a:endParaRPr lang="en-US" sz="18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615083"/>
                  </a:ext>
                </a:extLst>
              </a:tr>
            </a:tbl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677E7D3-4A64-C29F-6652-EF734550B815}"/>
              </a:ext>
            </a:extLst>
          </p:cNvPr>
          <p:cNvSpPr txBox="1">
            <a:spLocks/>
          </p:cNvSpPr>
          <p:nvPr/>
        </p:nvSpPr>
        <p:spPr>
          <a:xfrm>
            <a:off x="838199" y="20696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Возвращаемые значения</a:t>
            </a:r>
          </a:p>
        </p:txBody>
      </p:sp>
    </p:spTree>
    <p:extLst>
      <p:ext uri="{BB962C8B-B14F-4D97-AF65-F5344CB8AC3E}">
        <p14:creationId xmlns:p14="http://schemas.microsoft.com/office/powerpoint/2010/main" val="19317020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return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В теле функции можно, но не обязательно, использовать оператор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без указания значения. Используется для досрочного выхода из функции.</a:t>
            </a:r>
            <a:endParaRPr lang="en-US" sz="2000" b="0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В теле функции обязательно использовать оператор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со значением совпадающим с типом возвращаемого значения указанного в заголовке или преобразуемым в него.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Для функции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ru-RU" sz="2000" dirty="0">
                <a:solidFill>
                  <a:srgbClr val="000000"/>
                </a:solidFill>
              </a:rPr>
              <a:t> сделано исключение, т.к. если не указать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ru-RU" sz="2000" dirty="0">
                <a:solidFill>
                  <a:srgbClr val="000000"/>
                </a:solidFill>
              </a:rPr>
              <a:t> функция просто сама вернёт 0.</a:t>
            </a:r>
            <a:endParaRPr lang="ru-RU" sz="16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Оператор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ru-RU" sz="2000" dirty="0">
                <a:solidFill>
                  <a:srgbClr val="000000"/>
                </a:solidFill>
              </a:rPr>
              <a:t>, в теле функции, можно использовать произвольное количество раз.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2416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Вызов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</a:rPr>
              <a:t>Вызов </a:t>
            </a:r>
            <a:r>
              <a:rPr lang="ru-RU" sz="2000" b="1" dirty="0">
                <a:solidFill>
                  <a:srgbClr val="000000"/>
                </a:solidFill>
              </a:rPr>
              <a:t>обычной </a:t>
            </a:r>
            <a:r>
              <a:rPr lang="ru-RU" sz="2000" dirty="0">
                <a:solidFill>
                  <a:srgbClr val="000000"/>
                </a:solidFill>
              </a:rPr>
              <a:t>функции возможен только в теле другой функции. Для этого нужно указать имя функции и в круглых скобках список аргументов, в том же количестве, в том же порядке и тех же типов, что и параметры в сигнатуре.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</a:rPr>
              <a:t>В качестве аргументов можно использовать как переменные, так и литералы (значения):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b);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one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three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(one, two)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Вызов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Вызов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247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Стек вызовов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При вызове функции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2000" b="1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исполнение функции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приостанавливается и ожидает завершения функции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. Функция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2000" b="0" dirty="0">
                <a:solidFill>
                  <a:srgbClr val="795E26"/>
                </a:solidFill>
                <a:effectLst/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вызывая функцию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2000" dirty="0">
                <a:solidFill>
                  <a:srgbClr val="000000"/>
                </a:solidFill>
              </a:rPr>
              <a:t> тоже приостанавливается и ожидает завершения функции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ru-RU" sz="2000" dirty="0">
                <a:solidFill>
                  <a:srgbClr val="000000"/>
                </a:solidFill>
              </a:rPr>
              <a:t>. Т.е. функции как бы складываются в стопку (стек) и в этой стопке исполняется только та функция которая лежит на вершине.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"two"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C2198CA-34C6-E63C-D023-C4B3258CC572}"/>
              </a:ext>
            </a:extLst>
          </p:cNvPr>
          <p:cNvSpPr/>
          <p:nvPr/>
        </p:nvSpPr>
        <p:spPr>
          <a:xfrm>
            <a:off x="5162549" y="5101087"/>
            <a:ext cx="1038225" cy="745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8B29C36-C4AF-8A0A-D978-5674E39DEB10}"/>
              </a:ext>
            </a:extLst>
          </p:cNvPr>
          <p:cNvSpPr/>
          <p:nvPr/>
        </p:nvSpPr>
        <p:spPr>
          <a:xfrm>
            <a:off x="6324599" y="5101087"/>
            <a:ext cx="1038225" cy="745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AD7D18-ED96-E84F-FCE7-705A44F766F5}"/>
              </a:ext>
            </a:extLst>
          </p:cNvPr>
          <p:cNvSpPr/>
          <p:nvPr/>
        </p:nvSpPr>
        <p:spPr>
          <a:xfrm>
            <a:off x="6324599" y="4355531"/>
            <a:ext cx="1038225" cy="745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one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32A0ECB-456C-75D7-90DC-F16313BD4CA5}"/>
              </a:ext>
            </a:extLst>
          </p:cNvPr>
          <p:cNvSpPr/>
          <p:nvPr/>
        </p:nvSpPr>
        <p:spPr>
          <a:xfrm>
            <a:off x="7486650" y="5101087"/>
            <a:ext cx="1038225" cy="745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B9DB08D-1B3D-24F0-F043-2F593109A350}"/>
              </a:ext>
            </a:extLst>
          </p:cNvPr>
          <p:cNvSpPr/>
          <p:nvPr/>
        </p:nvSpPr>
        <p:spPr>
          <a:xfrm>
            <a:off x="7486650" y="4355531"/>
            <a:ext cx="1038225" cy="745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one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905F2E-452F-D42B-E02C-17E13E68FCDC}"/>
              </a:ext>
            </a:extLst>
          </p:cNvPr>
          <p:cNvSpPr/>
          <p:nvPr/>
        </p:nvSpPr>
        <p:spPr>
          <a:xfrm>
            <a:off x="7486649" y="3609975"/>
            <a:ext cx="1038225" cy="745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two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7042D64-B164-041E-B0DE-94BB091AAE28}"/>
              </a:ext>
            </a:extLst>
          </p:cNvPr>
          <p:cNvSpPr/>
          <p:nvPr/>
        </p:nvSpPr>
        <p:spPr>
          <a:xfrm>
            <a:off x="8648701" y="5101087"/>
            <a:ext cx="1038225" cy="745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920B857-B0B5-E074-6E24-67484BDFD83F}"/>
              </a:ext>
            </a:extLst>
          </p:cNvPr>
          <p:cNvSpPr/>
          <p:nvPr/>
        </p:nvSpPr>
        <p:spPr>
          <a:xfrm>
            <a:off x="8648701" y="4355531"/>
            <a:ext cx="1038225" cy="745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one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E315AD-1C90-9652-0DE3-166EA322D51E}"/>
              </a:ext>
            </a:extLst>
          </p:cNvPr>
          <p:cNvSpPr/>
          <p:nvPr/>
        </p:nvSpPr>
        <p:spPr>
          <a:xfrm>
            <a:off x="9810752" y="5101087"/>
            <a:ext cx="1038225" cy="745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61888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Рекурсия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</a:rPr>
              <a:t>В качестве вызываемой функции можно указать имя текущей функции. Таким образом, текущая функция станет на паузу, и начнёт исполнятся новая "копия" функции (на самом деле копируются только параметры и локальные переменные из-за чего может быть переполнен стек).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Классическая рекурсия - факториал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factorial(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&lt;=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базовый случай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 * factorial(n -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рекурсивный случай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9588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Хвостовая рекурсия </a:t>
            </a:r>
            <a:r>
              <a:rPr lang="en-US" sz="4000" dirty="0"/>
              <a:t>(Tail Recursion)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</a:rPr>
              <a:t>Хвостовая рекурсия – частный случай рекурсии, при котором любой рекурсивный вызов является последней операцией перед возвратом из функции.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</a:rPr>
              <a:t>Такой вид рекурсии оптимизируется компиляторам С++. Для него не выделяются новые кадры на стеке, а </a:t>
            </a:r>
            <a:r>
              <a:rPr lang="ru-RU" sz="2000" dirty="0" err="1">
                <a:solidFill>
                  <a:srgbClr val="000000"/>
                </a:solidFill>
              </a:rPr>
              <a:t>переиспользуеются</a:t>
            </a:r>
            <a:r>
              <a:rPr lang="ru-RU" sz="2000" dirty="0">
                <a:solidFill>
                  <a:srgbClr val="000000"/>
                </a:solidFill>
              </a:rPr>
              <a:t> один.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Хвостовая рекурсия для факториала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factorial_tail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n,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accumulator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&lt;=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accumulator;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factorial_tail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 -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 * accumulator);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0102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Стек-трейс (</a:t>
            </a:r>
            <a:r>
              <a:rPr lang="en-US" sz="4000" dirty="0"/>
              <a:t>stack trace)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000" b="0" i="0" dirty="0">
                <a:effectLst/>
              </a:rPr>
              <a:t>Стек-трейс (</a:t>
            </a:r>
            <a:r>
              <a:rPr lang="ru-RU" sz="2000" b="0" i="0" dirty="0" err="1">
                <a:effectLst/>
              </a:rPr>
              <a:t>stack</a:t>
            </a:r>
            <a:r>
              <a:rPr lang="ru-RU" sz="2000" b="0" i="0" dirty="0">
                <a:effectLst/>
              </a:rPr>
              <a:t> </a:t>
            </a:r>
            <a:r>
              <a:rPr lang="ru-RU" sz="2000" b="0" i="0" dirty="0" err="1">
                <a:effectLst/>
              </a:rPr>
              <a:t>trace</a:t>
            </a:r>
            <a:r>
              <a:rPr lang="ru-RU" sz="2000" b="0" i="0" dirty="0">
                <a:effectLst/>
              </a:rPr>
              <a:t>) – это информация о последовательности вызовов функций и методов. Стек-трейс полезен при поиске ошибок в коде</a:t>
            </a:r>
            <a:r>
              <a:rPr lang="en-US" sz="2000" dirty="0"/>
              <a:t>. </a:t>
            </a:r>
            <a:r>
              <a:rPr lang="ru-RU" sz="2000" dirty="0"/>
              <a:t>В настоящий момент стек-трейс без танцев с бубном получить не очень просто (в последующих стандартах обещают добавить).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Самым простой способ получить стек-трейс – использовать </a:t>
            </a:r>
            <a:r>
              <a:rPr lang="en-US" sz="2000" dirty="0"/>
              <a:t>breakpoint</a:t>
            </a:r>
            <a:r>
              <a:rPr lang="ru-RU" sz="2000" dirty="0"/>
              <a:t> и инструменты отладки. Большинство сред разработки позволяют это сделать максимально просто.</a:t>
            </a:r>
            <a:endParaRPr lang="en-US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805E58-585D-44FB-30C5-8953DADE0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07" y="3429000"/>
            <a:ext cx="5634448" cy="3041733"/>
          </a:xfrm>
          <a:prstGeom prst="rect">
            <a:avLst/>
          </a:prstGeom>
          <a:ln>
            <a:noFill/>
          </a:ln>
          <a:effectLst>
            <a:outerShdw blurRad="165100" algn="t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99863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Вызов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47800"/>
            <a:ext cx="10515599" cy="47387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В </a:t>
            </a:r>
            <a:r>
              <a:rPr lang="en-US" sz="1600" dirty="0">
                <a:solidFill>
                  <a:srgbClr val="000000"/>
                </a:solidFill>
              </a:rPr>
              <a:t>C++ </a:t>
            </a:r>
            <a:r>
              <a:rPr lang="ru-RU" sz="1600" dirty="0">
                <a:solidFill>
                  <a:srgbClr val="000000"/>
                </a:solidFill>
              </a:rPr>
              <a:t>функцию можно вызвать: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Немедленно. Вызываем функцию обычным образом. При этом поток исполнения «перепрыгивает» из вызывающей функции в вызываемую и после её завершения возвращается обратно.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-apple-system"/>
              </a:rPr>
              <a:t>     </a:t>
            </a:r>
            <a:r>
              <a:rPr lang="en-US" sz="1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Отложенный вызов. В С++ нет встроенной возможности вызвать функцию отложенным образом. Вместо этого можно воспользоваться идиомой </a:t>
            </a:r>
            <a:r>
              <a:rPr lang="en-US" sz="1600" dirty="0">
                <a:solidFill>
                  <a:srgbClr val="000000"/>
                </a:solidFill>
              </a:rPr>
              <a:t>RAII</a:t>
            </a:r>
            <a:r>
              <a:rPr lang="ru-RU" sz="1600" dirty="0">
                <a:solidFill>
                  <a:srgbClr val="000000"/>
                </a:solidFill>
              </a:rPr>
              <a:t>, т.к. </a:t>
            </a:r>
            <a:r>
              <a:rPr lang="ru-RU" sz="1600" dirty="0" err="1">
                <a:solidFill>
                  <a:srgbClr val="000000"/>
                </a:solidFill>
              </a:rPr>
              <a:t>рантайм</a:t>
            </a:r>
            <a:r>
              <a:rPr lang="ru-RU" sz="1600" dirty="0">
                <a:solidFill>
                  <a:srgbClr val="000000"/>
                </a:solidFill>
              </a:rPr>
              <a:t> С++ гарантирует вызов деструктора объекта перед выходом из области видимости. Поэтому можно завернуть вызов функции в обёртку: </a:t>
            </a: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BDC6827-BF16-08C8-1768-BD617CC9FD14}"/>
              </a:ext>
            </a:extLst>
          </p:cNvPr>
          <p:cNvSpPr/>
          <p:nvPr/>
        </p:nvSpPr>
        <p:spPr>
          <a:xfrm>
            <a:off x="1250281" y="4104809"/>
            <a:ext cx="5217194" cy="230551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&lt;functional&gt;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std::function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Defer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()&gt;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Defer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()&gt;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 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~Defer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Вызываем функцию в деструкторе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79902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Вызов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2810107"/>
            <a:ext cx="10515599" cy="337648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В параллельном потоке. В С++ нет встроенной возможности вызвать функцию в параллельном потоке. Вместо этого можно воспользоваться средствами стандартной библиотеки, например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или </a:t>
            </a:r>
            <a:r>
              <a:rPr lang="ru-RU" sz="2000" dirty="0" err="1">
                <a:solidFill>
                  <a:srgbClr val="000000"/>
                </a:solidFill>
              </a:rPr>
              <a:t>корутинами</a:t>
            </a:r>
            <a:r>
              <a:rPr lang="ru-RU" sz="2000" dirty="0">
                <a:solidFill>
                  <a:srgbClr val="000000"/>
                </a:solidFill>
              </a:rPr>
              <a:t> (начиная с С++20)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0331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Вызов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47800"/>
            <a:ext cx="10515599" cy="473878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dirty="0">
                <a:solidFill>
                  <a:srgbClr val="000000"/>
                </a:solidFill>
              </a:rPr>
              <a:t>Немедленный вызов</a:t>
            </a:r>
            <a:r>
              <a:rPr lang="en-US" sz="2000" dirty="0">
                <a:solidFill>
                  <a:srgbClr val="000000"/>
                </a:solidFill>
              </a:rPr>
              <a:t>:</a:t>
            </a:r>
            <a:endParaRPr lang="ru-RU" sz="20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"other"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 start"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 stop"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}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ru-RU" sz="2000" dirty="0">
                <a:solidFill>
                  <a:srgbClr val="000000"/>
                </a:solidFill>
              </a:rPr>
              <a:t>Отложенный вызов: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-apple-system"/>
              </a:rPr>
              <a:t>      </a:t>
            </a:r>
            <a:endParaRPr lang="en-US" sz="16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"other"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 start"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Defer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defer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[](){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 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 stop"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2A4B3-C9B2-1865-CAB4-1B3A09D67771}"/>
              </a:ext>
            </a:extLst>
          </p:cNvPr>
          <p:cNvSpPr txBox="1"/>
          <p:nvPr/>
        </p:nvSpPr>
        <p:spPr>
          <a:xfrm>
            <a:off x="6521215" y="2456229"/>
            <a:ext cx="4061060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main start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other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main stop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E30E6-9BDB-9936-10C7-171BB0B28468}"/>
              </a:ext>
            </a:extLst>
          </p:cNvPr>
          <p:cNvSpPr txBox="1"/>
          <p:nvPr/>
        </p:nvSpPr>
        <p:spPr>
          <a:xfrm>
            <a:off x="6521215" y="5263258"/>
            <a:ext cx="4061060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main start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main stop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other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4329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Вызов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352551"/>
            <a:ext cx="10515599" cy="48340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В параллельном потоке:</a:t>
            </a: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асинхронно:</a:t>
            </a:r>
            <a:endParaRPr lang="en-US" sz="160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D9E4459-4045-C76F-95C5-299B84B371ED}"/>
              </a:ext>
            </a:extLst>
          </p:cNvPr>
          <p:cNvSpPr/>
          <p:nvPr/>
        </p:nvSpPr>
        <p:spPr>
          <a:xfrm>
            <a:off x="2472187" y="1666874"/>
            <a:ext cx="5388644" cy="235167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&lt;thread&gt;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"Concurrent execution in C++ 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 start"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::thread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(other);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 stop"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 завершения потока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028B2BC-146B-C9A9-DAB1-37A886E941A1}"/>
              </a:ext>
            </a:extLst>
          </p:cNvPr>
          <p:cNvSpPr/>
          <p:nvPr/>
        </p:nvSpPr>
        <p:spPr>
          <a:xfrm>
            <a:off x="2472187" y="4316273"/>
            <a:ext cx="5388643" cy="2351674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&lt;future&gt;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"Concurrent execution in C++ 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 start"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launch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 stop"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 завершения потока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49C91-B0EE-9385-FA5B-33CC89D74329}"/>
              </a:ext>
            </a:extLst>
          </p:cNvPr>
          <p:cNvSpPr txBox="1"/>
          <p:nvPr/>
        </p:nvSpPr>
        <p:spPr>
          <a:xfrm>
            <a:off x="8226188" y="2525966"/>
            <a:ext cx="3594335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main start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main stop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Concurrent execution in C++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123242-EC8A-B69D-B588-DB54ACE639C5}"/>
              </a:ext>
            </a:extLst>
          </p:cNvPr>
          <p:cNvSpPr txBox="1"/>
          <p:nvPr/>
        </p:nvSpPr>
        <p:spPr>
          <a:xfrm>
            <a:off x="8226189" y="5030445"/>
            <a:ext cx="3594335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main start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main stop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Concurrent execution in C++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9412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775"/>
            <a:ext cx="10515600" cy="4548188"/>
          </a:xfrm>
        </p:spPr>
        <p:txBody>
          <a:bodyPr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ru-RU" sz="1400" i="0" dirty="0">
                <a:solidFill>
                  <a:srgbClr val="333333"/>
                </a:solidFill>
                <a:effectLst/>
              </a:rPr>
              <a:t>Передача данных</a:t>
            </a:r>
            <a:r>
              <a:rPr lang="ru-RU" sz="1400" b="1" i="0" dirty="0">
                <a:solidFill>
                  <a:srgbClr val="333333"/>
                </a:solidFill>
                <a:effectLst/>
              </a:rPr>
              <a:t> по значению. </a:t>
            </a:r>
            <a:r>
              <a:rPr lang="ru-RU" sz="1400" dirty="0">
                <a:solidFill>
                  <a:srgbClr val="333333"/>
                </a:solidFill>
              </a:rPr>
              <a:t>Создаёт локальную копию передаваемых данных.</a:t>
            </a:r>
            <a:endParaRPr lang="ru-RU" sz="1400" b="1" i="0" dirty="0">
              <a:solidFill>
                <a:srgbClr val="333333"/>
              </a:solidFill>
              <a:effectLst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 = 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 = b;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= 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ru-RU" sz="1400" dirty="0">
                <a:solidFill>
                  <a:srgbClr val="333333"/>
                </a:solidFill>
                <a:effectLst/>
              </a:rPr>
              <a:t>Передача данных</a:t>
            </a:r>
            <a:r>
              <a:rPr lang="ru-RU" sz="1400" b="1" dirty="0">
                <a:solidFill>
                  <a:srgbClr val="333333"/>
                </a:solidFill>
                <a:effectLst/>
              </a:rPr>
              <a:t> по ссылке. </a:t>
            </a:r>
            <a:r>
              <a:rPr lang="ru-RU" sz="1400" dirty="0">
                <a:solidFill>
                  <a:srgbClr val="333333"/>
                </a:solidFill>
                <a:effectLst/>
              </a:rPr>
              <a:t>Создаёт дополнительное имя для переменной переданной в качестве аргумента.</a:t>
            </a:r>
            <a:endParaRPr lang="ru-RU" sz="1400" b="1" dirty="0">
              <a:solidFill>
                <a:srgbClr val="333333"/>
              </a:solidFill>
              <a:effectLst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 = 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 = b;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= 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ru-RU" sz="1400" dirty="0">
                <a:solidFill>
                  <a:srgbClr val="333333"/>
                </a:solidFill>
                <a:effectLst/>
              </a:rPr>
              <a:t>Передача данных</a:t>
            </a:r>
            <a:r>
              <a:rPr lang="ru-RU" sz="1400" b="1" dirty="0">
                <a:solidFill>
                  <a:srgbClr val="333333"/>
                </a:solidFill>
                <a:effectLst/>
              </a:rPr>
              <a:t> по указателю. </a:t>
            </a:r>
            <a:r>
              <a:rPr lang="ru-RU" sz="1400" dirty="0">
                <a:solidFill>
                  <a:srgbClr val="333333"/>
                </a:solidFill>
                <a:effectLst/>
              </a:rPr>
              <a:t>Создаёт копию, но не данных, а адреса по которому они находятся.</a:t>
            </a:r>
            <a:endParaRPr lang="en-US" sz="1400" dirty="0">
              <a:solidFill>
                <a:srgbClr val="333333"/>
              </a:solidFill>
              <a:effectLst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 = *a;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*a = *b;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*b = *t;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F861BA6-BB2B-A1CC-740B-B088542BB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Передача данных в функцию</a:t>
            </a:r>
          </a:p>
        </p:txBody>
      </p:sp>
    </p:spTree>
    <p:extLst>
      <p:ext uri="{BB962C8B-B14F-4D97-AF65-F5344CB8AC3E}">
        <p14:creationId xmlns:p14="http://schemas.microsoft.com/office/powerpoint/2010/main" val="41221198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Передача данных в функцию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5383692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dirty="0">
                <a:solidFill>
                  <a:srgbClr val="000000"/>
                </a:solidFill>
              </a:rPr>
              <a:t>В С++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ru-RU" sz="1500" dirty="0">
                <a:solidFill>
                  <a:srgbClr val="000000"/>
                </a:solidFill>
              </a:rPr>
              <a:t>данные в функцию можно передать:</a:t>
            </a:r>
          </a:p>
          <a:p>
            <a:r>
              <a:rPr lang="ru-RU" sz="1500" dirty="0">
                <a:solidFill>
                  <a:srgbClr val="000000"/>
                </a:solidFill>
              </a:rPr>
              <a:t>по значению. В этом случае функция получает </a:t>
            </a:r>
            <a:r>
              <a:rPr lang="ru-RU" sz="1500" b="1" dirty="0">
                <a:solidFill>
                  <a:srgbClr val="000000"/>
                </a:solidFill>
              </a:rPr>
              <a:t>копии</a:t>
            </a:r>
            <a:r>
              <a:rPr lang="ru-RU" sz="1500" dirty="0">
                <a:solidFill>
                  <a:srgbClr val="000000"/>
                </a:solidFill>
              </a:rPr>
              <a:t> передаваемых </a:t>
            </a:r>
            <a:r>
              <a:rPr lang="ru-RU" sz="1500" b="1" dirty="0">
                <a:solidFill>
                  <a:srgbClr val="000000"/>
                </a:solidFill>
              </a:rPr>
              <a:t>данных</a:t>
            </a:r>
            <a:r>
              <a:rPr lang="ru-RU" sz="1500" dirty="0">
                <a:solidFill>
                  <a:srgbClr val="000000"/>
                </a:solidFill>
              </a:rPr>
              <a:t>. Следовательно вызываемая функция не имеет доступа к данным из вызывающей функции.</a:t>
            </a:r>
            <a:br>
              <a:rPr lang="ru-RU" sz="1500" dirty="0">
                <a:solidFill>
                  <a:srgbClr val="000000"/>
                </a:solidFill>
              </a:rPr>
            </a:br>
            <a:r>
              <a:rPr lang="ru-RU" sz="1500" dirty="0">
                <a:solidFill>
                  <a:srgbClr val="000000"/>
                </a:solidFill>
              </a:rPr>
              <a:t>Стоит отметить, что происходит не глубокое копирование, т.е. если передать структуру, которая хранит указатель или ссылку на данные, то сама структура будет скопирована, а данные на которые она указывает нет.</a:t>
            </a:r>
          </a:p>
          <a:p>
            <a:endParaRPr lang="en-US" sz="1500" dirty="0">
              <a:solidFill>
                <a:srgbClr val="000000"/>
              </a:solidFill>
            </a:endParaRPr>
          </a:p>
          <a:p>
            <a:endParaRPr lang="en-US" sz="1500" dirty="0">
              <a:solidFill>
                <a:srgbClr val="000000"/>
              </a:solidFill>
            </a:endParaRPr>
          </a:p>
          <a:p>
            <a:r>
              <a:rPr lang="ru-RU" sz="1500" dirty="0">
                <a:solidFill>
                  <a:srgbClr val="000000"/>
                </a:solidFill>
              </a:rPr>
              <a:t>по указателю. В этом случае функция получает </a:t>
            </a:r>
            <a:r>
              <a:rPr lang="ru-RU" sz="1500" b="1" dirty="0">
                <a:solidFill>
                  <a:srgbClr val="000000"/>
                </a:solidFill>
              </a:rPr>
              <a:t>копии</a:t>
            </a:r>
            <a:r>
              <a:rPr lang="ru-RU" sz="1500" dirty="0">
                <a:solidFill>
                  <a:srgbClr val="000000"/>
                </a:solidFill>
              </a:rPr>
              <a:t> </a:t>
            </a:r>
            <a:r>
              <a:rPr lang="ru-RU" sz="1500" b="1" dirty="0">
                <a:solidFill>
                  <a:srgbClr val="000000"/>
                </a:solidFill>
              </a:rPr>
              <a:t>адресов</a:t>
            </a:r>
            <a:r>
              <a:rPr lang="ru-RU" sz="1500" dirty="0">
                <a:solidFill>
                  <a:srgbClr val="000000"/>
                </a:solidFill>
              </a:rPr>
              <a:t> передаваемых данных. Зная адрес размещения оригинальных данных вызываемая функция может прочитать и изменить данные вызывающей функции.</a:t>
            </a:r>
            <a:br>
              <a:rPr lang="en-US" sz="1500" dirty="0">
                <a:solidFill>
                  <a:srgbClr val="000000"/>
                </a:solidFill>
              </a:rPr>
            </a:br>
            <a:r>
              <a:rPr lang="ru-RU" sz="1500" dirty="0">
                <a:solidFill>
                  <a:srgbClr val="000000"/>
                </a:solidFill>
              </a:rPr>
              <a:t>Чтобы передать данные по указателю в качестве параметра функции используются указатели, а в качестве аргумента – адреса данных</a:t>
            </a:r>
          </a:p>
          <a:p>
            <a:pPr marL="0" indent="0"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6362700" y="1648001"/>
            <a:ext cx="4714876" cy="238696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C91663F-5707-214C-1AB5-44695E92CB45}"/>
              </a:ext>
            </a:extLst>
          </p:cNvPr>
          <p:cNvSpPr/>
          <p:nvPr/>
        </p:nvSpPr>
        <p:spPr>
          <a:xfrm>
            <a:off x="6362701" y="4130123"/>
            <a:ext cx="4714876" cy="238696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Прямоугольник: скругленные углы 3">
            <a:extLst>
              <a:ext uri="{FF2B5EF4-FFF2-40B4-BE49-F238E27FC236}">
                <a16:creationId xmlns:a16="http://schemas.microsoft.com/office/drawing/2014/main" id="{7799EBAF-0E8A-2AC7-27A5-FE8813971386}"/>
              </a:ext>
            </a:extLst>
          </p:cNvPr>
          <p:cNvSpPr/>
          <p:nvPr/>
        </p:nvSpPr>
        <p:spPr>
          <a:xfrm>
            <a:off x="11117018" y="1648000"/>
            <a:ext cx="665407" cy="2386965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10 20</a:t>
            </a:r>
          </a:p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10 20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73B0E88E-8E14-0CA7-03F2-2C315DC3EF71}"/>
              </a:ext>
            </a:extLst>
          </p:cNvPr>
          <p:cNvSpPr/>
          <p:nvPr/>
        </p:nvSpPr>
        <p:spPr>
          <a:xfrm>
            <a:off x="11117018" y="4130123"/>
            <a:ext cx="665407" cy="2386965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10 20</a:t>
            </a:r>
          </a:p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20 10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0762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Передача данных в функцию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5383692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dirty="0">
                <a:solidFill>
                  <a:srgbClr val="000000"/>
                </a:solidFill>
              </a:rPr>
              <a:t>В С++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ru-RU" sz="1500" dirty="0">
                <a:solidFill>
                  <a:srgbClr val="000000"/>
                </a:solidFill>
              </a:rPr>
              <a:t>данные в функцию можно передать:</a:t>
            </a:r>
          </a:p>
          <a:p>
            <a:r>
              <a:rPr lang="ru-RU" sz="1500" dirty="0">
                <a:solidFill>
                  <a:srgbClr val="000000"/>
                </a:solidFill>
              </a:rPr>
              <a:t>по ссылке. Ссылки на исходные данные. Следовательно вызываемая функция имеет доступа к данным из вызывающей функции и может их изменять.</a:t>
            </a:r>
            <a:br>
              <a:rPr lang="ru-RU" sz="1500" dirty="0">
                <a:solidFill>
                  <a:srgbClr val="000000"/>
                </a:solidFill>
              </a:rPr>
            </a:br>
            <a:r>
              <a:rPr lang="ru-RU" sz="1500" dirty="0">
                <a:solidFill>
                  <a:srgbClr val="000000"/>
                </a:solidFill>
              </a:rPr>
              <a:t>Чтобы передать данные по ссылке к типу параметра добавляется амперсанд, весь остальной код остаётся таким же как и при передаче по значению.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6362700" y="1648001"/>
            <a:ext cx="4714876" cy="238696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73B0E88E-8E14-0CA7-03F2-2C315DC3EF71}"/>
              </a:ext>
            </a:extLst>
          </p:cNvPr>
          <p:cNvSpPr/>
          <p:nvPr/>
        </p:nvSpPr>
        <p:spPr>
          <a:xfrm>
            <a:off x="11117018" y="1648001"/>
            <a:ext cx="665407" cy="2386965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10 20</a:t>
            </a:r>
          </a:p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20 10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8383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532523"/>
            <a:ext cx="10448925" cy="4644439"/>
          </a:xfrm>
        </p:spPr>
        <p:txBody>
          <a:bodyPr>
            <a:norm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ru-RU" sz="2000" dirty="0">
                <a:solidFill>
                  <a:srgbClr val="333333"/>
                </a:solidFill>
              </a:rPr>
              <a:t>Квалификатор </a:t>
            </a:r>
            <a:r>
              <a:rPr lang="en-US" sz="2000" b="1" dirty="0">
                <a:solidFill>
                  <a:srgbClr val="333333"/>
                </a:solidFill>
              </a:rPr>
              <a:t>const</a:t>
            </a:r>
            <a:r>
              <a:rPr lang="en-US" sz="2000" dirty="0">
                <a:solidFill>
                  <a:srgbClr val="333333"/>
                </a:solidFill>
              </a:rPr>
              <a:t> </a:t>
            </a:r>
            <a:r>
              <a:rPr lang="ru-RU" sz="2000" dirty="0">
                <a:solidFill>
                  <a:srgbClr val="333333"/>
                </a:solidFill>
              </a:rPr>
              <a:t>запрещает изменять параметры.</a:t>
            </a:r>
            <a:endParaRPr lang="ru-RU" sz="2000" i="0" dirty="0">
              <a:solidFill>
                <a:srgbClr val="333333"/>
              </a:solidFill>
              <a:effectLst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fr-FR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r-FR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r-FR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 = a;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 = b;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= 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fr-F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0F49B58-9662-049E-E3F4-038C660BD012}"/>
              </a:ext>
            </a:extLst>
          </p:cNvPr>
          <p:cNvSpPr txBox="1">
            <a:spLocks/>
          </p:cNvSpPr>
          <p:nvPr/>
        </p:nvSpPr>
        <p:spPr>
          <a:xfrm>
            <a:off x="838199" y="20696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Передача данных в функцию - </a:t>
            </a:r>
            <a:r>
              <a:rPr lang="en-US" sz="4000" dirty="0"/>
              <a:t>const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8467786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Переменные в памяти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ACC1F434-4390-C298-118F-12D9B44441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692623"/>
              </p:ext>
            </p:extLst>
          </p:nvPr>
        </p:nvGraphicFramePr>
        <p:xfrm>
          <a:off x="5915868" y="1831105"/>
          <a:ext cx="5437932" cy="3708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60768">
                  <a:extLst>
                    <a:ext uri="{9D8B030D-6E8A-4147-A177-3AD203B41FA5}">
                      <a16:colId xmlns:a16="http://schemas.microsoft.com/office/drawing/2014/main" val="2161159182"/>
                    </a:ext>
                  </a:extLst>
                </a:gridCol>
                <a:gridCol w="809943">
                  <a:extLst>
                    <a:ext uri="{9D8B030D-6E8A-4147-A177-3AD203B41FA5}">
                      <a16:colId xmlns:a16="http://schemas.microsoft.com/office/drawing/2014/main" val="148426719"/>
                    </a:ext>
                  </a:extLst>
                </a:gridCol>
                <a:gridCol w="1813243">
                  <a:extLst>
                    <a:ext uri="{9D8B030D-6E8A-4147-A177-3AD203B41FA5}">
                      <a16:colId xmlns:a16="http://schemas.microsoft.com/office/drawing/2014/main" val="230745245"/>
                    </a:ext>
                  </a:extLst>
                </a:gridCol>
                <a:gridCol w="1753978">
                  <a:extLst>
                    <a:ext uri="{9D8B030D-6E8A-4147-A177-3AD203B41FA5}">
                      <a16:colId xmlns:a16="http://schemas.microsoft.com/office/drawing/2014/main" val="3394202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Имя</a:t>
                      </a:r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Тип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Адрес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07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518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b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nsolas" panose="020B0609020204030204" pitchFamily="49" charset="0"/>
                        </a:rPr>
                        <a:t>int*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0xc000074018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0xc00007e028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06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a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int*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0xc000074010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0xc00007e020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949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…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551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t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nsolas" panose="020B0609020204030204" pitchFamily="49" charset="0"/>
                        </a:rPr>
                        <a:t>int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Consolas" panose="020B0609020204030204" pitchFamily="49" charset="0"/>
                        </a:rPr>
                        <a:t>мусор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0xc000074038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819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…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911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second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int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20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0xc000074018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341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first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int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10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0xc000074010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067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3203569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2490ED2-4BD0-9B61-9A06-F43105FCEC75}"/>
              </a:ext>
            </a:extLst>
          </p:cNvPr>
          <p:cNvSpPr/>
          <p:nvPr/>
        </p:nvSpPr>
        <p:spPr>
          <a:xfrm>
            <a:off x="939566" y="3314700"/>
            <a:ext cx="4356334" cy="222480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2FAE024-84BB-3727-0483-DE543BD637C7}"/>
              </a:ext>
            </a:extLst>
          </p:cNvPr>
          <p:cNvCxnSpPr/>
          <p:nvPr/>
        </p:nvCxnSpPr>
        <p:spPr>
          <a:xfrm flipH="1">
            <a:off x="5372100" y="3124200"/>
            <a:ext cx="54376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E23DA1C-6FAD-5AF0-D442-6F50C71EBE33}"/>
              </a:ext>
            </a:extLst>
          </p:cNvPr>
          <p:cNvCxnSpPr/>
          <p:nvPr/>
        </p:nvCxnSpPr>
        <p:spPr>
          <a:xfrm>
            <a:off x="5372100" y="3124200"/>
            <a:ext cx="0" cy="18288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D5C6C3A-C9C7-5FF1-A2D5-6D417549413A}"/>
              </a:ext>
            </a:extLst>
          </p:cNvPr>
          <p:cNvCxnSpPr/>
          <p:nvPr/>
        </p:nvCxnSpPr>
        <p:spPr>
          <a:xfrm>
            <a:off x="5372100" y="4962525"/>
            <a:ext cx="5437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0E04EA0-B1DF-4EFA-4EA0-53CBBE316E18}"/>
              </a:ext>
            </a:extLst>
          </p:cNvPr>
          <p:cNvCxnSpPr>
            <a:cxnSpLocks/>
          </p:cNvCxnSpPr>
          <p:nvPr/>
        </p:nvCxnSpPr>
        <p:spPr>
          <a:xfrm flipH="1">
            <a:off x="5124450" y="2770905"/>
            <a:ext cx="79141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9E20243-78D6-4E1F-D3F6-9620055D7A16}"/>
              </a:ext>
            </a:extLst>
          </p:cNvPr>
          <p:cNvCxnSpPr>
            <a:cxnSpLocks/>
          </p:cNvCxnSpPr>
          <p:nvPr/>
        </p:nvCxnSpPr>
        <p:spPr>
          <a:xfrm>
            <a:off x="5124450" y="2770905"/>
            <a:ext cx="0" cy="182880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35092B15-F582-6138-D2A7-55CF6F75F18C}"/>
              </a:ext>
            </a:extLst>
          </p:cNvPr>
          <p:cNvCxnSpPr>
            <a:cxnSpLocks/>
          </p:cNvCxnSpPr>
          <p:nvPr/>
        </p:nvCxnSpPr>
        <p:spPr>
          <a:xfrm flipV="1">
            <a:off x="5124450" y="4599705"/>
            <a:ext cx="7914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Объект 2">
            <a:extLst>
              <a:ext uri="{FF2B5EF4-FFF2-40B4-BE49-F238E27FC236}">
                <a16:creationId xmlns:a16="http://schemas.microsoft.com/office/drawing/2014/main" id="{B227D705-68F5-FE3C-F786-9E69E1DC808C}"/>
              </a:ext>
            </a:extLst>
          </p:cNvPr>
          <p:cNvSpPr txBox="1">
            <a:spLocks/>
          </p:cNvSpPr>
          <p:nvPr/>
        </p:nvSpPr>
        <p:spPr>
          <a:xfrm>
            <a:off x="939567" y="1831104"/>
            <a:ext cx="4184882" cy="37084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500" dirty="0">
                <a:solidFill>
                  <a:srgbClr val="000000"/>
                </a:solidFill>
              </a:rPr>
              <a:t>Состояние переменных в памяти сразу после вызова функции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8837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Указатели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47800"/>
            <a:ext cx="10515599" cy="47387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Переменная-указатель предназначена для хранения адреса в памяти. Чтобы создать переменную-указатель нужно после типа данных поставить символ звёздочка: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тип_даных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int*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       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int-a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double*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pointer2;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   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double-a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&gt;* pointer3;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вектора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из 3х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int-</a:t>
            </a:r>
            <a:r>
              <a:rPr lang="ru-RU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ов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Переменная-указатель, как и любая другая, по умолчанию имеет мусорное значение, т.е. какой-то случайный адрес. Существует специальное значение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которое говорит о том, что этот указатель не хранит адрес (никуда не указывает). Из языка С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доступны ещё 2 способа "</a:t>
            </a:r>
            <a:r>
              <a:rPr lang="ru-RU" sz="1600" dirty="0" err="1">
                <a:solidFill>
                  <a:srgbClr val="000000"/>
                </a:solidFill>
              </a:rPr>
              <a:t>занулить</a:t>
            </a:r>
            <a:r>
              <a:rPr lang="ru-RU" sz="1600" dirty="0">
                <a:solidFill>
                  <a:srgbClr val="000000"/>
                </a:solidFill>
              </a:rPr>
              <a:t>" указатель, значение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ru-RU" sz="1400" dirty="0">
                <a:solidFill>
                  <a:srgbClr val="000000"/>
                </a:solidFill>
              </a:rPr>
              <a:t> и просто 0</a:t>
            </a:r>
            <a:r>
              <a:rPr lang="en-US" sz="1400" dirty="0">
                <a:solidFill>
                  <a:srgbClr val="000000"/>
                </a:solidFill>
              </a:rPr>
              <a:t>;</a:t>
            </a:r>
            <a:endParaRPr lang="ru-RU" sz="14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int*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pointer1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Нулевой указатель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7227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Указатели – получение адреса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47800"/>
            <a:ext cx="10515599" cy="47387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Чтобы сохранить в переменную адрес его сначала нужно получить. Для этого используется оператор взятия адреса – амперсанд (</a:t>
            </a:r>
            <a:r>
              <a:rPr lang="en-US" sz="1600" dirty="0">
                <a:solidFill>
                  <a:srgbClr val="000000"/>
                </a:solidFill>
              </a:rPr>
              <a:t>&amp;</a:t>
            </a:r>
            <a:r>
              <a:rPr lang="ru-RU" sz="1600" dirty="0">
                <a:solidFill>
                  <a:srgbClr val="000000"/>
                </a:solidFill>
              </a:rPr>
              <a:t>)</a:t>
            </a:r>
            <a:r>
              <a:rPr lang="en-US" sz="1600" dirty="0">
                <a:solidFill>
                  <a:srgbClr val="000000"/>
                </a:solidFill>
              </a:rPr>
              <a:t>. </a:t>
            </a:r>
            <a:r>
              <a:rPr lang="ru-RU" sz="1600" dirty="0">
                <a:solidFill>
                  <a:srgbClr val="000000"/>
                </a:solidFill>
              </a:rPr>
              <a:t>Его нужно написать перед именем объекта адрес которого нам нужен (например переменной) или получить как результат работы функции.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Получаем адрес переменной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value</a:t>
            </a:r>
            <a:endParaRPr lang="ru-RU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Положить в переменную что-то кроме адреса нельзя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value;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pointer2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ждёт адрес, а не значение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Не у всех программных объектов есть адреса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У 5 нет адреса в памяти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Совместимы только адреса объектов одного типа</a:t>
            </a: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int*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Не тот тип адреса 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7021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Указатели – доступ к значению через адрес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47800"/>
            <a:ext cx="10515599" cy="47387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Зная адрес можно получить доступ к данным расположенным по этому адресу. Через адрес можно как читать данные, так и изменять их. Для получения доступа используется оператор разыменования (звёздочка) который нужно написать перед </a:t>
            </a:r>
            <a:r>
              <a:rPr lang="ru-RU" sz="1600" b="1" dirty="0">
                <a:solidFill>
                  <a:srgbClr val="000000"/>
                </a:solidFill>
              </a:rPr>
              <a:t>переменной-указателем</a:t>
            </a:r>
            <a:r>
              <a:rPr lang="ru-RU" sz="1600" dirty="0">
                <a:solidFill>
                  <a:srgbClr val="000000"/>
                </a:solidFill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int*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&amp;value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Получаем адрес переменной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*pointer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Читаем данные из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value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через её адрес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Меняем данные в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value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через её адрес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value;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Проверяем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Не имеет значение каким образом получен адрес, если к нему применить оператор разыменования, то мы получим то, на что указывает адрес. Если к результату применить оператор взятия адреса, то мы снова получим адрес и т.д. 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*&amp;*&amp;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Можно так. Это тоже самое, что и просто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value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Здесь операторы применяются справа налево (</a:t>
            </a:r>
            <a:r>
              <a:rPr lang="en-US" sz="1600" dirty="0">
                <a:solidFill>
                  <a:srgbClr val="000000"/>
                </a:solidFill>
              </a:rPr>
              <a:t>&lt;--</a:t>
            </a:r>
            <a:r>
              <a:rPr lang="ru-RU" sz="1600" dirty="0">
                <a:solidFill>
                  <a:srgbClr val="000000"/>
                </a:solidFill>
              </a:rPr>
              <a:t>) начиная от имени переменной.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9970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Ссылки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47800"/>
            <a:ext cx="10515599" cy="47387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Переменная-ссылка с точки зрения языка является </a:t>
            </a:r>
            <a:r>
              <a:rPr lang="ru-RU" sz="1600" b="1" dirty="0">
                <a:solidFill>
                  <a:srgbClr val="000000"/>
                </a:solidFill>
              </a:rPr>
              <a:t>указателем</a:t>
            </a:r>
            <a:r>
              <a:rPr lang="ru-RU" sz="1600" dirty="0">
                <a:solidFill>
                  <a:srgbClr val="000000"/>
                </a:solidFill>
              </a:rPr>
              <a:t>, к которому автоматически применяется оператор разыменования. Поэтому поменять адрес записанный в переменную-ссылку не получится, т.к. идентификатор будет автоматически </a:t>
            </a:r>
            <a:r>
              <a:rPr lang="ru-RU" sz="1600" dirty="0" err="1">
                <a:solidFill>
                  <a:srgbClr val="000000"/>
                </a:solidFill>
              </a:rPr>
              <a:t>разыменован</a:t>
            </a:r>
            <a:r>
              <a:rPr lang="ru-RU" sz="1600" dirty="0">
                <a:solidFill>
                  <a:srgbClr val="000000"/>
                </a:solidFill>
              </a:rPr>
              <a:t> и даст доступ к значению по хранимому адресу. Поэтому переменную-ссылку нужно инициализировать при создании.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С точки зрения программиста можно воспринимать переменную-ссылку как второе имя для переменной.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Чтобы создать переменную-ссылку нужно после типа данных поставить символ амперсанд (</a:t>
            </a:r>
            <a:r>
              <a:rPr lang="en-US" sz="1600" dirty="0">
                <a:solidFill>
                  <a:srgbClr val="000000"/>
                </a:solidFill>
              </a:rPr>
              <a:t>&amp;</a:t>
            </a:r>
            <a:r>
              <a:rPr lang="ru-RU" sz="1600" dirty="0">
                <a:solidFill>
                  <a:srgbClr val="000000"/>
                </a:solidFill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тип_даных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pointer = </a:t>
            </a:r>
            <a:r>
              <a:rPr lang="ru-RU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адресуемый_объект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ref1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       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Так нельзя</a:t>
            </a:r>
          </a:p>
          <a:p>
            <a:pPr marL="0" indent="0">
              <a:buNone/>
            </a:pPr>
            <a:endParaRPr lang="ru-RU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ref = value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Создаём ссылку на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ref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Читаем данные из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value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через ссылку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Меняем данные в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value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через ссылку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value;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Проверяем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5357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Ссылки</a:t>
            </a:r>
            <a:r>
              <a:rPr lang="ru-RU" dirty="0"/>
              <a:t> – 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47800"/>
            <a:ext cx="10515599" cy="47387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500" dirty="0">
                <a:solidFill>
                  <a:srgbClr val="000000"/>
                </a:solidFill>
              </a:rPr>
              <a:t>Под "капотом" ссылки используют адреса для доступа к памяти, поэтому ссылку можно взять только на объект у которого есть адрес.</a:t>
            </a:r>
          </a:p>
          <a:p>
            <a:pPr marL="0" indent="0">
              <a:spcBef>
                <a:spcPts val="0"/>
              </a:spcBef>
              <a:buNone/>
            </a:pPr>
            <a:endParaRPr lang="ru-RU" sz="15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500" b="0" dirty="0">
                <a:effectLst/>
                <a:latin typeface="Consolas" panose="020B0609020204030204" pitchFamily="49" charset="0"/>
              </a:rPr>
              <a:t>;</a:t>
            </a:r>
            <a:endParaRPr lang="ru-RU" sz="1500" b="0" dirty="0"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effectLst/>
                <a:latin typeface="Consolas" panose="020B0609020204030204" pitchFamily="49" charset="0"/>
              </a:rPr>
              <a:t>ref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value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У переменной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есть адрес</a:t>
            </a:r>
            <a:endParaRPr lang="en-US" sz="15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5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5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500" dirty="0">
                <a:solidFill>
                  <a:srgbClr val="000000"/>
                </a:solidFill>
              </a:rPr>
              <a:t>Нельзя взять ссылку на ссылку, здесь мы получим адрес переменной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US" sz="15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1080"/>
                </a:solidFill>
                <a:latin typeface="Consolas" panose="020B0609020204030204" pitchFamily="49" charset="0"/>
              </a:rPr>
              <a:t>ref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ref;     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ref2 –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ещё одна ссылка на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value</a:t>
            </a:r>
            <a:endParaRPr lang="ru-RU" sz="15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5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5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500" dirty="0">
                <a:solidFill>
                  <a:srgbClr val="000000"/>
                </a:solidFill>
              </a:rPr>
              <a:t>Не у всех программных объектов есть адреса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 </a:t>
            </a:r>
            <a:r>
              <a:rPr lang="en-US" sz="1500" dirty="0">
                <a:solidFill>
                  <a:srgbClr val="001080"/>
                </a:solidFill>
                <a:latin typeface="Consolas" panose="020B0609020204030204" pitchFamily="49" charset="0"/>
              </a:rPr>
              <a:t>ref</a:t>
            </a:r>
            <a:r>
              <a:rPr lang="ru-RU" sz="1500" dirty="0">
                <a:solidFill>
                  <a:srgbClr val="001080"/>
                </a:solidFill>
                <a:latin typeface="Consolas" panose="020B0609020204030204" pitchFamily="49" charset="0"/>
              </a:rPr>
              <a:t>3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У 5 нет адреса в памяти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500" dirty="0">
                <a:solidFill>
                  <a:srgbClr val="000000"/>
                </a:solidFill>
              </a:rPr>
              <a:t>Брать ссылки можно только на объекты одного типа</a:t>
            </a:r>
            <a:b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1080"/>
                </a:solidFill>
                <a:latin typeface="Consolas" panose="020B0609020204030204" pitchFamily="49" charset="0"/>
              </a:rPr>
              <a:t>ref</a:t>
            </a:r>
            <a:r>
              <a:rPr lang="ru-RU" sz="1500" dirty="0">
                <a:solidFill>
                  <a:srgbClr val="001080"/>
                </a:solidFill>
                <a:latin typeface="Consolas" panose="020B0609020204030204" pitchFamily="49" charset="0"/>
              </a:rPr>
              <a:t>4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Не тот тип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объекта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5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5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values = {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ref5 =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безопасно, но можно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ref5;</a:t>
            </a:r>
          </a:p>
        </p:txBody>
      </p:sp>
    </p:spTree>
    <p:extLst>
      <p:ext uri="{BB962C8B-B14F-4D97-AF65-F5344CB8AC3E}">
        <p14:creationId xmlns:p14="http://schemas.microsoft.com/office/powerpoint/2010/main" val="28401646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775"/>
            <a:ext cx="10515600" cy="4548188"/>
          </a:xfrm>
        </p:spPr>
        <p:txBody>
          <a:bodyPr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ru-RU" sz="1500" i="0" dirty="0">
                <a:solidFill>
                  <a:srgbClr val="333333"/>
                </a:solidFill>
                <a:effectLst/>
              </a:rPr>
              <a:t>Возврат данных</a:t>
            </a:r>
            <a:r>
              <a:rPr lang="ru-RU" sz="1500" b="1" i="0" dirty="0">
                <a:solidFill>
                  <a:srgbClr val="333333"/>
                </a:solidFill>
                <a:effectLst/>
              </a:rPr>
              <a:t> по значению. </a:t>
            </a:r>
            <a:r>
              <a:rPr lang="ru-RU" sz="1500" dirty="0">
                <a:solidFill>
                  <a:srgbClr val="333333"/>
                </a:solidFill>
              </a:rPr>
              <a:t>Создаёт копию возвращаемых данных и отдаёт наружу.</a:t>
            </a:r>
            <a:endParaRPr lang="ru-RU" sz="1500" b="1" i="0" dirty="0">
              <a:solidFill>
                <a:srgbClr val="333333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a + b;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fr-FR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ru-RU" sz="1500" i="0" dirty="0">
                <a:solidFill>
                  <a:srgbClr val="333333"/>
                </a:solidFill>
                <a:effectLst/>
              </a:rPr>
              <a:t>Возврат</a:t>
            </a:r>
            <a:r>
              <a:rPr lang="ru-RU" sz="1500" dirty="0">
                <a:solidFill>
                  <a:srgbClr val="333333"/>
                </a:solidFill>
                <a:effectLst/>
              </a:rPr>
              <a:t> данных</a:t>
            </a:r>
            <a:r>
              <a:rPr lang="ru-RU" sz="1500" b="1" dirty="0">
                <a:solidFill>
                  <a:srgbClr val="333333"/>
                </a:solidFill>
                <a:effectLst/>
              </a:rPr>
              <a:t> по ссылке. </a:t>
            </a:r>
            <a:r>
              <a:rPr lang="ru-RU" sz="1500" dirty="0">
                <a:solidFill>
                  <a:srgbClr val="333333"/>
                </a:solidFill>
              </a:rPr>
              <a:t>Даёт доступ вызывающему коду к локальной переменной функции</a:t>
            </a:r>
            <a:r>
              <a:rPr lang="ru-RU" sz="1500" dirty="0">
                <a:solidFill>
                  <a:srgbClr val="333333"/>
                </a:solidFill>
                <a:effectLst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a + b;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fr-FR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ru-RU" sz="1500" i="0" dirty="0">
                <a:solidFill>
                  <a:srgbClr val="333333"/>
                </a:solidFill>
                <a:effectLst/>
              </a:rPr>
              <a:t>Возврат</a:t>
            </a:r>
            <a:r>
              <a:rPr lang="ru-RU" sz="1500" dirty="0">
                <a:solidFill>
                  <a:srgbClr val="333333"/>
                </a:solidFill>
                <a:effectLst/>
              </a:rPr>
              <a:t> данных</a:t>
            </a:r>
            <a:r>
              <a:rPr lang="ru-RU" sz="1500" b="1" dirty="0">
                <a:solidFill>
                  <a:srgbClr val="333333"/>
                </a:solidFill>
                <a:effectLst/>
              </a:rPr>
              <a:t> по указателю. </a:t>
            </a:r>
            <a:r>
              <a:rPr lang="ru-RU" sz="1500" dirty="0">
                <a:solidFill>
                  <a:srgbClr val="333333"/>
                </a:solidFill>
                <a:effectLst/>
              </a:rPr>
              <a:t>Передаёт наружу информацию об адресе, по которому лежат данные.</a:t>
            </a:r>
            <a:endParaRPr lang="en-US" sz="1500" dirty="0">
              <a:solidFill>
                <a:srgbClr val="333333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a + b;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&amp;result;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06EE9EF-BAE1-3CD3-A75A-958F1605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Возврат</a:t>
            </a:r>
            <a:r>
              <a:rPr lang="ru-RU" dirty="0"/>
              <a:t> результата</a:t>
            </a:r>
          </a:p>
        </p:txBody>
      </p:sp>
    </p:spTree>
    <p:extLst>
      <p:ext uri="{BB962C8B-B14F-4D97-AF65-F5344CB8AC3E}">
        <p14:creationId xmlns:p14="http://schemas.microsoft.com/office/powerpoint/2010/main" val="294346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Возврат</a:t>
            </a:r>
            <a:r>
              <a:rPr lang="ru-RU" dirty="0"/>
              <a:t> результата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5642209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</a:rPr>
              <a:t>В С++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данные из функции можно возвращать:</a:t>
            </a:r>
          </a:p>
          <a:p>
            <a:r>
              <a:rPr lang="ru-RU" sz="1600" dirty="0">
                <a:solidFill>
                  <a:srgbClr val="000000"/>
                </a:solidFill>
              </a:rPr>
              <a:t>по значению. В этом случае вызывающая функция получит </a:t>
            </a:r>
            <a:r>
              <a:rPr lang="ru-RU" sz="1600" b="1" dirty="0">
                <a:solidFill>
                  <a:srgbClr val="000000"/>
                </a:solidFill>
              </a:rPr>
              <a:t>копию</a:t>
            </a:r>
            <a:r>
              <a:rPr lang="ru-RU" sz="1600" dirty="0">
                <a:solidFill>
                  <a:srgbClr val="000000"/>
                </a:solidFill>
              </a:rPr>
              <a:t> </a:t>
            </a:r>
            <a:r>
              <a:rPr lang="ru-RU" sz="1600" b="1" dirty="0">
                <a:solidFill>
                  <a:srgbClr val="000000"/>
                </a:solidFill>
              </a:rPr>
              <a:t>данных</a:t>
            </a:r>
            <a:r>
              <a:rPr lang="ru-RU" sz="1600" dirty="0">
                <a:solidFill>
                  <a:srgbClr val="000000"/>
                </a:solidFill>
              </a:rPr>
              <a:t> которые были в вызываемой функции.</a:t>
            </a:r>
            <a:br>
              <a:rPr lang="ru-RU" sz="1600" dirty="0">
                <a:solidFill>
                  <a:srgbClr val="000000"/>
                </a:solidFill>
              </a:rPr>
            </a:br>
            <a:r>
              <a:rPr lang="ru-RU" sz="1600" dirty="0">
                <a:solidFill>
                  <a:srgbClr val="000000"/>
                </a:solidFill>
              </a:rPr>
              <a:t>Существуют оптимизации </a:t>
            </a:r>
            <a:r>
              <a:rPr lang="en-US" sz="1600" dirty="0">
                <a:solidFill>
                  <a:srgbClr val="000000"/>
                </a:solidFill>
              </a:rPr>
              <a:t>RVO </a:t>
            </a:r>
            <a:r>
              <a:rPr lang="ru-RU" sz="1600" dirty="0">
                <a:solidFill>
                  <a:srgbClr val="000000"/>
                </a:solidFill>
              </a:rPr>
              <a:t>и </a:t>
            </a:r>
            <a:r>
              <a:rPr lang="en-US" sz="1600" dirty="0">
                <a:solidFill>
                  <a:srgbClr val="000000"/>
                </a:solidFill>
              </a:rPr>
              <a:t>NRVO</a:t>
            </a:r>
            <a:r>
              <a:rPr lang="ru-RU" sz="1600" dirty="0">
                <a:solidFill>
                  <a:srgbClr val="000000"/>
                </a:solidFill>
              </a:rPr>
              <a:t>, позволяющие пропустить операцию копирования и создать объект сразу в точке возврата.</a:t>
            </a:r>
            <a:br>
              <a:rPr lang="en-US" sz="1600" dirty="0">
                <a:solidFill>
                  <a:srgbClr val="000000"/>
                </a:solidFill>
              </a:rPr>
            </a:br>
            <a:r>
              <a:rPr lang="ru-RU" sz="1600" dirty="0">
                <a:solidFill>
                  <a:srgbClr val="000000"/>
                </a:solidFill>
              </a:rPr>
              <a:t>Для объектов существует оптимизация </a:t>
            </a:r>
            <a:r>
              <a:rPr lang="en-US" sz="1600" dirty="0">
                <a:solidFill>
                  <a:srgbClr val="000000"/>
                </a:solidFill>
              </a:rPr>
              <a:t>copy elision</a:t>
            </a:r>
            <a:r>
              <a:rPr lang="ru-RU" sz="1600" dirty="0">
                <a:solidFill>
                  <a:srgbClr val="000000"/>
                </a:solidFill>
              </a:rPr>
              <a:t>, позволяющая не вызывать конструктор копирования в ряде случаев.</a:t>
            </a:r>
            <a:endParaRPr lang="en-US" sz="15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500" dirty="0">
              <a:solidFill>
                <a:srgbClr val="000000"/>
              </a:solidFill>
            </a:endParaRPr>
          </a:p>
          <a:p>
            <a:r>
              <a:rPr lang="ru-RU" sz="1600" dirty="0">
                <a:solidFill>
                  <a:srgbClr val="000000"/>
                </a:solidFill>
              </a:rPr>
              <a:t>по указателю. В этом случае вызывающая функция получает </a:t>
            </a:r>
            <a:r>
              <a:rPr lang="ru-RU" sz="1600" b="1" dirty="0">
                <a:solidFill>
                  <a:srgbClr val="000000"/>
                </a:solidFill>
              </a:rPr>
              <a:t>копии</a:t>
            </a:r>
            <a:r>
              <a:rPr lang="ru-RU" sz="1600" dirty="0">
                <a:solidFill>
                  <a:srgbClr val="000000"/>
                </a:solidFill>
              </a:rPr>
              <a:t> </a:t>
            </a:r>
            <a:r>
              <a:rPr lang="ru-RU" sz="1600" b="1" dirty="0">
                <a:solidFill>
                  <a:srgbClr val="000000"/>
                </a:solidFill>
              </a:rPr>
              <a:t>адресов</a:t>
            </a:r>
            <a:r>
              <a:rPr lang="ru-RU" sz="1600" dirty="0">
                <a:solidFill>
                  <a:srgbClr val="000000"/>
                </a:solidFill>
              </a:rPr>
              <a:t> объектов созданных или переданных в вызываемую функцию. В </a:t>
            </a:r>
            <a:r>
              <a:rPr lang="en-US" sz="1600" dirty="0">
                <a:solidFill>
                  <a:srgbClr val="000000"/>
                </a:solidFill>
              </a:rPr>
              <a:t>C++ </a:t>
            </a:r>
            <a:r>
              <a:rPr lang="ru-RU" sz="1600" dirty="0">
                <a:solidFill>
                  <a:srgbClr val="000000"/>
                </a:solidFill>
              </a:rPr>
              <a:t>возврат результата по указателю НЕ безопасен в случае возврата адреса локального объекта вызывающая функция получит непригодный для использования адрес, т.к. при завершении функция удалит все свои локальные переменные.</a:t>
            </a:r>
            <a:br>
              <a:rPr lang="ru-RU" sz="1600" dirty="0">
                <a:solidFill>
                  <a:srgbClr val="000000"/>
                </a:solidFill>
              </a:rPr>
            </a:br>
            <a:r>
              <a:rPr lang="ru-RU" sz="1600" dirty="0">
                <a:solidFill>
                  <a:srgbClr val="000000"/>
                </a:solidFill>
              </a:rPr>
              <a:t>Можно возвращать адреса объектов созданных в куче или за пределами функции.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7161445" y="1870075"/>
            <a:ext cx="4124326" cy="204769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createBord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bord;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(count &lt;=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bord =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bord =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&gt;(count,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bord;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bord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createBord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40442A9-4BF7-4E7F-156E-355CC0D767B2}"/>
              </a:ext>
            </a:extLst>
          </p:cNvPr>
          <p:cNvSpPr/>
          <p:nvPr/>
        </p:nvSpPr>
        <p:spPr>
          <a:xfrm>
            <a:off x="7161445" y="4138889"/>
            <a:ext cx="4124326" cy="204769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&gt;*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createBord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bord;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(count &lt;=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bord =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bord =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&gt;(count,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&amp;bord;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&gt;* bord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createBord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64700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Возврат результата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5642209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</a:rPr>
              <a:t>В С++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данные из функции можно возвращать:</a:t>
            </a:r>
          </a:p>
          <a:p>
            <a:r>
              <a:rPr lang="ru-RU" sz="1600" dirty="0">
                <a:solidFill>
                  <a:srgbClr val="000000"/>
                </a:solidFill>
              </a:rPr>
              <a:t>по ссылке. В этом случае вызывающая функция получает </a:t>
            </a:r>
            <a:r>
              <a:rPr lang="ru-RU" sz="1600" b="1" dirty="0">
                <a:solidFill>
                  <a:srgbClr val="000000"/>
                </a:solidFill>
              </a:rPr>
              <a:t>ссылку </a:t>
            </a:r>
            <a:r>
              <a:rPr lang="ru-RU" sz="1600" dirty="0">
                <a:solidFill>
                  <a:srgbClr val="000000"/>
                </a:solidFill>
              </a:rPr>
              <a:t>на возвращаемый объект. В </a:t>
            </a:r>
            <a:r>
              <a:rPr lang="en-US" sz="1600" dirty="0">
                <a:solidFill>
                  <a:srgbClr val="000000"/>
                </a:solidFill>
              </a:rPr>
              <a:t>C++ </a:t>
            </a:r>
            <a:r>
              <a:rPr lang="ru-RU" sz="1600" dirty="0">
                <a:solidFill>
                  <a:srgbClr val="000000"/>
                </a:solidFill>
              </a:rPr>
              <a:t>возврат результата по </a:t>
            </a:r>
            <a:r>
              <a:rPr lang="ru-RU" sz="1600" dirty="0" err="1">
                <a:solidFill>
                  <a:srgbClr val="000000"/>
                </a:solidFill>
              </a:rPr>
              <a:t>сылке</a:t>
            </a:r>
            <a:r>
              <a:rPr lang="ru-RU" sz="1600" dirty="0">
                <a:solidFill>
                  <a:srgbClr val="000000"/>
                </a:solidFill>
              </a:rPr>
              <a:t> НЕ безопасен в случае возврата ссылки на локальный объект вызывающая функция получит непригодный для использования объект, т.к. при завершении функция удалит все свои локальные переменные.</a:t>
            </a:r>
            <a:br>
              <a:rPr lang="ru-RU" sz="1600" dirty="0">
                <a:solidFill>
                  <a:srgbClr val="000000"/>
                </a:solidFill>
              </a:rPr>
            </a:br>
            <a:r>
              <a:rPr lang="ru-RU" sz="1600" dirty="0">
                <a:solidFill>
                  <a:srgbClr val="000000"/>
                </a:solidFill>
              </a:rPr>
              <a:t>Можно возвращать ссылку на объекты созданные в куче или за пределами функции.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7161445" y="1870075"/>
            <a:ext cx="4124326" cy="2047699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createBord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bord;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(count &lt;=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bord =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bord =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&gt;(count,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bord;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bord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createBord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43034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6F3FD40-F892-646D-990B-5227F879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Возврат</a:t>
            </a:r>
            <a:r>
              <a:rPr lang="ru-RU" dirty="0"/>
              <a:t> нескольких значений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BE456372-A56E-2DD2-2C99-DB20C991333B}"/>
              </a:ext>
            </a:extLst>
          </p:cNvPr>
          <p:cNvSpPr txBox="1">
            <a:spLocks/>
          </p:cNvSpPr>
          <p:nvPr/>
        </p:nvSpPr>
        <p:spPr>
          <a:xfrm>
            <a:off x="939566" y="1371279"/>
            <a:ext cx="5527909" cy="48153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В С++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нет встроенного способа вернуть из функции несколько значений сразу. Чтобы это сделать нужно упаковать возвращаемые значения в кортеж или структуру и вернуть их:</a:t>
            </a:r>
          </a:p>
          <a:p>
            <a:r>
              <a:rPr lang="ru-RU" sz="1600" dirty="0">
                <a:solidFill>
                  <a:srgbClr val="000000"/>
                </a:solidFill>
              </a:rPr>
              <a:t>упаковка в структуру.</a:t>
            </a:r>
            <a:endParaRPr lang="en-US" sz="1500" dirty="0">
              <a:solidFill>
                <a:srgbClr val="000000"/>
              </a:solidFill>
            </a:endParaRPr>
          </a:p>
          <a:p>
            <a:r>
              <a:rPr lang="ru-RU" sz="1600" dirty="0">
                <a:solidFill>
                  <a:srgbClr val="000000"/>
                </a:solidFill>
              </a:rPr>
              <a:t>упаковка в кортеж.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67890BC-F505-EFFD-1B6F-DB0BEA11F752}"/>
              </a:ext>
            </a:extLst>
          </p:cNvPr>
          <p:cNvSpPr/>
          <p:nvPr/>
        </p:nvSpPr>
        <p:spPr>
          <a:xfrm>
            <a:off x="1034816" y="3457254"/>
            <a:ext cx="4461109" cy="2735145"/>
          </a:xfrm>
          <a:prstGeom prst="roundRect">
            <a:avLst>
              <a:gd name="adj" fmla="val 503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salary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salary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A68303F-7ECB-D42F-190E-1356E22BE42D}"/>
              </a:ext>
            </a:extLst>
          </p:cNvPr>
          <p:cNvSpPr/>
          <p:nvPr/>
        </p:nvSpPr>
        <p:spPr>
          <a:xfrm>
            <a:off x="6791325" y="3428358"/>
            <a:ext cx="4461109" cy="2925169"/>
          </a:xfrm>
          <a:prstGeom prst="roundRect">
            <a:avLst>
              <a:gd name="adj" fmla="val 503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salary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C++17 structured binding: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[age, name, salary]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age &lt;&lt; name &lt;&lt; salary;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40488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6F3FD40-F892-646D-990B-5227F879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Возврат нескольких значений</a:t>
            </a:r>
            <a:r>
              <a:rPr lang="en-US" sz="4000" dirty="0"/>
              <a:t> - </a:t>
            </a:r>
            <a:r>
              <a:rPr lang="ru-RU" sz="4000" dirty="0"/>
              <a:t>кортеж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BE456372-A56E-2DD2-2C99-DB20C991333B}"/>
              </a:ext>
            </a:extLst>
          </p:cNvPr>
          <p:cNvSpPr txBox="1">
            <a:spLocks/>
          </p:cNvSpPr>
          <p:nvPr/>
        </p:nvSpPr>
        <p:spPr>
          <a:xfrm>
            <a:off x="939566" y="1371279"/>
            <a:ext cx="5527909" cy="48153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В качестве результата функции указываем кортеж и перечисляем в угловых скобках нужные типы.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00000"/>
                </a:solidFill>
              </a:rPr>
              <a:t>В вызывающей функции получаем кортеж или сразу распаковываем по переменным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900" dirty="0">
              <a:solidFill>
                <a:srgbClr val="000000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3234F9F-26CF-F545-E866-D539EFA2AA39}"/>
              </a:ext>
            </a:extLst>
          </p:cNvPr>
          <p:cNvSpPr/>
          <p:nvPr/>
        </p:nvSpPr>
        <p:spPr>
          <a:xfrm>
            <a:off x="6568841" y="1503697"/>
            <a:ext cx="4461109" cy="2735145"/>
          </a:xfrm>
          <a:prstGeom prst="roundRect">
            <a:avLst>
              <a:gd name="adj" fmla="val 503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&lt;tuple&gt;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::string name;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salary;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(age, name, salary)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age &lt;&lt; name &lt;&lt; salary;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37FACD21-B77A-CD62-0CFF-B4B3C30677D7}"/>
              </a:ext>
            </a:extLst>
          </p:cNvPr>
          <p:cNvSpPr/>
          <p:nvPr/>
        </p:nvSpPr>
        <p:spPr>
          <a:xfrm>
            <a:off x="6568841" y="4404184"/>
            <a:ext cx="4461109" cy="2165074"/>
          </a:xfrm>
          <a:prstGeom prst="roundRect">
            <a:avLst>
              <a:gd name="adj" fmla="val 503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&lt;tuple&gt;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C++17 structured binding: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[age, name, salary]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age &lt;&lt; name &lt;&lt; salary;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D8468D5-FCF7-5349-140C-F8E88ED33345}"/>
              </a:ext>
            </a:extLst>
          </p:cNvPr>
          <p:cNvSpPr/>
          <p:nvPr/>
        </p:nvSpPr>
        <p:spPr>
          <a:xfrm>
            <a:off x="1038225" y="4398293"/>
            <a:ext cx="4800601" cy="2165074"/>
          </a:xfrm>
          <a:prstGeom prst="roundRect">
            <a:avLst>
              <a:gd name="adj" fmla="val 503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&lt;tuple&gt;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getHuman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6666BEEF-C15A-0496-7B26-496E4B1FC901}"/>
              </a:ext>
            </a:extLst>
          </p:cNvPr>
          <p:cNvSpPr/>
          <p:nvPr/>
        </p:nvSpPr>
        <p:spPr>
          <a:xfrm>
            <a:off x="1038225" y="2833863"/>
            <a:ext cx="4800601" cy="1404979"/>
          </a:xfrm>
          <a:prstGeom prst="roundRect">
            <a:avLst>
              <a:gd name="adj" fmla="val 503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Как вернуть кортеж</a:t>
            </a:r>
            <a:endParaRPr lang="ru-RU" sz="1200" b="0" dirty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foo_tuple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Error until N4387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::tuple&lt;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Always works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make_tuple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Always works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61311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64113-897B-9677-AF9F-D8BA59AA95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Функция </a:t>
            </a:r>
            <a:r>
              <a:rPr lang="en-US" sz="4400" dirty="0"/>
              <a:t>main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8610695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Параметры функции </a:t>
            </a:r>
            <a:r>
              <a:rPr lang="en-US" sz="4000" dirty="0"/>
              <a:t>main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47800"/>
            <a:ext cx="10515599" cy="47387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В стандарте определены следующий прототипы для функции </a:t>
            </a:r>
            <a:r>
              <a:rPr lang="en-US" sz="1600" dirty="0">
                <a:solidFill>
                  <a:srgbClr val="000000"/>
                </a:solidFill>
              </a:rPr>
              <a:t>main</a:t>
            </a:r>
            <a:r>
              <a:rPr lang="ru-RU" sz="1600" dirty="0">
                <a:solidFill>
                  <a:srgbClr val="000000"/>
                </a:solidFill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main();</a:t>
            </a:r>
          </a:p>
          <a:p>
            <a:pPr>
              <a:spcBef>
                <a:spcPts val="600"/>
              </a:spcBef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Параметр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позволяет узнать сколько аргументов было передано программе. Параметр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позволяет получить аргументы переданные программе в виде массива строк за завершающим нулевым символом</a:t>
            </a:r>
            <a:r>
              <a:rPr lang="en-US" sz="1600" dirty="0">
                <a:solidFill>
                  <a:srgbClr val="000000"/>
                </a:solidFill>
              </a:rPr>
              <a:t> (C-</a:t>
            </a:r>
            <a:r>
              <a:rPr lang="ru-RU" sz="1600" dirty="0">
                <a:solidFill>
                  <a:srgbClr val="000000"/>
                </a:solidFill>
              </a:rPr>
              <a:t>строки</a:t>
            </a:r>
            <a:r>
              <a:rPr lang="en-US" sz="1600" dirty="0">
                <a:solidFill>
                  <a:srgbClr val="000000"/>
                </a:solidFill>
              </a:rPr>
              <a:t>)</a:t>
            </a:r>
            <a:r>
              <a:rPr lang="ru-RU" sz="1600" dirty="0">
                <a:solidFill>
                  <a:srgbClr val="000000"/>
                </a:solidFill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7145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Аргументы функции </a:t>
            </a:r>
            <a:r>
              <a:rPr lang="en-US" sz="4000" dirty="0"/>
              <a:t>main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47800"/>
            <a:ext cx="10515599" cy="47387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После компиляции программы мы получаем исполняемый файл. Если его запустить в терминале и через пробел указать значения, то эти значения будут переданы в программу как её аргументы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prog.exe hello world 42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В результате программа получит массив строк из 4-х значений: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prog.exe hello world 42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По соглашению, первым передаётся имя программы (точнее команда которой мы её запустили. Здесь только имя, но может быть ещё и путь), а затем оставшиеся аргументы разделяя их по пробелам. Если нужно передать аргумент содержащий пробел, то необходимо заключить его в кавычки: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prog.exe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42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0923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Значение возвращаемое функцией </a:t>
            </a:r>
            <a:r>
              <a:rPr lang="en-US" sz="4000" dirty="0"/>
              <a:t>main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47800"/>
            <a:ext cx="10515599" cy="47387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rgbClr val="000000"/>
                </a:solidFill>
              </a:rPr>
              <a:t>Значение возвращаемое функцией </a:t>
            </a:r>
            <a:r>
              <a:rPr lang="en-US" sz="1800" dirty="0">
                <a:solidFill>
                  <a:srgbClr val="000000"/>
                </a:solidFill>
              </a:rPr>
              <a:t>main </a:t>
            </a:r>
            <a:r>
              <a:rPr lang="ru-RU" sz="1800" dirty="0">
                <a:solidFill>
                  <a:srgbClr val="000000"/>
                </a:solidFill>
              </a:rPr>
              <a:t>интерпретируется операционной системой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ru-RU" sz="1800" dirty="0">
                <a:solidFill>
                  <a:srgbClr val="000000"/>
                </a:solidFill>
              </a:rPr>
              <a:t>и может быть использовано в консольных скриптах.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rgbClr val="000000"/>
                </a:solidFill>
              </a:rPr>
              <a:t>По стандарту нулевое значение возвращённое функцией </a:t>
            </a:r>
            <a:r>
              <a:rPr lang="en-US" sz="1800" dirty="0">
                <a:solidFill>
                  <a:srgbClr val="000000"/>
                </a:solidFill>
              </a:rPr>
              <a:t>main </a:t>
            </a:r>
            <a:r>
              <a:rPr lang="ru-RU" sz="1800" dirty="0">
                <a:solidFill>
                  <a:srgbClr val="000000"/>
                </a:solidFill>
              </a:rPr>
              <a:t>интерпретируется как успешный выход без ошибок, а любое не нулевое как признак возникновения ошибки в процессе выполнения программы.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rgbClr val="000000"/>
                </a:solidFill>
              </a:rPr>
              <a:t>Функция </a:t>
            </a:r>
            <a:r>
              <a:rPr lang="en-US" sz="1800" dirty="0">
                <a:solidFill>
                  <a:srgbClr val="000000"/>
                </a:solidFill>
              </a:rPr>
              <a:t>main </a:t>
            </a:r>
            <a:r>
              <a:rPr lang="ru-RU" sz="1800" dirty="0">
                <a:solidFill>
                  <a:srgbClr val="000000"/>
                </a:solidFill>
              </a:rPr>
              <a:t>должна возвращать значение в пределах от 0 до 255 (другие значения обрежутся до байта), но для лучше совместимости стоит ограничится 127. Коды ошибок каждый разработчик определяет сам и указывает в документации. Стандартизированы только 0 </a:t>
            </a:r>
            <a:r>
              <a:rPr lang="en-US" sz="1800" dirty="0">
                <a:solidFill>
                  <a:srgbClr val="000000"/>
                </a:solidFill>
              </a:rPr>
              <a:t>EXIT_SUCCESS</a:t>
            </a:r>
            <a:r>
              <a:rPr lang="ru-RU" sz="1800" dirty="0">
                <a:solidFill>
                  <a:srgbClr val="000000"/>
                </a:solidFill>
              </a:rPr>
              <a:t> и 1 </a:t>
            </a:r>
            <a:r>
              <a:rPr lang="en-US" sz="1800" dirty="0">
                <a:solidFill>
                  <a:srgbClr val="000000"/>
                </a:solidFill>
              </a:rPr>
              <a:t>EXIT_FAILURE</a:t>
            </a:r>
            <a:endParaRPr lang="ru-RU" sz="18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rgbClr val="000000"/>
                </a:solidFill>
              </a:rPr>
              <a:t>В терминале можно проверить код завышения последней запущенной программы</a:t>
            </a:r>
            <a:r>
              <a:rPr lang="en-US" sz="1800" dirty="0">
                <a:solidFill>
                  <a:srgbClr val="000000"/>
                </a:solidFill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FA327EF-D246-4B7C-9C05-AC13208F5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5686"/>
              </p:ext>
            </p:extLst>
          </p:nvPr>
        </p:nvGraphicFramePr>
        <p:xfrm>
          <a:off x="3459752" y="5310065"/>
          <a:ext cx="5475225" cy="759312"/>
        </p:xfrm>
        <a:graphic>
          <a:graphicData uri="http://schemas.openxmlformats.org/drawingml/2006/table">
            <a:tbl>
              <a:tblPr/>
              <a:tblGrid>
                <a:gridCol w="1405030">
                  <a:extLst>
                    <a:ext uri="{9D8B030D-6E8A-4147-A177-3AD203B41FA5}">
                      <a16:colId xmlns:a16="http://schemas.microsoft.com/office/drawing/2014/main" val="374601663"/>
                    </a:ext>
                  </a:extLst>
                </a:gridCol>
                <a:gridCol w="1951463">
                  <a:extLst>
                    <a:ext uri="{9D8B030D-6E8A-4147-A177-3AD203B41FA5}">
                      <a16:colId xmlns:a16="http://schemas.microsoft.com/office/drawing/2014/main" val="4274036395"/>
                    </a:ext>
                  </a:extLst>
                </a:gridCol>
                <a:gridCol w="2118732">
                  <a:extLst>
                    <a:ext uri="{9D8B030D-6E8A-4147-A177-3AD203B41FA5}">
                      <a16:colId xmlns:a16="http://schemas.microsoft.com/office/drawing/2014/main" val="2198719896"/>
                    </a:ext>
                  </a:extLst>
                </a:gridCol>
              </a:tblGrid>
              <a:tr h="331391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  <a:latin typeface="+mn-lt"/>
                        </a:rPr>
                        <a:t>Linux/Mac</a:t>
                      </a:r>
                    </a:p>
                  </a:txBody>
                  <a:tcPr marL="65192" marR="108653" marT="67908" marB="67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  <a:latin typeface="+mn-lt"/>
                        </a:rPr>
                        <a:t>Windows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 (</a:t>
                      </a:r>
                      <a:r>
                        <a:rPr lang="en-US" sz="1600" b="0" dirty="0" err="1">
                          <a:effectLst/>
                          <a:latin typeface="+mn-lt"/>
                        </a:rPr>
                        <a:t>cmd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)</a:t>
                      </a:r>
                      <a:endParaRPr lang="en-US" sz="1600" b="0" dirty="0">
                        <a:effectLst/>
                        <a:latin typeface="+mn-lt"/>
                      </a:endParaRPr>
                    </a:p>
                  </a:txBody>
                  <a:tcPr marL="108653" marR="108653" marT="67908" marB="67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  <a:latin typeface="+mn-lt"/>
                        </a:rPr>
                        <a:t>Windows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 (</a:t>
                      </a:r>
                      <a:r>
                        <a:rPr lang="en-US" sz="1600" b="0" dirty="0">
                          <a:effectLst/>
                          <a:latin typeface="+mn-lt"/>
                        </a:rPr>
                        <a:t>PowerShell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)</a:t>
                      </a:r>
                      <a:endParaRPr lang="en-US" sz="1600" b="0" dirty="0">
                        <a:effectLst/>
                        <a:latin typeface="+mn-lt"/>
                      </a:endParaRPr>
                    </a:p>
                  </a:txBody>
                  <a:tcPr marL="108653" marR="108653" marT="67908" marB="67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212479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Consolas" panose="020B0609020204030204" pitchFamily="49" charset="0"/>
                        </a:rPr>
                        <a:t>$?</a:t>
                      </a:r>
                    </a:p>
                  </a:txBody>
                  <a:tcPr marL="65192" marR="108653" marT="67908" marB="67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%ERRORLEVEL%</a:t>
                      </a:r>
                    </a:p>
                  </a:txBody>
                  <a:tcPr marL="108653" marR="108653" marT="67908" marB="67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$LASTEXITCODE</a:t>
                      </a:r>
                    </a:p>
                  </a:txBody>
                  <a:tcPr marL="108653" marR="108653" marT="67908" marB="67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745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8370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64113-897B-9677-AF9F-D8BA59AA95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Параметры со значениями по умолчанию</a:t>
            </a:r>
          </a:p>
        </p:txBody>
      </p:sp>
    </p:spTree>
    <p:extLst>
      <p:ext uri="{BB962C8B-B14F-4D97-AF65-F5344CB8AC3E}">
        <p14:creationId xmlns:p14="http://schemas.microsoft.com/office/powerpoint/2010/main" val="21497228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Значения по умолчанию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Параметрам можно указать значения по умолчанию. В лучше, если аргумент для параметра не будет передан, он получит это значение. </a:t>
            </a: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b=0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Значения</a:t>
            </a:r>
            <a:r>
              <a:rPr lang="ru-RU" sz="2000" b="0" dirty="0">
                <a:effectLst/>
              </a:rPr>
              <a:t> по умолчанию должны устанавливаться справа на лево. Не допускается "дырки" при указании значений по умолчанию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a=0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=0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710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Значения по умолчанию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Значения по умолчанию создаются каждый раз при вызове функции (отличие от </a:t>
            </a:r>
            <a:r>
              <a:rPr lang="en-US" sz="2000" dirty="0"/>
              <a:t>Python</a:t>
            </a:r>
            <a:r>
              <a:rPr lang="ru-RU" sz="2000" dirty="0"/>
              <a:t>)</a:t>
            </a: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sum(std::vector&lt;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array = std::vector&lt;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acc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v: array) acc += v;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acc;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sum({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sum();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5071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64113-897B-9677-AF9F-D8BA59AA95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Область видимости (</a:t>
            </a:r>
            <a:r>
              <a:rPr lang="en-US" sz="4400" dirty="0"/>
              <a:t>scope</a:t>
            </a:r>
            <a:r>
              <a:rPr lang="ru-RU" sz="4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2856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Область видимости (</a:t>
            </a:r>
            <a:r>
              <a:rPr lang="en-US" sz="4000" dirty="0"/>
              <a:t>scope)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b="0" dirty="0">
                <a:solidFill>
                  <a:srgbClr val="000000"/>
                </a:solidFill>
                <a:effectLst/>
              </a:rPr>
              <a:t>Область видимости — </a:t>
            </a:r>
            <a:r>
              <a:rPr lang="ru-RU" sz="1500" b="1" dirty="0">
                <a:solidFill>
                  <a:srgbClr val="000000"/>
                </a:solidFill>
                <a:effectLst/>
              </a:rPr>
              <a:t>часть программы</a:t>
            </a:r>
            <a:r>
              <a:rPr lang="ru-RU" sz="1500" dirty="0">
                <a:solidFill>
                  <a:srgbClr val="000000"/>
                </a:solidFill>
                <a:effectLst/>
              </a:rPr>
              <a:t> (кода)</a:t>
            </a:r>
            <a:r>
              <a:rPr lang="ru-RU" sz="1500" b="0" dirty="0">
                <a:solidFill>
                  <a:srgbClr val="000000"/>
                </a:solidFill>
                <a:effectLst/>
              </a:rPr>
              <a:t>, в пределах которой идентификатор, объявленный как имя некоторой программной сущности (обычно — переменной, типа данных или функции), остаётся связанным с этой сущностью, то есть позволяет посредством себя обратиться к ней.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500" b="0" dirty="0">
                <a:solidFill>
                  <a:srgbClr val="000000"/>
                </a:solidFill>
                <a:effectLst/>
              </a:rPr>
              <a:t>Говорят, что идентификатор объекта «виден» в определённом месте программы, если в данном месте по нему можно обратиться к данному объекту. За пределами области видимости тот же самый идентификатор может быть связан с другой переменной или функцией, либо быть свободным (не связанным ни с какой из них). Область видимости может, но не обязана совпадать с областью существования объекта, с которым связано имя.</a:t>
            </a:r>
            <a:endParaRPr lang="en-US" sz="1500" b="0" dirty="0">
              <a:solidFill>
                <a:srgbClr val="000000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500" dirty="0"/>
          </a:p>
        </p:txBody>
      </p:sp>
      <p:pic>
        <p:nvPicPr>
          <p:cNvPr id="1026" name="Picture 2" descr="https://sun9-75.userapi.com/impg/l-Ewqg7CdD5hPaP03HFoogHEEiz617i6peePjg/-ZfJxsPcz8M.jpg?size=800x600&amp;quality=95&amp;sign=e556007f3fac2ccd49acc75ef1a78a58&amp;c_uniq_tag=J8QCwXR81T3rmhRLY5Eops4Rj-O0jNl472Opm8a0IIA&amp;type=album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4500" y="3922005"/>
            <a:ext cx="3391856" cy="25438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47451" y="3613532"/>
            <a:ext cx="6081310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500" dirty="0">
                <a:solidFill>
                  <a:srgbClr val="000000"/>
                </a:solidFill>
              </a:rPr>
              <a:t>В пределах одной области видимости идентификатор может быть связан только с одной программной сущностью. Добавление идентификатора в область видимости происходит через объявление/определение. Таким образом, в одной области видимости может быть только одно определение.</a:t>
            </a:r>
          </a:p>
          <a:p>
            <a:pPr>
              <a:lnSpc>
                <a:spcPct val="110000"/>
              </a:lnSpc>
            </a:pPr>
            <a:endParaRPr lang="ru-RU" sz="15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</a:pPr>
            <a:r>
              <a:rPr lang="ru-RU" sz="1500" dirty="0">
                <a:solidFill>
                  <a:srgbClr val="000000"/>
                </a:solidFill>
              </a:rPr>
              <a:t>Области видимости входят друг в друга и </a:t>
            </a:r>
            <a:r>
              <a:rPr lang="ru-RU" sz="1500" b="1" dirty="0">
                <a:solidFill>
                  <a:srgbClr val="000000"/>
                </a:solidFill>
              </a:rPr>
              <a:t>составляют иерархию</a:t>
            </a:r>
            <a:r>
              <a:rPr lang="ru-RU" sz="1500" dirty="0">
                <a:solidFill>
                  <a:srgbClr val="000000"/>
                </a:solidFill>
              </a:rPr>
              <a:t>, от локальной области видимости, ограниченную функцией (или даже её частью), до глобальной, идентификаторы которой доступны во всей программе. Также в зависимости от правил конкретного языка программирования области видимости могут быть реализованы двумя способами: лексически (статически) или динамически</a:t>
            </a:r>
            <a:endParaRPr lang="en-US" sz="1500" dirty="0">
              <a:solidFill>
                <a:srgbClr val="000000"/>
              </a:solidFill>
            </a:endParaRPr>
          </a:p>
          <a:p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23384540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en-US" sz="4000" dirty="0"/>
              <a:t>Shadowing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7" y="1564395"/>
            <a:ext cx="6364616" cy="493555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Говорят, что идентификатор скрывает "затеняет" другой идентификатор, если он переопределяет его в более конкретной области видимости, т.е. ближе по иерархии к точке, в которой указано обращение к идентификатору.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Т.к. в процессе связывания выбирается идентификатор из ближайшей области видимости, одноимённая переменная становится, как бы, на время невидимой (скрытой в тени).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7353300" y="3869602"/>
            <a:ext cx="3788655" cy="2171668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Consolas" panose="020B0609020204030204" pitchFamily="49" charset="0"/>
              </a:rPr>
              <a:t>Python</a:t>
            </a:r>
            <a:endParaRPr lang="ru-RU" sz="13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ctr"/>
            <a:endParaRPr lang="en-US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"outer:"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x)</a:t>
            </a:r>
          </a:p>
          <a:p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"global:"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x)</a:t>
            </a:r>
          </a:p>
          <a:p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7353300" y="1636390"/>
            <a:ext cx="3788655" cy="212934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300" b="1" dirty="0">
                <a:solidFill>
                  <a:srgbClr val="000000"/>
                </a:solidFill>
                <a:latin typeface="Consolas" panose="020B0609020204030204" pitchFamily="49" charset="0"/>
              </a:rPr>
              <a:t>С++</a:t>
            </a:r>
            <a:endParaRPr lang="en-US" sz="13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ctr"/>
            <a:endParaRPr lang="en-US" sz="13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11192783" y="1636390"/>
            <a:ext cx="504000" cy="2129346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</a:p>
          <a:p>
            <a:pPr algn="ctr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</a:p>
          <a:p>
            <a:pPr algn="ctr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11192782" y="3869602"/>
            <a:ext cx="504000" cy="2171668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</a:p>
          <a:p>
            <a:pPr algn="ctr"/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8550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Связывание</a:t>
            </a:r>
            <a:r>
              <a:rPr lang="ru-RU" dirty="0"/>
              <a:t> идентификатора (</a:t>
            </a:r>
            <a:r>
              <a:rPr lang="en-US" dirty="0"/>
              <a:t>binding)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7" y="1578544"/>
            <a:ext cx="6364616" cy="460804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Связывание идентификатора — </a:t>
            </a:r>
            <a:r>
              <a:rPr lang="ru-RU" sz="1600" b="1" dirty="0">
                <a:solidFill>
                  <a:srgbClr val="000000"/>
                </a:solidFill>
                <a:effectLst/>
              </a:rPr>
              <a:t>процесс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 определения программного объекта, доступ к которому даёт идентификатор в конкретном месте программы и в конкретный момент её выполнения.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</a:rPr>
              <a:t>лексическое (статическое) связывание</a:t>
            </a:r>
            <a:r>
              <a:rPr lang="ru-RU" sz="1600" b="0" i="0" dirty="0">
                <a:effectLst/>
              </a:rPr>
              <a:t> (</a:t>
            </a:r>
            <a:r>
              <a:rPr lang="ru-RU" sz="1600" b="0" i="0" u="none" strike="noStrike" dirty="0">
                <a:effectLst/>
              </a:rPr>
              <a:t>англ.</a:t>
            </a:r>
            <a:r>
              <a:rPr lang="ru-RU" sz="1600" b="0" i="0" dirty="0">
                <a:effectLst/>
              </a:rPr>
              <a:t> </a:t>
            </a:r>
            <a:r>
              <a:rPr lang="ru-RU" sz="1600" b="0" i="1" dirty="0" err="1">
                <a:effectLst/>
              </a:rPr>
              <a:t>lexical</a:t>
            </a:r>
            <a:r>
              <a:rPr lang="ru-RU" sz="1600" b="0" i="1" dirty="0">
                <a:effectLst/>
              </a:rPr>
              <a:t> (</a:t>
            </a:r>
            <a:r>
              <a:rPr lang="ru-RU" sz="1600" b="0" i="1" dirty="0" err="1">
                <a:effectLst/>
              </a:rPr>
              <a:t>static</a:t>
            </a:r>
            <a:r>
              <a:rPr lang="ru-RU" sz="1600" b="0" i="1" dirty="0">
                <a:effectLst/>
              </a:rPr>
              <a:t>) </a:t>
            </a:r>
            <a:r>
              <a:rPr lang="ru-RU" sz="1600" b="0" i="1" dirty="0" err="1">
                <a:effectLst/>
              </a:rPr>
              <a:t>binding</a:t>
            </a:r>
            <a:r>
              <a:rPr lang="ru-RU" sz="1600" b="0" i="0" dirty="0">
                <a:effectLst/>
              </a:rPr>
              <a:t>), </a:t>
            </a:r>
            <a:r>
              <a:rPr lang="ru-RU" sz="1600" b="1" i="0" dirty="0">
                <a:effectLst/>
              </a:rPr>
              <a:t>лексическая область видимости</a:t>
            </a:r>
            <a:r>
              <a:rPr lang="ru-RU" sz="1600" b="0" i="0" dirty="0">
                <a:effectLst/>
              </a:rPr>
              <a:t>, или </a:t>
            </a:r>
            <a:r>
              <a:rPr lang="ru-RU" sz="1600" b="1" i="0" dirty="0">
                <a:effectLst/>
              </a:rPr>
              <a:t>лексический контекст</a:t>
            </a:r>
            <a:r>
              <a:rPr lang="ru-RU" sz="1600" b="0" i="0" dirty="0">
                <a:effectLst/>
              </a:rPr>
              <a:t> (</a:t>
            </a:r>
            <a:r>
              <a:rPr lang="ru-RU" sz="1600" b="0" i="0" u="none" strike="noStrike" dirty="0">
                <a:effectLst/>
              </a:rPr>
              <a:t>англ.</a:t>
            </a:r>
            <a:r>
              <a:rPr lang="ru-RU" sz="1600" b="0" i="0" dirty="0">
                <a:effectLst/>
              </a:rPr>
              <a:t> </a:t>
            </a:r>
            <a:r>
              <a:rPr lang="ru-RU" sz="1600" b="0" i="1" dirty="0" err="1">
                <a:effectLst/>
              </a:rPr>
              <a:t>lexical</a:t>
            </a:r>
            <a:r>
              <a:rPr lang="ru-RU" sz="1600" b="0" i="1" dirty="0">
                <a:effectLst/>
              </a:rPr>
              <a:t> </a:t>
            </a:r>
            <a:r>
              <a:rPr lang="ru-RU" sz="1600" b="0" i="1" dirty="0" err="1">
                <a:effectLst/>
              </a:rPr>
              <a:t>scope</a:t>
            </a:r>
            <a:r>
              <a:rPr lang="ru-RU" sz="1600" b="0" i="0" dirty="0">
                <a:effectLst/>
              </a:rPr>
              <a:t>): п</a:t>
            </a:r>
            <a:r>
              <a:rPr lang="ru-RU" sz="1600" dirty="0"/>
              <a:t>оиск объявлений подходящих для связывания происходит только с учётом размещения идентификатора в коде.</a:t>
            </a:r>
            <a:endParaRPr lang="ru-RU" sz="1600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1600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1600" b="0" i="0" dirty="0">
              <a:effectLst/>
            </a:endParaRPr>
          </a:p>
          <a:p>
            <a:r>
              <a:rPr lang="ru-RU" sz="1600" b="1" i="0" dirty="0">
                <a:effectLst/>
              </a:rPr>
              <a:t>динамическое связывание</a:t>
            </a:r>
            <a:r>
              <a:rPr lang="ru-RU" sz="1600" b="0" i="0" dirty="0">
                <a:effectLst/>
              </a:rPr>
              <a:t> (</a:t>
            </a:r>
            <a:r>
              <a:rPr lang="ru-RU" sz="1600" b="0" i="0" u="none" strike="noStrike" dirty="0">
                <a:effectLst/>
              </a:rPr>
              <a:t>англ.</a:t>
            </a:r>
            <a:r>
              <a:rPr lang="ru-RU" sz="1600" b="0" i="0" dirty="0">
                <a:effectLst/>
              </a:rPr>
              <a:t> </a:t>
            </a:r>
            <a:r>
              <a:rPr lang="ru-RU" sz="1600" b="0" i="1" dirty="0" err="1">
                <a:effectLst/>
              </a:rPr>
              <a:t>dynamic</a:t>
            </a:r>
            <a:r>
              <a:rPr lang="ru-RU" sz="1600" b="0" i="1" dirty="0">
                <a:effectLst/>
              </a:rPr>
              <a:t> </a:t>
            </a:r>
            <a:r>
              <a:rPr lang="ru-RU" sz="1600" b="0" i="1" dirty="0" err="1">
                <a:effectLst/>
              </a:rPr>
              <a:t>binding</a:t>
            </a:r>
            <a:r>
              <a:rPr lang="ru-RU" sz="1600" b="0" i="0" dirty="0">
                <a:effectLst/>
              </a:rPr>
              <a:t>), или </a:t>
            </a:r>
            <a:r>
              <a:rPr lang="ru-RU" sz="1600" b="1" i="0" dirty="0">
                <a:effectLst/>
              </a:rPr>
              <a:t>динамическая область видимости</a:t>
            </a:r>
            <a:r>
              <a:rPr lang="ru-RU" sz="1600" b="0" i="0" dirty="0">
                <a:effectLst/>
              </a:rPr>
              <a:t>, или </a:t>
            </a:r>
            <a:r>
              <a:rPr lang="ru-RU" sz="1600" b="1" i="0" dirty="0">
                <a:effectLst/>
              </a:rPr>
              <a:t>динамический контекст</a:t>
            </a:r>
            <a:r>
              <a:rPr lang="ru-RU" sz="1600" b="0" i="0" dirty="0">
                <a:effectLst/>
              </a:rPr>
              <a:t> (</a:t>
            </a:r>
            <a:r>
              <a:rPr lang="ru-RU" sz="1600" b="0" i="0" u="none" strike="noStrike" dirty="0">
                <a:effectLst/>
              </a:rPr>
              <a:t>англ.</a:t>
            </a:r>
            <a:r>
              <a:rPr lang="ru-RU" sz="1600" b="0" i="0" dirty="0">
                <a:effectLst/>
              </a:rPr>
              <a:t> </a:t>
            </a:r>
            <a:r>
              <a:rPr lang="ru-RU" sz="1600" b="0" i="1" dirty="0" err="1">
                <a:effectLst/>
              </a:rPr>
              <a:t>dynamic</a:t>
            </a:r>
            <a:r>
              <a:rPr lang="ru-RU" sz="1600" b="0" i="1" dirty="0">
                <a:effectLst/>
              </a:rPr>
              <a:t> </a:t>
            </a:r>
            <a:r>
              <a:rPr lang="ru-RU" sz="1600" b="0" i="1" dirty="0" err="1">
                <a:effectLst/>
              </a:rPr>
              <a:t>scope</a:t>
            </a:r>
            <a:r>
              <a:rPr lang="ru-RU" sz="1600" b="0" i="0" dirty="0">
                <a:effectLst/>
              </a:rPr>
              <a:t>): п</a:t>
            </a:r>
            <a:r>
              <a:rPr lang="ru-RU" sz="1600" dirty="0"/>
              <a:t>оиск объявлений подходящих для связывания происходит с учётом истории выполнения кода.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1600" b="0" i="0" dirty="0"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7757872" y="4521694"/>
            <a:ext cx="2510077" cy="2129345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Consolas" panose="020B0609020204030204" pitchFamily="49" charset="0"/>
              </a:rPr>
              <a:t>Python</a:t>
            </a:r>
          </a:p>
          <a:p>
            <a:endParaRPr lang="en-US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ru-RU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7757870" y="2312979"/>
            <a:ext cx="2510079" cy="212934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Consolas" panose="020B0609020204030204" pitchFamily="49" charset="0"/>
              </a:rPr>
              <a:t>C++</a:t>
            </a:r>
          </a:p>
          <a:p>
            <a:endParaRPr lang="en-US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6" name="Прямоугольник: скругленные углы 3">
            <a:extLst>
              <a:ext uri="{FF2B5EF4-FFF2-40B4-BE49-F238E27FC236}">
                <a16:creationId xmlns:a16="http://schemas.microsoft.com/office/drawing/2014/main" id="{5F14B10C-22BA-25BB-FC01-0B897335D858}"/>
              </a:ext>
            </a:extLst>
          </p:cNvPr>
          <p:cNvSpPr/>
          <p:nvPr/>
        </p:nvSpPr>
        <p:spPr>
          <a:xfrm>
            <a:off x="10334625" y="2312979"/>
            <a:ext cx="1181183" cy="2129346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</a:rPr>
              <a:t>Ошибка</a:t>
            </a:r>
          </a:p>
          <a:p>
            <a:pPr algn="ctr"/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</a:rPr>
              <a:t>компиляции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FDEB7449-3AD5-30ED-D675-7739AAF002AE}"/>
              </a:ext>
            </a:extLst>
          </p:cNvPr>
          <p:cNvSpPr/>
          <p:nvPr/>
        </p:nvSpPr>
        <p:spPr>
          <a:xfrm>
            <a:off x="10334625" y="4521694"/>
            <a:ext cx="1181183" cy="2129345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172212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Начало</a:t>
            </a:r>
            <a:r>
              <a:rPr lang="ru-RU" dirty="0"/>
              <a:t> области видимости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7" y="1578544"/>
            <a:ext cx="6364616" cy="4921408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В зависимости от языка программирования точка </a:t>
            </a:r>
            <a:r>
              <a:rPr lang="ru-RU" sz="1600" b="1" dirty="0">
                <a:solidFill>
                  <a:srgbClr val="000000"/>
                </a:solidFill>
              </a:rPr>
              <a:t>начала</a:t>
            </a:r>
            <a:r>
              <a:rPr lang="ru-RU" sz="1600" dirty="0">
                <a:solidFill>
                  <a:srgbClr val="000000"/>
                </a:solidFill>
              </a:rPr>
              <a:t> действия объявления внутри области видимости может определяться по разному: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Начало действия от точки объявления и ниже по коду</a:t>
            </a:r>
            <a:r>
              <a:rPr lang="en-US" sz="1600" dirty="0">
                <a:solidFill>
                  <a:srgbClr val="000000"/>
                </a:solidFill>
              </a:rPr>
              <a:t>. </a:t>
            </a:r>
            <a:r>
              <a:rPr lang="ru-RU" sz="1600" dirty="0">
                <a:solidFill>
                  <a:srgbClr val="000000"/>
                </a:solidFill>
              </a:rPr>
              <a:t>В этом случае в процессе связывания просматриваются объявления текущей области видимости от точки обращения к идентификатору и выше по коду. Если объявлений не обнаружено, то поиск продолжается в следующей по иерархии области видимости.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Идентификатор действует сразу во всей области видимости независимо от того, в каком её месте находится объявление. В этом случае в процессе связывания просматриваются вся текущей области видимости и если объявление найдено, то происходит связывание, а если не найдено, то поиск продолжается в следующей по иерархии области видимости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7848600" y="4408960"/>
            <a:ext cx="2697366" cy="2171668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Consolas" panose="020B0609020204030204" pitchFamily="49" charset="0"/>
              </a:rPr>
              <a:t>JavaScript</a:t>
            </a:r>
            <a:endParaRPr lang="ru-RU" sz="13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ctr"/>
            <a:endParaRPr lang="en-US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"global"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(scope);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"local"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(scope);   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7848600" y="2165887"/>
            <a:ext cx="2697366" cy="212934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Consolas" panose="020B0609020204030204" pitchFamily="49" charset="0"/>
              </a:rPr>
              <a:t>C++</a:t>
            </a:r>
          </a:p>
          <a:p>
            <a:pPr algn="ctr"/>
            <a:endParaRPr lang="en-US" sz="13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scope =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"global</a:t>
            </a:r>
            <a:r>
              <a:rPr lang="en-US" sz="13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scope;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scope =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"local</a:t>
            </a:r>
            <a:r>
              <a:rPr lang="en-US" sz="13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scope;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10609242" y="2165887"/>
            <a:ext cx="1116033" cy="2129346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global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local</a:t>
            </a:r>
          </a:p>
        </p:txBody>
      </p:sp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10609242" y="4410706"/>
            <a:ext cx="1116033" cy="2129346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undefined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14815962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Блочная</a:t>
            </a:r>
            <a:r>
              <a:rPr lang="ru-RU" dirty="0"/>
              <a:t> область видимости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7" y="1487277"/>
            <a:ext cx="6364616" cy="50126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/>
              <a:t>Ещё один нюанс в семантике лексической области видимости — наличие или отсутствие так называемой «блочной видимости», то есть возможности объявить локальную переменную не только внутри функции, процедуры или модуля, но и внутри отдельного блока команд</a:t>
            </a: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/>
              <a:t>В </a:t>
            </a:r>
            <a:r>
              <a:rPr lang="en-US" sz="1600" dirty="0"/>
              <a:t>C++</a:t>
            </a:r>
            <a:r>
              <a:rPr lang="ru-RU" sz="1600" dirty="0"/>
              <a:t> блок операторов образует локальную область видимости, и объявляемая внутри цикла переменная x — это новая переменная, областью видимости которой является только тело цикла.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/>
              <a:t>В </a:t>
            </a:r>
            <a:r>
              <a:rPr lang="ru-RU" sz="1600" dirty="0" err="1"/>
              <a:t>JavaScript</a:t>
            </a:r>
            <a:r>
              <a:rPr lang="ru-RU" sz="1600" dirty="0"/>
              <a:t> нет блочной области видимости (в версиях, предшествующих ES6), а повторное объявление локальной переменной работает просто как обычное присваивание.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7471081" y="4449471"/>
            <a:ext cx="3528000" cy="2171668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JavaScript</a:t>
            </a: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 f() {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7471081" y="2265040"/>
            <a:ext cx="3528000" cy="2129346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C++</a:t>
            </a:r>
          </a:p>
          <a:p>
            <a:pPr algn="ctr"/>
            <a:endParaRPr lang="en-US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x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x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x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11049909" y="2265040"/>
            <a:ext cx="504000" cy="2129346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11049908" y="4449471"/>
            <a:ext cx="504000" cy="2171668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832110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Блоки</a:t>
            </a:r>
            <a:r>
              <a:rPr lang="ru-RU" dirty="0"/>
              <a:t> 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87277"/>
            <a:ext cx="10870515" cy="50126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dirty="0"/>
              <a:t>The file block</a:t>
            </a:r>
            <a:r>
              <a:rPr lang="ru-RU" sz="1800" b="1" dirty="0"/>
              <a:t>.</a:t>
            </a:r>
            <a:r>
              <a:rPr lang="ru-RU" sz="1800" dirty="0"/>
              <a:t> Каждый файл содержит файловый блок, содержащий весь исходный код в этом файле. Файловый блок создаёт глобальную область видимости.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/>
              <a:t>В глобальная область видимости может быть выделен</a:t>
            </a:r>
            <a:r>
              <a:rPr lang="en-US" sz="1800" dirty="0"/>
              <a:t> </a:t>
            </a:r>
            <a:r>
              <a:rPr lang="ru-RU" sz="1800" dirty="0"/>
              <a:t>отдельный фрагмент – </a:t>
            </a:r>
            <a:r>
              <a:rPr lang="en-US" sz="1800" dirty="0"/>
              <a:t>namespace.</a:t>
            </a:r>
            <a:endParaRPr lang="ru-RU" sz="18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dirty="0"/>
              <a:t>The function block</a:t>
            </a:r>
            <a:r>
              <a:rPr lang="ru-RU" sz="1800" b="1" dirty="0"/>
              <a:t>.</a:t>
            </a:r>
            <a:r>
              <a:rPr lang="en-US" sz="1800" b="1" dirty="0"/>
              <a:t> </a:t>
            </a:r>
            <a:r>
              <a:rPr lang="ru-RU" sz="1800" dirty="0"/>
              <a:t>Каждая функция создаёт собственный блок.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dirty="0"/>
              <a:t>Struct</a:t>
            </a:r>
            <a:r>
              <a:rPr lang="ru-RU" sz="1800" b="1" dirty="0"/>
              <a:t>, </a:t>
            </a:r>
            <a:r>
              <a:rPr lang="en-US" sz="1800" b="1" dirty="0"/>
              <a:t>Class and Enum block. </a:t>
            </a:r>
            <a:r>
              <a:rPr lang="ru-RU" sz="1800" dirty="0"/>
              <a:t>Структура, класс и перечисление создаёт отдельный блок.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dirty="0"/>
              <a:t>The control structure block</a:t>
            </a:r>
            <a:r>
              <a:rPr lang="ru-RU" sz="1800" b="1" dirty="0"/>
              <a:t>.</a:t>
            </a:r>
            <a:r>
              <a:rPr lang="ru-RU" sz="1800" dirty="0"/>
              <a:t> Считается, что каждый оператор "</a:t>
            </a:r>
            <a:r>
              <a:rPr lang="ru-RU" sz="1800" dirty="0" err="1"/>
              <a:t>if</a:t>
            </a:r>
            <a:r>
              <a:rPr lang="ru-RU" sz="1800" dirty="0"/>
              <a:t>", "</a:t>
            </a:r>
            <a:r>
              <a:rPr lang="ru-RU" sz="1800" dirty="0" err="1"/>
              <a:t>for</a:t>
            </a:r>
            <a:r>
              <a:rPr lang="ru-RU" sz="1800" dirty="0"/>
              <a:t>", "</a:t>
            </a:r>
            <a:r>
              <a:rPr lang="en-US" sz="1800" dirty="0"/>
              <a:t>while</a:t>
            </a:r>
            <a:r>
              <a:rPr lang="ru-RU" sz="1800" dirty="0"/>
              <a:t>" и "</a:t>
            </a:r>
            <a:r>
              <a:rPr lang="ru-RU" sz="1800" dirty="0" err="1"/>
              <a:t>switch</a:t>
            </a:r>
            <a:r>
              <a:rPr lang="ru-RU" sz="1800" dirty="0"/>
              <a:t>" находится в своем собственном неявном блоке. Блок начинается перед ключевым словом и заканчивается после последней закрывающей фигурной скобки.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dirty="0"/>
              <a:t>Clause block</a:t>
            </a:r>
            <a:r>
              <a:rPr lang="ru-RU" sz="1800" b="1" dirty="0"/>
              <a:t>.</a:t>
            </a:r>
            <a:r>
              <a:rPr lang="ru-RU" sz="1800" dirty="0"/>
              <a:t> Каждое предложение "</a:t>
            </a:r>
            <a:r>
              <a:rPr lang="en-US" sz="1800" dirty="0"/>
              <a:t>case</a:t>
            </a:r>
            <a:r>
              <a:rPr lang="ru-RU" sz="1800" dirty="0"/>
              <a:t>" в операторе "</a:t>
            </a:r>
            <a:r>
              <a:rPr lang="ru-RU" sz="1800" dirty="0" err="1"/>
              <a:t>switch</a:t>
            </a:r>
            <a:r>
              <a:rPr lang="ru-RU" sz="1800" dirty="0"/>
              <a:t>" действует как неявный блок.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dirty="0"/>
              <a:t>Блоки могут быть вложенными и создают отдельные области видимости.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3977552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Области видимости в</a:t>
            </a:r>
            <a:r>
              <a:rPr lang="en-US" sz="4000" dirty="0"/>
              <a:t> C++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87277"/>
            <a:ext cx="10870515" cy="50126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/>
              <a:t>Идентификаторы, обозначающего константу, тип, переменную или функцию (но не метод), объявленную на верхнем уровне (вне какой-либо функции) видны от точки объявления и до конца файлового блока.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/>
              <a:t>Областью видимости идентификатора параметра функции начинается от точки объявления и далее до конца тела функции.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rgbClr val="000000"/>
                </a:solidFill>
              </a:rPr>
              <a:t>Область видимости </a:t>
            </a:r>
            <a:r>
              <a:rPr lang="ru-RU" sz="1600" dirty="0"/>
              <a:t>идентификатора константы или переменной начинается в конце объявления и действует до конца блока.</a:t>
            </a:r>
            <a:endParaRPr lang="ru-RU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/>
              <a:t>Область видимости идентификатора типа</a:t>
            </a:r>
            <a:r>
              <a:rPr lang="en-US" sz="1600" dirty="0"/>
              <a:t> </a:t>
            </a:r>
            <a:r>
              <a:rPr lang="ru-RU" sz="1600" dirty="0"/>
              <a:t>начинается с идентификатора в объявлении типа и действует до конца блока.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4838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Области</a:t>
            </a:r>
            <a:r>
              <a:rPr lang="ru-RU" dirty="0"/>
              <a:t> видимости в </a:t>
            </a:r>
            <a:r>
              <a:rPr lang="en-US" dirty="0"/>
              <a:t>C++ (</a:t>
            </a:r>
            <a:r>
              <a:rPr lang="ru-RU" dirty="0"/>
              <a:t>метки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1487277"/>
            <a:ext cx="6414135" cy="5012675"/>
          </a:xfrm>
        </p:spPr>
        <p:txBody>
          <a:bodyPr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ru-RU" sz="1600" dirty="0"/>
              <a:t>Метки используются в операторах "</a:t>
            </a:r>
            <a:r>
              <a:rPr lang="ru-RU" sz="1600" dirty="0" err="1"/>
              <a:t>goto</a:t>
            </a:r>
            <a:r>
              <a:rPr lang="ru-RU" sz="1600" dirty="0"/>
              <a:t>". 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ru-RU" sz="1600" dirty="0"/>
              <a:t>В отличие от других идентификаторов, метки не ограничены областью блока и не конфликтуют с идентификаторами, которые не являются метками. Область видимости метки - это тело функции, в которой она объявлена исключая тело любой вложенной функции.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Запрещено "перепрыгивать" с помощью метки через объявления </a:t>
            </a:r>
            <a:r>
              <a:rPr lang="ru-RU" sz="1600" b="1" dirty="0">
                <a:solidFill>
                  <a:srgbClr val="000000"/>
                </a:solidFill>
              </a:rPr>
              <a:t>новых</a:t>
            </a:r>
            <a:r>
              <a:rPr lang="ru-RU" sz="1600" dirty="0">
                <a:solidFill>
                  <a:srgbClr val="000000"/>
                </a:solidFill>
              </a:rPr>
              <a:t> переменных. Т.е. перепрыгивать назад можно.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</a:rPr>
              <a:t>Коллега-программист благодарит вас за прекрасно написанные код: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70CA143-BBE0-ECAC-A4D9-1A09453F0C2D}"/>
              </a:ext>
            </a:extLst>
          </p:cNvPr>
          <p:cNvSpPr/>
          <p:nvPr/>
        </p:nvSpPr>
        <p:spPr>
          <a:xfrm>
            <a:off x="7470876" y="1538288"/>
            <a:ext cx="3528000" cy="2520000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x: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9F2E8E8-368B-86CA-1099-A6F3075A777E}"/>
              </a:ext>
            </a:extLst>
          </p:cNvPr>
          <p:cNvSpPr/>
          <p:nvPr/>
        </p:nvSpPr>
        <p:spPr>
          <a:xfrm>
            <a:off x="11050709" y="1532524"/>
            <a:ext cx="404457" cy="2520000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4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5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6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7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9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1845CCB-116C-ADA6-7738-861823459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876" y="4298364"/>
            <a:ext cx="2352675" cy="2352675"/>
          </a:xfrm>
          <a:prstGeom prst="roundRect">
            <a:avLst>
              <a:gd name="adj" fmla="val 4116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56208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64113-897B-9677-AF9F-D8BA59AA95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Анонимные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4785752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Анонимные</a:t>
            </a:r>
            <a:r>
              <a:rPr lang="ru-RU" dirty="0"/>
              <a:t>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15" y="1564395"/>
            <a:ext cx="11049919" cy="493555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/>
              <a:t>Анонимные функции - это функции, которым не назначен идентификатор. Они отличаются от обычных функций также тем, что они могут определяться внутри других функций и также могут иметь доступ к контексту выполнения.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&gt;int{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7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13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144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3773"/>
          </a:xfrm>
        </p:spPr>
        <p:txBody>
          <a:bodyPr/>
          <a:lstStyle/>
          <a:p>
            <a:r>
              <a:rPr lang="ru-RU" dirty="0"/>
              <a:t>Синтаксис лямбда-функций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9CF617-947F-8B4F-3DE4-4005E9084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009" y="1408898"/>
            <a:ext cx="8345982" cy="523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977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7173"/>
          </a:xfrm>
        </p:spPr>
        <p:txBody>
          <a:bodyPr/>
          <a:lstStyle/>
          <a:p>
            <a:r>
              <a:rPr lang="ru-RU" sz="4000" dirty="0"/>
              <a:t>Синтаксис</a:t>
            </a:r>
            <a:r>
              <a:rPr lang="ru-RU" dirty="0"/>
              <a:t> лямбда-функций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5F3454-DD24-DFA6-A972-A5FFC6A49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32" y="1332298"/>
            <a:ext cx="8239935" cy="534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2464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Анонимная</a:t>
            </a:r>
            <a:r>
              <a:rPr lang="ru-RU" dirty="0"/>
              <a:t> функция как аргумент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15" y="1564395"/>
            <a:ext cx="11049919" cy="493555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/>
              <a:t>Очень удобно использовать анонимные функции в качестве аргументов других функций</a:t>
            </a:r>
            <a:r>
              <a:rPr lang="en-US" sz="2000" dirty="0"/>
              <a:t>. </a:t>
            </a:r>
            <a:r>
              <a:rPr lang="ru-RU" sz="2000" dirty="0"/>
              <a:t>Лямбда-функцию без захвата можно передать через указатель: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(*)(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[](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35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[](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30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48856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Анонимная</a:t>
            </a:r>
            <a:r>
              <a:rPr lang="ru-RU" dirty="0"/>
              <a:t> функция как аргумент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15" y="1564395"/>
            <a:ext cx="11049919" cy="493555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000" dirty="0"/>
              <a:t>Лямбда-функцию с захватом нельзя передать через указатель, но можно, через обёртку </a:t>
            </a:r>
            <a:r>
              <a:rPr lang="en-US" sz="1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endParaRPr lang="en-US" sz="1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&lt;functional&gt;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result &lt;&lt;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+ y; });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20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+ y; });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15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44178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Анонимная</a:t>
            </a:r>
            <a:r>
              <a:rPr lang="ru-RU" dirty="0"/>
              <a:t> функция как результат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15" y="1564395"/>
            <a:ext cx="11049919" cy="4935557"/>
          </a:xfrm>
        </p:spPr>
        <p:txBody>
          <a:bodyPr>
            <a:noAutofit/>
          </a:bodyPr>
          <a:lstStyle/>
          <a:p>
            <a:pPr marL="0" indent="0" fontAlgn="base">
              <a:spcBef>
                <a:spcPts val="0"/>
              </a:spcBef>
              <a:buNone/>
            </a:pPr>
            <a:r>
              <a:rPr lang="ru-RU" sz="2000" dirty="0"/>
              <a:t>Анонимная функция может быть результатом другой функции: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&lt;functional&gt;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 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selectFn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selectFn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5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9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13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9109662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Доступ</a:t>
            </a:r>
            <a:r>
              <a:rPr lang="ru-RU" dirty="0"/>
              <a:t> к окружению (замыкания)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16" y="1564395"/>
            <a:ext cx="4893785" cy="4935557"/>
          </a:xfrm>
        </p:spPr>
        <p:txBody>
          <a:bodyPr>
            <a:noAutofit/>
          </a:bodyPr>
          <a:lstStyle/>
          <a:p>
            <a:pPr marL="0" indent="0" fontAlgn="base">
              <a:spcBef>
                <a:spcPts val="0"/>
              </a:spcBef>
              <a:buNone/>
            </a:pPr>
            <a:r>
              <a:rPr lang="ru-RU" sz="1400" dirty="0"/>
              <a:t>Преимуществом анонимных функций является то, что они имеют доступ к окружению, в котором они определяются.</a:t>
            </a:r>
            <a:endParaRPr lang="en-US" sz="1400" dirty="0"/>
          </a:p>
          <a:p>
            <a:pPr marL="0" indent="0" fontAlgn="base">
              <a:spcBef>
                <a:spcPts val="0"/>
              </a:spcBef>
              <a:buNone/>
            </a:pPr>
            <a:endParaRPr lang="en-US" sz="1400" dirty="0"/>
          </a:p>
          <a:p>
            <a:pPr marL="0" indent="0" fontAlgn="base">
              <a:spcBef>
                <a:spcPts val="0"/>
              </a:spcBef>
              <a:buNone/>
            </a:pPr>
            <a:r>
              <a:rPr lang="ru-RU" sz="1400" dirty="0"/>
              <a:t>Замыкание (англ. </a:t>
            </a:r>
            <a:r>
              <a:rPr lang="ru-RU" sz="1400" dirty="0" err="1"/>
              <a:t>closure</a:t>
            </a:r>
            <a:r>
              <a:rPr lang="ru-RU" sz="1400" dirty="0"/>
              <a:t>) в программировании — функция первого класса, в теле которой присутствуют ссылки на переменные, объявленные вне тела этой функции в окружающем коде и не являющиеся её параметрами. Говоря другим языком, замыкание — функция, которая ссылается на свободные переменные в своей области видимости.</a:t>
            </a:r>
            <a:endParaRPr lang="en-US" sz="1400" dirty="0"/>
          </a:p>
          <a:p>
            <a:pPr marL="0" indent="0" fontAlgn="base">
              <a:spcBef>
                <a:spcPts val="0"/>
              </a:spcBef>
              <a:buNone/>
            </a:pPr>
            <a:endParaRPr lang="en-US" sz="1400" dirty="0"/>
          </a:p>
          <a:p>
            <a:pPr marL="0" indent="0" fontAlgn="base">
              <a:spcBef>
                <a:spcPts val="0"/>
              </a:spcBef>
              <a:buNone/>
            </a:pPr>
            <a:r>
              <a:rPr lang="ru-RU" sz="1400" dirty="0"/>
              <a:t>Замыкание — это особый вид функции. Она определена в теле другой функции и создаётся каждый раз во время её выполнения. Синтаксически это выглядит как функция, находящаяся целиком в теле другой функции. При этом вложенная внутренняя функция содержит ссылки на локальные переменные внешней функции. Каждый раз при выполнении внешней функции происходит создание нового экземпляра внутренней функции, с новыми ссылками на переменные внешней функции.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ru-RU" sz="1400" dirty="0"/>
          </a:p>
          <a:p>
            <a:pPr marL="0" indent="0" fontAlgn="base">
              <a:spcBef>
                <a:spcPts val="0"/>
              </a:spcBef>
              <a:buNone/>
            </a:pPr>
            <a:r>
              <a:rPr lang="ru-RU" sz="1400" dirty="0"/>
              <a:t>Нелокальные переменные</a:t>
            </a:r>
            <a:r>
              <a:rPr lang="en-US" sz="1400" dirty="0"/>
              <a:t> – </a:t>
            </a:r>
            <a:r>
              <a:rPr lang="ru-RU" sz="1400" dirty="0"/>
              <a:t>с точки зрения функции это переменные которые не являются её локальными переменными, параметрами, переменными возврата, глобальными переменными.</a:t>
            </a:r>
          </a:p>
        </p:txBody>
      </p:sp>
      <p:sp>
        <p:nvSpPr>
          <p:cNvPr id="5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5753101" y="4119511"/>
            <a:ext cx="4716666" cy="2531528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JavaScript</a:t>
            </a:r>
          </a:p>
          <a:p>
            <a:endParaRPr lang="en-US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'+'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'='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5753101" y="1642011"/>
            <a:ext cx="4716666" cy="236801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C++</a:t>
            </a:r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ctr"/>
            <a:endParaRPr lang="ru-RU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 = x + y;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x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y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"="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z &lt;&lt;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add_3 =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add_3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10533042" y="1642011"/>
            <a:ext cx="1122803" cy="2368013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add_3(6)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вернёт 9 и выведет в терминал 3+6=9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586C00B-A8FD-888A-EA88-F24902F5B85E}"/>
              </a:ext>
            </a:extLst>
          </p:cNvPr>
          <p:cNvSpPr/>
          <p:nvPr/>
        </p:nvSpPr>
        <p:spPr>
          <a:xfrm>
            <a:off x="10549293" y="4119511"/>
            <a:ext cx="1122803" cy="2531528"/>
          </a:xfrm>
          <a:prstGeom prst="roundRect">
            <a:avLst>
              <a:gd name="adj" fmla="val 113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add_3(6)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вернёт 9 и выведет в терминал 3+6=9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0187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dirty="0"/>
              <a:t>Доступ к окружению (замыкания)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16" y="1564395"/>
            <a:ext cx="10846909" cy="4935557"/>
          </a:xfrm>
        </p:spPr>
        <p:txBody>
          <a:bodyPr>
            <a:noAutofit/>
          </a:bodyPr>
          <a:lstStyle/>
          <a:p>
            <a:pPr marL="0" indent="0" fontAlgn="base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/>
              <a:t>В С++ замыкания работают не совсем ожидаемым образом, если смотреть на них с точки зрения других языков.</a:t>
            </a:r>
          </a:p>
          <a:p>
            <a:pPr marL="0" indent="0" fontAlgn="base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/>
              <a:t>Захватить переменную из окружающего контекста можно двумя способами: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ru-RU" sz="1600" dirty="0"/>
              <a:t>по значению. В этом случае значения захваченных переменных будут </a:t>
            </a:r>
            <a:r>
              <a:rPr lang="ru-RU" sz="1600" b="1" dirty="0"/>
              <a:t>копироваться в объект лямбда-функции </a:t>
            </a:r>
            <a:r>
              <a:rPr lang="ru-RU" sz="1600" dirty="0"/>
              <a:t>и использоваться внутри нее. После выхода из родительской функции захваченное значение продолжает "жить" внутри объекта лямбда-функции.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ru-RU" sz="1600" dirty="0"/>
              <a:t>по ссылке. Это означает, что лямбда-функция будет использовать оригинальные переменные, а не их копии. После выхода из родительской функции всё её переменные будут уничтожены, а лямбда продолжит ссылаться на том место в памяти где была переменная, т.е. получится "висячая" ссылка связанная со свободной областью памяти. Это может привести к потенциальным ошибкам.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endParaRPr lang="ru-RU" sz="1600" dirty="0"/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endParaRPr lang="ru-RU" sz="1600" dirty="0"/>
          </a:p>
          <a:p>
            <a:pPr marL="0" indent="0" fontAlgn="base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 fontAlgn="base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 fontAlgn="base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/>
              <a:t>Способы захватить контекст лямбда-функцией: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086F57-24F8-131D-2556-9F82BA8BF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8276" y="4454110"/>
            <a:ext cx="4667249" cy="183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3792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961"/>
            <a:ext cx="10515600" cy="1325563"/>
          </a:xfrm>
        </p:spPr>
        <p:txBody>
          <a:bodyPr/>
          <a:lstStyle/>
          <a:p>
            <a:r>
              <a:rPr lang="ru-RU" sz="4000" dirty="0"/>
              <a:t>Классификация</a:t>
            </a:r>
            <a:r>
              <a:rPr lang="ru-RU" dirty="0"/>
              <a:t> функций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15" y="1564395"/>
            <a:ext cx="11049919" cy="4935557"/>
          </a:xfrm>
        </p:spPr>
        <p:txBody>
          <a:bodyPr>
            <a:noAutofit/>
          </a:bodyPr>
          <a:lstStyle/>
          <a:p>
            <a:pPr marL="0" indent="0" fontAlgn="base">
              <a:spcBef>
                <a:spcPts val="0"/>
              </a:spcBef>
              <a:buNone/>
            </a:pPr>
            <a:r>
              <a:rPr lang="ru-RU" sz="1600" dirty="0"/>
              <a:t>Функцию называют функцией </a:t>
            </a:r>
            <a:r>
              <a:rPr lang="ru-RU" sz="1600" b="1" dirty="0"/>
              <a:t>первого класса</a:t>
            </a:r>
            <a:r>
              <a:rPr lang="ru-RU" sz="1600" dirty="0"/>
              <a:t>, если она является объектом первого класса.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ru-RU" sz="1600" dirty="0"/>
          </a:p>
          <a:p>
            <a:pPr marL="0" indent="0" fontAlgn="base">
              <a:spcBef>
                <a:spcPts val="0"/>
              </a:spcBef>
              <a:buNone/>
            </a:pPr>
            <a:endParaRPr lang="ru-RU" sz="1600" dirty="0"/>
          </a:p>
          <a:p>
            <a:pPr marL="0" indent="0" fontAlgn="base">
              <a:spcBef>
                <a:spcPts val="0"/>
              </a:spcBef>
              <a:buNone/>
            </a:pPr>
            <a:endParaRPr lang="ru-RU" sz="1600" dirty="0"/>
          </a:p>
          <a:p>
            <a:pPr marL="0" indent="0" fontAlgn="base">
              <a:spcBef>
                <a:spcPts val="0"/>
              </a:spcBef>
              <a:buNone/>
            </a:pPr>
            <a:endParaRPr lang="ru-RU" sz="1600" dirty="0"/>
          </a:p>
          <a:p>
            <a:pPr marL="0" indent="0" fontAlgn="base">
              <a:spcBef>
                <a:spcPts val="0"/>
              </a:spcBef>
              <a:buNone/>
            </a:pPr>
            <a:endParaRPr lang="ru-RU" sz="1600" dirty="0"/>
          </a:p>
          <a:p>
            <a:pPr marL="0" indent="0" fontAlgn="base">
              <a:spcBef>
                <a:spcPts val="0"/>
              </a:spcBef>
              <a:buNone/>
            </a:pPr>
            <a:endParaRPr lang="ru-RU" sz="1600" dirty="0"/>
          </a:p>
          <a:p>
            <a:pPr marL="0" indent="0" fontAlgn="base">
              <a:spcBef>
                <a:spcPts val="0"/>
              </a:spcBef>
              <a:buNone/>
            </a:pPr>
            <a:endParaRPr lang="ru-RU" sz="1600" dirty="0"/>
          </a:p>
          <a:p>
            <a:pPr marL="0" indent="0" fontAlgn="base">
              <a:spcBef>
                <a:spcPts val="0"/>
              </a:spcBef>
              <a:buNone/>
            </a:pPr>
            <a:r>
              <a:rPr lang="ru-RU" sz="1600" b="1" dirty="0"/>
              <a:t>Функция высшего порядка </a:t>
            </a:r>
            <a:r>
              <a:rPr lang="ru-RU" sz="1600" dirty="0"/>
              <a:t>— в программировании функция, принимающая в качестве аргументов другие функции или возвращающая другую функцию в качестве результата. Основная идея состоит в том, что функции имеют тот же статус, что и другие объекты данных. 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ru-RU" sz="1600" dirty="0"/>
          </a:p>
          <a:p>
            <a:pPr marL="0" indent="0" fontAlgn="base">
              <a:spcBef>
                <a:spcPts val="0"/>
              </a:spcBef>
              <a:buNone/>
            </a:pPr>
            <a:r>
              <a:rPr lang="ru-RU" sz="1600" b="1" dirty="0"/>
              <a:t>Чистая функция </a:t>
            </a:r>
            <a:r>
              <a:rPr lang="ru-RU" sz="1600" dirty="0"/>
              <a:t>— это функция, которая:</a:t>
            </a:r>
          </a:p>
          <a:p>
            <a:pPr fontAlgn="base">
              <a:spcBef>
                <a:spcPts val="0"/>
              </a:spcBef>
            </a:pPr>
            <a:r>
              <a:rPr lang="ru-RU" sz="1600" dirty="0"/>
              <a:t>является детерминированной. Функция является детерминированной, если для одного и того же набора входных значений она возвращает одинаковый результат. Т.е. функция не зависит не от чего, кроме своих параметров и не имеет внутреннего состояния.</a:t>
            </a:r>
          </a:p>
          <a:p>
            <a:pPr fontAlgn="base">
              <a:spcBef>
                <a:spcPts val="0"/>
              </a:spcBef>
            </a:pPr>
            <a:r>
              <a:rPr lang="ru-RU" sz="1600" dirty="0"/>
              <a:t>не обладает побочными эффектами. В императивных языках некоторые функции в процессе выполнения своих вычислений могут модифицировать значения глобальных переменных, осуществлять операции ввода-вывода, реагировать на исключительные ситуации, вызывая их обработчики. Такие функции называются </a:t>
            </a:r>
            <a:r>
              <a:rPr lang="ru-RU" sz="1600" b="1" dirty="0"/>
              <a:t>функциями с побочными эффектами</a:t>
            </a:r>
            <a:r>
              <a:rPr lang="ru-RU" sz="1600" dirty="0"/>
              <a:t>. Другим видом побочных эффектов является модификация переданных в функцию параметров (переменных), когда в процессе вычисления выходного значения функции изменяется и значение входного параметра.</a:t>
            </a:r>
          </a:p>
        </p:txBody>
      </p:sp>
      <p:sp>
        <p:nvSpPr>
          <p:cNvPr id="6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914400" y="1956567"/>
            <a:ext cx="10906125" cy="1282392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Объект называют «объектом первого класса», если он:</a:t>
            </a:r>
          </a:p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- может быть сохранен в переменной или структурах данных;</a:t>
            </a:r>
          </a:p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- может быть передан в функцию как аргумент;</a:t>
            </a:r>
          </a:p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- может быть возвращен из функции как результат;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может быть создан во время выполнения программы;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не зависим от именования.</a:t>
            </a:r>
          </a:p>
        </p:txBody>
      </p:sp>
    </p:spTree>
    <p:extLst>
      <p:ext uri="{BB962C8B-B14F-4D97-AF65-F5344CB8AC3E}">
        <p14:creationId xmlns:p14="http://schemas.microsoft.com/office/powerpoint/2010/main" val="17954740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5959</TotalTime>
  <Words>11008</Words>
  <Application>Microsoft Office PowerPoint</Application>
  <PresentationFormat>Широкоэкранный</PresentationFormat>
  <Paragraphs>1428</Paragraphs>
  <Slides>93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93</vt:i4>
      </vt:variant>
    </vt:vector>
  </HeadingPairs>
  <TitlesOfParts>
    <vt:vector size="100" baseType="lpstr">
      <vt:lpstr>-apple-system</vt:lpstr>
      <vt:lpstr>Arial</vt:lpstr>
      <vt:lpstr>Calibri</vt:lpstr>
      <vt:lpstr>Calibri Light</vt:lpstr>
      <vt:lpstr>Consolas</vt:lpstr>
      <vt:lpstr>Inter</vt:lpstr>
      <vt:lpstr>Тема Office</vt:lpstr>
      <vt:lpstr>Алгоритмизация и программирование</vt:lpstr>
      <vt:lpstr>Снимаем ограничение на возможность писать код только в функции main</vt:lpstr>
      <vt:lpstr>Declarations (объявления)</vt:lpstr>
      <vt:lpstr>Declarations vs statement</vt:lpstr>
      <vt:lpstr>Declarations (объявления)</vt:lpstr>
      <vt:lpstr>Declarations (объявления)</vt:lpstr>
      <vt:lpstr>Пустое объявление (empty-declaration)</vt:lpstr>
      <vt:lpstr>function-definition</vt:lpstr>
      <vt:lpstr>Простой код</vt:lpstr>
      <vt:lpstr>Код побольше</vt:lpstr>
      <vt:lpstr>Декомпозиция</vt:lpstr>
      <vt:lpstr>Декомпозиция</vt:lpstr>
      <vt:lpstr>Подпрограмма</vt:lpstr>
      <vt:lpstr>Программа</vt:lpstr>
      <vt:lpstr>Код побольше + декомпозиция </vt:lpstr>
      <vt:lpstr>Код побольше + декомпозиция </vt:lpstr>
      <vt:lpstr>Код побольше + декомпозиция </vt:lpstr>
      <vt:lpstr>Плюсы разделения на подпрограммы</vt:lpstr>
      <vt:lpstr>Кошелёк Миллера</vt:lpstr>
      <vt:lpstr>Кошелёк Миллера</vt:lpstr>
      <vt:lpstr>Кошелёк Миллера</vt:lpstr>
      <vt:lpstr>Виды подпрограмм</vt:lpstr>
      <vt:lpstr>Сложный код</vt:lpstr>
      <vt:lpstr>Используем подпрограммы</vt:lpstr>
      <vt:lpstr>Простой код</vt:lpstr>
      <vt:lpstr>Объявление  (англ. declaration)</vt:lpstr>
      <vt:lpstr>Объявление  (англ. declaration)</vt:lpstr>
      <vt:lpstr>Определение (англ. definition)</vt:lpstr>
      <vt:lpstr>Определение функции</vt:lpstr>
      <vt:lpstr>Прототип функции</vt:lpstr>
      <vt:lpstr>Прототип функции</vt:lpstr>
      <vt:lpstr>Сигнатура функции</vt:lpstr>
      <vt:lpstr>Тип функции</vt:lpstr>
      <vt:lpstr>Параметры функции (формальные параметры)</vt:lpstr>
      <vt:lpstr>Аргументы функции (фактически параметры)</vt:lpstr>
      <vt:lpstr>Произвольное число аргументов</vt:lpstr>
      <vt:lpstr>Произвольное число аргументов(до С++11)</vt:lpstr>
      <vt:lpstr>Произвольное число аргументов (initializer_list)</vt:lpstr>
      <vt:lpstr>Произвольное число аргументов (variadic templates)</vt:lpstr>
      <vt:lpstr>Произвольное число аргументов (C++17)</vt:lpstr>
      <vt:lpstr>Возвращаемые значения</vt:lpstr>
      <vt:lpstr>Презентация PowerPoint</vt:lpstr>
      <vt:lpstr>return</vt:lpstr>
      <vt:lpstr>Вызов функции</vt:lpstr>
      <vt:lpstr>Стек вызовов</vt:lpstr>
      <vt:lpstr>Рекурсия</vt:lpstr>
      <vt:lpstr>Хвостовая рекурсия (Tail Recursion)</vt:lpstr>
      <vt:lpstr>Стек-трейс (stack trace)</vt:lpstr>
      <vt:lpstr>Вызов функции</vt:lpstr>
      <vt:lpstr>Вызов функции</vt:lpstr>
      <vt:lpstr>Вызов функции</vt:lpstr>
      <vt:lpstr>Вызов функции</vt:lpstr>
      <vt:lpstr>Передача данных в функцию</vt:lpstr>
      <vt:lpstr>Передача данных в функцию</vt:lpstr>
      <vt:lpstr>Передача данных в функцию</vt:lpstr>
      <vt:lpstr>Презентация PowerPoint</vt:lpstr>
      <vt:lpstr>Переменные в памяти</vt:lpstr>
      <vt:lpstr>Указатели</vt:lpstr>
      <vt:lpstr>Указатели – получение адреса</vt:lpstr>
      <vt:lpstr>Указатели – доступ к значению через адрес</vt:lpstr>
      <vt:lpstr>Ссылки</vt:lpstr>
      <vt:lpstr>Ссылки – инициализация</vt:lpstr>
      <vt:lpstr>Возврат результата</vt:lpstr>
      <vt:lpstr>Возврат результата</vt:lpstr>
      <vt:lpstr>Возврат результата</vt:lpstr>
      <vt:lpstr>Возврат нескольких значений</vt:lpstr>
      <vt:lpstr>Возврат нескольких значений - кортеж</vt:lpstr>
      <vt:lpstr>Функция main</vt:lpstr>
      <vt:lpstr>Параметры функции main</vt:lpstr>
      <vt:lpstr>Аргументы функции main</vt:lpstr>
      <vt:lpstr>Значение возвращаемое функцией main</vt:lpstr>
      <vt:lpstr>Параметры со значениями по умолчанию</vt:lpstr>
      <vt:lpstr>Значения по умолчанию</vt:lpstr>
      <vt:lpstr>Значения по умолчанию</vt:lpstr>
      <vt:lpstr>Область видимости (scope)</vt:lpstr>
      <vt:lpstr>Область видимости (scope)</vt:lpstr>
      <vt:lpstr>Shadowing </vt:lpstr>
      <vt:lpstr>Связывание идентификатора (binding)</vt:lpstr>
      <vt:lpstr>Начало области видимости</vt:lpstr>
      <vt:lpstr>Блочная область видимости</vt:lpstr>
      <vt:lpstr>Блоки в C++</vt:lpstr>
      <vt:lpstr>Области видимости в C++</vt:lpstr>
      <vt:lpstr>Области видимости в C++ (метки)</vt:lpstr>
      <vt:lpstr>Анонимные функции</vt:lpstr>
      <vt:lpstr>Анонимные функции</vt:lpstr>
      <vt:lpstr>Синтаксис лямбда-функций</vt:lpstr>
      <vt:lpstr>Синтаксис лямбда-функций</vt:lpstr>
      <vt:lpstr>Анонимная функция как аргумент функции</vt:lpstr>
      <vt:lpstr>Анонимная функция как аргумент функции</vt:lpstr>
      <vt:lpstr>Анонимная функция как результат функции</vt:lpstr>
      <vt:lpstr>Доступ к окружению (замыкания)</vt:lpstr>
      <vt:lpstr>Доступ к окружению (замыкания)</vt:lpstr>
      <vt:lpstr>Классификация функций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Professional</dc:creator>
  <cp:lastModifiedBy>Professional</cp:lastModifiedBy>
  <cp:revision>665</cp:revision>
  <dcterms:created xsi:type="dcterms:W3CDTF">2022-09-17T16:00:43Z</dcterms:created>
  <dcterms:modified xsi:type="dcterms:W3CDTF">2026-09-29T01:27:50Z</dcterms:modified>
</cp:coreProperties>
</file>